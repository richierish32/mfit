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4" r:id="rId1"/>
    <p:sldMasterId id="2147483718" r:id="rId2"/>
  </p:sldMasterIdLst>
  <p:notesMasterIdLst>
    <p:notesMasterId r:id="rId55"/>
  </p:notesMasterIdLst>
  <p:handoutMasterIdLst>
    <p:handoutMasterId r:id="rId56"/>
  </p:handoutMasterIdLst>
  <p:sldIdLst>
    <p:sldId id="869" r:id="rId3"/>
    <p:sldId id="431" r:id="rId4"/>
    <p:sldId id="1182" r:id="rId5"/>
    <p:sldId id="1183" r:id="rId6"/>
    <p:sldId id="1184" r:id="rId7"/>
    <p:sldId id="1185" r:id="rId8"/>
    <p:sldId id="1186" r:id="rId9"/>
    <p:sldId id="1187" r:id="rId10"/>
    <p:sldId id="1188" r:id="rId11"/>
    <p:sldId id="1189" r:id="rId12"/>
    <p:sldId id="569" r:id="rId13"/>
    <p:sldId id="543" r:id="rId14"/>
    <p:sldId id="544" r:id="rId15"/>
    <p:sldId id="542" r:id="rId16"/>
    <p:sldId id="546" r:id="rId17"/>
    <p:sldId id="547" r:id="rId18"/>
    <p:sldId id="548" r:id="rId19"/>
    <p:sldId id="550" r:id="rId20"/>
    <p:sldId id="549" r:id="rId21"/>
    <p:sldId id="571" r:id="rId22"/>
    <p:sldId id="565" r:id="rId23"/>
    <p:sldId id="567" r:id="rId24"/>
    <p:sldId id="572" r:id="rId25"/>
    <p:sldId id="573" r:id="rId26"/>
    <p:sldId id="1181" r:id="rId27"/>
    <p:sldId id="609" r:id="rId28"/>
    <p:sldId id="1174" r:id="rId29"/>
    <p:sldId id="610" r:id="rId30"/>
    <p:sldId id="611" r:id="rId31"/>
    <p:sldId id="612" r:id="rId32"/>
    <p:sldId id="613" r:id="rId33"/>
    <p:sldId id="1175" r:id="rId34"/>
    <p:sldId id="1176" r:id="rId35"/>
    <p:sldId id="1177" r:id="rId36"/>
    <p:sldId id="1178" r:id="rId37"/>
    <p:sldId id="1179" r:id="rId38"/>
    <p:sldId id="568" r:id="rId39"/>
    <p:sldId id="607" r:id="rId40"/>
    <p:sldId id="608" r:id="rId41"/>
    <p:sldId id="603" r:id="rId42"/>
    <p:sldId id="1190" r:id="rId43"/>
    <p:sldId id="1191" r:id="rId44"/>
    <p:sldId id="1192" r:id="rId45"/>
    <p:sldId id="1197" r:id="rId46"/>
    <p:sldId id="1198" r:id="rId47"/>
    <p:sldId id="1199" r:id="rId48"/>
    <p:sldId id="1193" r:id="rId49"/>
    <p:sldId id="1194" r:id="rId50"/>
    <p:sldId id="1195" r:id="rId51"/>
    <p:sldId id="1196" r:id="rId52"/>
    <p:sldId id="1180" r:id="rId53"/>
    <p:sldId id="566" r:id="rId54"/>
    <p:sldId id="1200" r:id="rId63"/>
    <p:sldId id="1201" r:id="rId64"/>
  </p:sldIdLst>
  <p:sldSz cx="12192000" cy="6858000"/>
  <p:notesSz cx="7315200" cy="9601200"/>
  <p:defaultTextStyle>
    <a:defPPr>
      <a:defRPr lang="en-US"/>
    </a:defPPr>
    <a:lvl1pPr algn="ctr" rtl="0" eaLnBrk="0" fontAlgn="base" hangingPunct="0">
      <a:spcBef>
        <a:spcPct val="0"/>
      </a:spcBef>
      <a:spcAft>
        <a:spcPct val="0"/>
      </a:spcAft>
      <a:defRPr sz="3200" b="1" kern="1200">
        <a:solidFill>
          <a:srgbClr val="FFFFFF"/>
        </a:solidFill>
        <a:latin typeface="Arial" charset="0"/>
        <a:ea typeface="+mn-ea"/>
        <a:cs typeface="+mn-cs"/>
      </a:defRPr>
    </a:lvl1pPr>
    <a:lvl2pPr marL="457200" algn="ctr" rtl="0" eaLnBrk="0" fontAlgn="base" hangingPunct="0">
      <a:spcBef>
        <a:spcPct val="0"/>
      </a:spcBef>
      <a:spcAft>
        <a:spcPct val="0"/>
      </a:spcAft>
      <a:defRPr sz="3200" b="1" kern="1200">
        <a:solidFill>
          <a:srgbClr val="FFFFFF"/>
        </a:solidFill>
        <a:latin typeface="Arial" charset="0"/>
        <a:ea typeface="+mn-ea"/>
        <a:cs typeface="+mn-cs"/>
      </a:defRPr>
    </a:lvl2pPr>
    <a:lvl3pPr marL="914400" algn="ctr" rtl="0" eaLnBrk="0" fontAlgn="base" hangingPunct="0">
      <a:spcBef>
        <a:spcPct val="0"/>
      </a:spcBef>
      <a:spcAft>
        <a:spcPct val="0"/>
      </a:spcAft>
      <a:defRPr sz="3200" b="1" kern="1200">
        <a:solidFill>
          <a:srgbClr val="FFFFFF"/>
        </a:solidFill>
        <a:latin typeface="Arial" charset="0"/>
        <a:ea typeface="+mn-ea"/>
        <a:cs typeface="+mn-cs"/>
      </a:defRPr>
    </a:lvl3pPr>
    <a:lvl4pPr marL="1371600" algn="ctr" rtl="0" eaLnBrk="0" fontAlgn="base" hangingPunct="0">
      <a:spcBef>
        <a:spcPct val="0"/>
      </a:spcBef>
      <a:spcAft>
        <a:spcPct val="0"/>
      </a:spcAft>
      <a:defRPr sz="3200" b="1" kern="1200">
        <a:solidFill>
          <a:srgbClr val="FFFFFF"/>
        </a:solidFill>
        <a:latin typeface="Arial" charset="0"/>
        <a:ea typeface="+mn-ea"/>
        <a:cs typeface="+mn-cs"/>
      </a:defRPr>
    </a:lvl4pPr>
    <a:lvl5pPr marL="1828800" algn="ctr" rtl="0" eaLnBrk="0" fontAlgn="base" hangingPunct="0">
      <a:spcBef>
        <a:spcPct val="0"/>
      </a:spcBef>
      <a:spcAft>
        <a:spcPct val="0"/>
      </a:spcAft>
      <a:defRPr sz="3200" b="1" kern="1200">
        <a:solidFill>
          <a:srgbClr val="FFFFFF"/>
        </a:solidFill>
        <a:latin typeface="Arial" charset="0"/>
        <a:ea typeface="+mn-ea"/>
        <a:cs typeface="+mn-cs"/>
      </a:defRPr>
    </a:lvl5pPr>
    <a:lvl6pPr marL="2286000" algn="l" defTabSz="914400" rtl="0" eaLnBrk="1" latinLnBrk="0" hangingPunct="1">
      <a:defRPr sz="3200" b="1" kern="1200">
        <a:solidFill>
          <a:srgbClr val="FFFFFF"/>
        </a:solidFill>
        <a:latin typeface="Arial" charset="0"/>
        <a:ea typeface="+mn-ea"/>
        <a:cs typeface="+mn-cs"/>
      </a:defRPr>
    </a:lvl6pPr>
    <a:lvl7pPr marL="2743200" algn="l" defTabSz="914400" rtl="0" eaLnBrk="1" latinLnBrk="0" hangingPunct="1">
      <a:defRPr sz="3200" b="1" kern="1200">
        <a:solidFill>
          <a:srgbClr val="FFFFFF"/>
        </a:solidFill>
        <a:latin typeface="Arial" charset="0"/>
        <a:ea typeface="+mn-ea"/>
        <a:cs typeface="+mn-cs"/>
      </a:defRPr>
    </a:lvl7pPr>
    <a:lvl8pPr marL="3200400" algn="l" defTabSz="914400" rtl="0" eaLnBrk="1" latinLnBrk="0" hangingPunct="1">
      <a:defRPr sz="3200" b="1" kern="1200">
        <a:solidFill>
          <a:srgbClr val="FFFFFF"/>
        </a:solidFill>
        <a:latin typeface="Arial" charset="0"/>
        <a:ea typeface="+mn-ea"/>
        <a:cs typeface="+mn-cs"/>
      </a:defRPr>
    </a:lvl8pPr>
    <a:lvl9pPr marL="3657600" algn="l" defTabSz="914400" rtl="0" eaLnBrk="1" latinLnBrk="0" hangingPunct="1">
      <a:defRPr sz="3200" b="1" kern="1200">
        <a:solidFill>
          <a:srgbClr val="FFFFFF"/>
        </a:solidFill>
        <a:latin typeface="Arial" charset="0"/>
        <a:ea typeface="+mn-ea"/>
        <a:cs typeface="+mn-cs"/>
      </a:defRPr>
    </a:lvl9pPr>
  </p:defaultTextStyle>
  <p:extLst>
    <p:ext uri="{521415D9-36F7-43E2-AB2F-B90AF26B5E84}">
      <p14:sectionLst xmlns:p14="http://schemas.microsoft.com/office/powerpoint/2010/main">
        <p14:section name="Default Section" id="{6B49A220-20F6-4585-BEF2-340D8161ADCF}">
          <p14:sldIdLst>
            <p14:sldId id="869"/>
            <p14:sldId id="431"/>
            <p14:sldId id="1182"/>
            <p14:sldId id="1183"/>
            <p14:sldId id="1184"/>
            <p14:sldId id="1185"/>
            <p14:sldId id="1186"/>
            <p14:sldId id="1187"/>
            <p14:sldId id="1188"/>
            <p14:sldId id="1189"/>
          </p14:sldIdLst>
        </p14:section>
        <p14:section name="Advanced Testing" id="{CC459D70-AEAF-4FF4-911B-6F03D68CD7A8}">
          <p14:sldIdLst>
            <p14:sldId id="569"/>
            <p14:sldId id="543"/>
            <p14:sldId id="544"/>
            <p14:sldId id="542"/>
            <p14:sldId id="546"/>
            <p14:sldId id="547"/>
            <p14:sldId id="548"/>
            <p14:sldId id="550"/>
            <p14:sldId id="549"/>
            <p14:sldId id="571"/>
            <p14:sldId id="565"/>
            <p14:sldId id="567"/>
            <p14:sldId id="572"/>
            <p14:sldId id="573"/>
            <p14:sldId id="1181"/>
          </p14:sldIdLst>
        </p14:section>
        <p14:section name="Pulling it all together" id="{032B258C-7E30-4AAC-B9F1-8FF765ACF39D}">
          <p14:sldIdLst>
            <p14:sldId id="609"/>
            <p14:sldId id="1174"/>
            <p14:sldId id="610"/>
            <p14:sldId id="611"/>
            <p14:sldId id="612"/>
            <p14:sldId id="613"/>
            <p14:sldId id="1175"/>
            <p14:sldId id="1176"/>
            <p14:sldId id="1177"/>
            <p14:sldId id="1178"/>
            <p14:sldId id="1179"/>
            <p14:sldId id="568"/>
            <p14:sldId id="607"/>
            <p14:sldId id="608"/>
          </p14:sldIdLst>
        </p14:section>
        <p14:section name="Appendix" id="{E17B4F74-484A-46D1-ABB0-3D838292C1AE}">
          <p14:sldIdLst>
            <p14:sldId id="603"/>
            <p14:sldId id="1190"/>
            <p14:sldId id="1191"/>
            <p14:sldId id="1192"/>
            <p14:sldId id="1197"/>
            <p14:sldId id="1198"/>
            <p14:sldId id="1199"/>
            <p14:sldId id="1193"/>
            <p14:sldId id="1194"/>
            <p14:sldId id="1195"/>
            <p14:sldId id="1196"/>
            <p14:sldId id="1180"/>
            <p14:sldId id="566"/>
          </p14:sldIdLst>
        </p14:section>
      </p14:sectionLst>
    </p:ext>
    <p:ext uri="{EFAFB233-063F-42B5-8137-9DF3F51BA10A}">
      <p15:sldGuideLst xmlns:p15="http://schemas.microsoft.com/office/powerpoint/2012/main">
        <p15:guide id="2" pos="3840" userDrawn="1">
          <p15:clr>
            <a:srgbClr val="A4A3A4"/>
          </p15:clr>
        </p15:guide>
        <p15:guide id="3" orient="horz" pos="1368" userDrawn="1">
          <p15:clr>
            <a:srgbClr val="A4A3A4"/>
          </p15:clr>
        </p15:guide>
      </p15:sldGuideLst>
    </p:ext>
    <p:ext uri="{2D200454-40CA-4A62-9FC3-DE9A4176ACB9}">
      <p15:notesGuideLst xmlns:p15="http://schemas.microsoft.com/office/powerpoint/2012/main">
        <p15:guide id="1" orient="horz" pos="2259" userDrawn="1">
          <p15:clr>
            <a:srgbClr val="A4A3A4"/>
          </p15:clr>
        </p15:guide>
        <p15:guide id="2" pos="307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 Scott" initials="AS" lastIdx="3" clrIdx="0"/>
  <p:cmAuthor id="2" name="Keith Rogers" initials="KR" lastIdx="1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148"/>
    <a:srgbClr val="00196A"/>
    <a:srgbClr val="FFFFFF"/>
    <a:srgbClr val="618F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0544" autoAdjust="0"/>
  </p:normalViewPr>
  <p:slideViewPr>
    <p:cSldViewPr snapToGrid="0">
      <p:cViewPr varScale="1">
        <p:scale>
          <a:sx n="111" d="100"/>
          <a:sy n="111" d="100"/>
        </p:scale>
        <p:origin x="800" y="192"/>
      </p:cViewPr>
      <p:guideLst>
        <p:guide pos="3840"/>
        <p:guide orient="horz" pos="1368"/>
      </p:guideLst>
    </p:cSldViewPr>
  </p:slideViewPr>
  <p:outlineViewPr>
    <p:cViewPr>
      <p:scale>
        <a:sx n="25" d="100"/>
        <a:sy n="25" d="100"/>
      </p:scale>
      <p:origin x="0" y="1638"/>
    </p:cViewPr>
    <p:sldLst>
      <p:sld r:id="rId1" collapse="1"/>
    </p:sldLst>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96" d="100"/>
          <a:sy n="96" d="100"/>
        </p:scale>
        <p:origin x="2796" y="56"/>
      </p:cViewPr>
      <p:guideLst>
        <p:guide orient="horz" pos="2259"/>
        <p:guide pos="3072"/>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commentAuthors" Target="commentAuthor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microsoft.com/office/2016/11/relationships/changesInfo" Target="changesInfos/changesInfo1.xml"/><Relationship Id="rId63" Type="http://schemas.openxmlformats.org/officeDocument/2006/relationships/slide" Target="slides/slide53.xml"/><Relationship Id="rId64"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Scott" userId="49bc24d8-2915-4d0a-95fc-b522e65d6414" providerId="ADAL" clId="{0CDE4BFA-57DF-8C4D-9265-8ED68BA591D4}"/>
    <pc:docChg chg="custSel modSld">
      <pc:chgData name="Alexander Scott" userId="49bc24d8-2915-4d0a-95fc-b522e65d6414" providerId="ADAL" clId="{0CDE4BFA-57DF-8C4D-9265-8ED68BA591D4}" dt="2023-03-22T21:28:56.103" v="39" actId="20577"/>
      <pc:docMkLst>
        <pc:docMk/>
      </pc:docMkLst>
      <pc:sldChg chg="modSp mod">
        <pc:chgData name="Alexander Scott" userId="49bc24d8-2915-4d0a-95fc-b522e65d6414" providerId="ADAL" clId="{0CDE4BFA-57DF-8C4D-9265-8ED68BA591D4}" dt="2023-03-22T21:28:56.103" v="39" actId="20577"/>
        <pc:sldMkLst>
          <pc:docMk/>
          <pc:sldMk cId="3190878943" sldId="431"/>
        </pc:sldMkLst>
        <pc:spChg chg="mod">
          <ac:chgData name="Alexander Scott" userId="49bc24d8-2915-4d0a-95fc-b522e65d6414" providerId="ADAL" clId="{0CDE4BFA-57DF-8C4D-9265-8ED68BA591D4}" dt="2023-03-22T21:28:56.103" v="39" actId="20577"/>
          <ac:spMkLst>
            <pc:docMk/>
            <pc:sldMk cId="3190878943" sldId="431"/>
            <ac:spMk id="8195" creationId="{00000000-0000-0000-0000-000000000000}"/>
          </ac:spMkLst>
        </pc:spChg>
      </pc:sldChg>
    </pc:docChg>
  </pc:docChgLst>
  <pc:docChgLst>
    <pc:chgData name="Alexander Scott" userId="49bc24d8-2915-4d0a-95fc-b522e65d6414" providerId="ADAL" clId="{2BAB5529-1FB3-409F-BA2A-EA925AF72CC0}"/>
    <pc:docChg chg="modSld">
      <pc:chgData name="Alexander Scott" userId="49bc24d8-2915-4d0a-95fc-b522e65d6414" providerId="ADAL" clId="{2BAB5529-1FB3-409F-BA2A-EA925AF72CC0}" dt="2018-05-15T02:43:22.846" v="5" actId="20577"/>
      <pc:docMkLst>
        <pc:docMk/>
      </pc:docMkLst>
      <pc:sldChg chg="modSp">
        <pc:chgData name="Alexander Scott" userId="49bc24d8-2915-4d0a-95fc-b522e65d6414" providerId="ADAL" clId="{2BAB5529-1FB3-409F-BA2A-EA925AF72CC0}" dt="2018-05-15T02:43:22.846" v="5" actId="20577"/>
        <pc:sldMkLst>
          <pc:docMk/>
          <pc:sldMk cId="963670599" sldId="325"/>
        </pc:sldMkLst>
        <pc:spChg chg="mod">
          <ac:chgData name="Alexander Scott" userId="49bc24d8-2915-4d0a-95fc-b522e65d6414" providerId="ADAL" clId="{2BAB5529-1FB3-409F-BA2A-EA925AF72CC0}" dt="2018-05-15T02:43:22.846" v="5" actId="20577"/>
          <ac:spMkLst>
            <pc:docMk/>
            <pc:sldMk cId="963670599" sldId="325"/>
            <ac:spMk id="3" creationId="{00000000-0000-0000-0000-000000000000}"/>
          </ac:spMkLst>
        </pc:spChg>
      </pc:sldChg>
    </pc:docChg>
  </pc:docChgLst>
  <pc:docChgLst>
    <pc:chgData name="Alexander Scott" userId="49bc24d8-2915-4d0a-95fc-b522e65d6414" providerId="ADAL" clId="{3E630690-C37E-EC4B-87D5-59172D3B1966}"/>
    <pc:docChg chg="custSel modSld">
      <pc:chgData name="Alexander Scott" userId="49bc24d8-2915-4d0a-95fc-b522e65d6414" providerId="ADAL" clId="{3E630690-C37E-EC4B-87D5-59172D3B1966}" dt="2022-07-11T20:58:44.512" v="15" actId="20577"/>
      <pc:docMkLst>
        <pc:docMk/>
      </pc:docMkLst>
      <pc:sldChg chg="modSp mod">
        <pc:chgData name="Alexander Scott" userId="49bc24d8-2915-4d0a-95fc-b522e65d6414" providerId="ADAL" clId="{3E630690-C37E-EC4B-87D5-59172D3B1966}" dt="2022-07-11T20:58:44.512" v="15" actId="20577"/>
        <pc:sldMkLst>
          <pc:docMk/>
          <pc:sldMk cId="3190878943" sldId="431"/>
        </pc:sldMkLst>
        <pc:spChg chg="mod">
          <ac:chgData name="Alexander Scott" userId="49bc24d8-2915-4d0a-95fc-b522e65d6414" providerId="ADAL" clId="{3E630690-C37E-EC4B-87D5-59172D3B1966}" dt="2022-07-11T20:58:44.512" v="15" actId="20577"/>
          <ac:spMkLst>
            <pc:docMk/>
            <pc:sldMk cId="3190878943" sldId="431"/>
            <ac:spMk id="819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7"/>
          <p:cNvSpPr>
            <a:spLocks noGrp="1" noChangeArrowheads="1"/>
          </p:cNvSpPr>
          <p:nvPr>
            <p:ph type="sldNum" sz="quarter" idx="3"/>
          </p:nvPr>
        </p:nvSpPr>
        <p:spPr bwMode="auto">
          <a:xfrm>
            <a:off x="4145282" y="9103127"/>
            <a:ext cx="3169920" cy="478151"/>
          </a:xfrm>
          <a:prstGeom prst="rect">
            <a:avLst/>
          </a:prstGeom>
          <a:noFill/>
          <a:ln w="9525">
            <a:noFill/>
            <a:miter lim="800000"/>
            <a:headEnd/>
            <a:tailEnd/>
          </a:ln>
          <a:effectLst/>
        </p:spPr>
        <p:txBody>
          <a:bodyPr vert="horz" wrap="square" lIns="20088" tIns="0" rIns="20088" bIns="0" numCol="1" anchor="b" anchorCtr="0" compatLnSpc="1">
            <a:prstTxWarp prst="textNoShape">
              <a:avLst/>
            </a:prstTxWarp>
          </a:bodyPr>
          <a:lstStyle>
            <a:lvl1pPr algn="r">
              <a:defRPr sz="1000" b="0" i="1" smtClean="0">
                <a:latin typeface="Arial" pitchFamily="34" charset="0"/>
              </a:defRPr>
            </a:lvl1pPr>
          </a:lstStyle>
          <a:p>
            <a:pPr>
              <a:defRPr/>
            </a:pPr>
            <a:fld id="{223F5319-781E-4831-A04E-38597557EA5A}" type="slidenum">
              <a:rPr lang="en-US"/>
              <a:pPr>
                <a:defRPr/>
              </a:pPr>
              <a:t>‹#›</a:t>
            </a:fld>
            <a:endParaRPr lang="en-US"/>
          </a:p>
        </p:txBody>
      </p:sp>
      <p:sp>
        <p:nvSpPr>
          <p:cNvPr id="3080" name="Rectangle 8"/>
          <p:cNvSpPr>
            <a:spLocks noGrp="1" noChangeArrowheads="1"/>
          </p:cNvSpPr>
          <p:nvPr>
            <p:ph type="ftr" sz="quarter" idx="2"/>
          </p:nvPr>
        </p:nvSpPr>
        <p:spPr bwMode="auto">
          <a:xfrm>
            <a:off x="0" y="9103127"/>
            <a:ext cx="3169920" cy="478151"/>
          </a:xfrm>
          <a:prstGeom prst="rect">
            <a:avLst/>
          </a:prstGeom>
          <a:noFill/>
          <a:ln w="9525">
            <a:noFill/>
            <a:miter lim="800000"/>
            <a:headEnd/>
            <a:tailEnd/>
          </a:ln>
          <a:effectLst/>
        </p:spPr>
        <p:txBody>
          <a:bodyPr vert="horz" wrap="square" lIns="20088" tIns="0" rIns="20088" bIns="0" numCol="1" anchor="b" anchorCtr="0" compatLnSpc="1">
            <a:prstTxWarp prst="textNoShape">
              <a:avLst/>
            </a:prstTxWarp>
          </a:bodyPr>
          <a:lstStyle>
            <a:lvl1pPr algn="l">
              <a:defRPr sz="1000" b="0" i="1" smtClean="0">
                <a:latin typeface="Arial" pitchFamily="34" charset="0"/>
              </a:defRPr>
            </a:lvl1pPr>
          </a:lstStyle>
          <a:p>
            <a:pPr>
              <a:defRPr/>
            </a:pPr>
            <a:endParaRPr lang="en-US"/>
          </a:p>
        </p:txBody>
      </p:sp>
      <p:sp>
        <p:nvSpPr>
          <p:cNvPr id="3081" name="Rectangle 9"/>
          <p:cNvSpPr>
            <a:spLocks noGrp="1" noChangeArrowheads="1"/>
          </p:cNvSpPr>
          <p:nvPr>
            <p:ph type="hdr" sz="quarter"/>
          </p:nvPr>
        </p:nvSpPr>
        <p:spPr bwMode="auto">
          <a:xfrm>
            <a:off x="568962" y="97956"/>
            <a:ext cx="6126480" cy="549541"/>
          </a:xfrm>
          <a:prstGeom prst="rect">
            <a:avLst/>
          </a:prstGeom>
          <a:noFill/>
          <a:ln w="9525">
            <a:noFill/>
            <a:miter lim="800000"/>
            <a:headEnd/>
            <a:tailEnd/>
          </a:ln>
          <a:effectLst/>
        </p:spPr>
        <p:txBody>
          <a:bodyPr vert="horz" wrap="square" lIns="20088" tIns="0" rIns="20088" bIns="0" numCol="1" anchor="t" anchorCtr="0" compatLnSpc="1">
            <a:prstTxWarp prst="textNoShape">
              <a:avLst/>
            </a:prstTxWarp>
          </a:bodyPr>
          <a:lstStyle>
            <a:lvl1pPr algn="l">
              <a:defRPr sz="1100" b="0" i="1" smtClean="0">
                <a:solidFill>
                  <a:schemeClr val="tx1"/>
                </a:solidFill>
                <a:latin typeface="Arial" pitchFamily="34" charset="0"/>
              </a:defRPr>
            </a:lvl1pPr>
          </a:lstStyle>
          <a:p>
            <a:pPr>
              <a:defRPr/>
            </a:pPr>
            <a:endParaRPr lang="en-US" b="1" dirty="0"/>
          </a:p>
          <a:p>
            <a:pPr>
              <a:defRPr/>
            </a:pPr>
            <a:r>
              <a:rPr lang="en-US" b="1" dirty="0"/>
              <a:t>MMA860		Acquisition and Management of Data – Session 5</a:t>
            </a:r>
          </a:p>
          <a:p>
            <a:pPr>
              <a:defRPr/>
            </a:pPr>
            <a:endParaRPr lang="en-US" b="1" dirty="0"/>
          </a:p>
          <a:p>
            <a:pPr>
              <a:defRPr/>
            </a:pPr>
            <a:endParaRPr lang="en-US" b="1" dirty="0"/>
          </a:p>
        </p:txBody>
      </p:sp>
    </p:spTree>
    <p:extLst>
      <p:ext uri="{BB962C8B-B14F-4D97-AF65-F5344CB8AC3E}">
        <p14:creationId xmlns:p14="http://schemas.microsoft.com/office/powerpoint/2010/main" val="5644943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849313" y="214313"/>
            <a:ext cx="9002713" cy="5064125"/>
          </a:xfrm>
          <a:prstGeom prst="rect">
            <a:avLst/>
          </a:prstGeom>
          <a:noFill/>
          <a:ln w="12700">
            <a:solidFill>
              <a:prstClr val="black"/>
            </a:solidFill>
          </a:ln>
        </p:spPr>
        <p:txBody>
          <a:bodyPr vert="horz" lIns="95746" tIns="47873" rIns="95746" bIns="47873" rtlCol="0" anchor="ctr"/>
          <a:lstStyle/>
          <a:p>
            <a:endParaRPr lang="en-CA"/>
          </a:p>
        </p:txBody>
      </p:sp>
      <p:grpSp>
        <p:nvGrpSpPr>
          <p:cNvPr id="11" name="Group 10"/>
          <p:cNvGrpSpPr/>
          <p:nvPr/>
        </p:nvGrpSpPr>
        <p:grpSpPr>
          <a:xfrm>
            <a:off x="346195" y="5736390"/>
            <a:ext cx="6622815" cy="3382090"/>
            <a:chOff x="0" y="4839405"/>
            <a:chExt cx="6696075" cy="3221038"/>
          </a:xfrm>
        </p:grpSpPr>
        <p:sp>
          <p:nvSpPr>
            <p:cNvPr id="12" name="Line 3"/>
            <p:cNvSpPr>
              <a:spLocks noChangeShapeType="1"/>
            </p:cNvSpPr>
            <p:nvPr/>
          </p:nvSpPr>
          <p:spPr bwMode="auto">
            <a:xfrm>
              <a:off x="0" y="4839405"/>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3" name="Line 4"/>
            <p:cNvSpPr>
              <a:spLocks noChangeShapeType="1"/>
            </p:cNvSpPr>
            <p:nvPr/>
          </p:nvSpPr>
          <p:spPr bwMode="auto">
            <a:xfrm>
              <a:off x="0" y="5288668"/>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4" name="Line 5"/>
            <p:cNvSpPr>
              <a:spLocks noChangeShapeType="1"/>
            </p:cNvSpPr>
            <p:nvPr/>
          </p:nvSpPr>
          <p:spPr bwMode="auto">
            <a:xfrm>
              <a:off x="0" y="5742693"/>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5" name="Line 6"/>
            <p:cNvSpPr>
              <a:spLocks noChangeShapeType="1"/>
            </p:cNvSpPr>
            <p:nvPr/>
          </p:nvSpPr>
          <p:spPr bwMode="auto">
            <a:xfrm>
              <a:off x="0" y="6223705"/>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6" name="Line 7"/>
            <p:cNvSpPr>
              <a:spLocks noChangeShapeType="1"/>
            </p:cNvSpPr>
            <p:nvPr/>
          </p:nvSpPr>
          <p:spPr bwMode="auto">
            <a:xfrm>
              <a:off x="0" y="6674555"/>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7" name="Line 8"/>
            <p:cNvSpPr>
              <a:spLocks noChangeShapeType="1"/>
            </p:cNvSpPr>
            <p:nvPr/>
          </p:nvSpPr>
          <p:spPr bwMode="auto">
            <a:xfrm>
              <a:off x="0" y="7125405"/>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8" name="Line 9"/>
            <p:cNvSpPr>
              <a:spLocks noChangeShapeType="1"/>
            </p:cNvSpPr>
            <p:nvPr/>
          </p:nvSpPr>
          <p:spPr bwMode="auto">
            <a:xfrm>
              <a:off x="0" y="7608005"/>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sp>
          <p:nvSpPr>
            <p:cNvPr id="19" name="Line 10"/>
            <p:cNvSpPr>
              <a:spLocks noChangeShapeType="1"/>
            </p:cNvSpPr>
            <p:nvPr/>
          </p:nvSpPr>
          <p:spPr bwMode="auto">
            <a:xfrm>
              <a:off x="0" y="8060443"/>
              <a:ext cx="6696075"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p>
          </p:txBody>
        </p:sp>
      </p:grpSp>
      <p:sp>
        <p:nvSpPr>
          <p:cNvPr id="20" name="Slide Number Placeholder 10"/>
          <p:cNvSpPr>
            <a:spLocks noGrp="1"/>
          </p:cNvSpPr>
          <p:nvPr>
            <p:ph type="sldNum" sz="quarter" idx="5"/>
          </p:nvPr>
        </p:nvSpPr>
        <p:spPr>
          <a:xfrm>
            <a:off x="4143588" y="9119475"/>
            <a:ext cx="3169920" cy="480060"/>
          </a:xfrm>
          <a:prstGeom prst="rect">
            <a:avLst/>
          </a:prstGeom>
        </p:spPr>
        <p:txBody>
          <a:bodyPr vert="horz" lIns="95746" tIns="47873" rIns="95746" bIns="47873" rtlCol="0" anchor="b"/>
          <a:lstStyle>
            <a:lvl1pPr algn="r">
              <a:defRPr sz="1200"/>
            </a:lvl1pPr>
          </a:lstStyle>
          <a:p>
            <a:fld id="{3C36A3A5-7BB6-4F86-88E4-3FFD01987BF6}" type="slidenum">
              <a:rPr lang="en-CA" smtClean="0"/>
              <a:t>‹#›</a:t>
            </a:fld>
            <a:endParaRPr lang="en-CA" dirty="0"/>
          </a:p>
        </p:txBody>
      </p:sp>
    </p:spTree>
    <p:extLst>
      <p:ext uri="{BB962C8B-B14F-4D97-AF65-F5344CB8AC3E}">
        <p14:creationId xmlns:p14="http://schemas.microsoft.com/office/powerpoint/2010/main" val="208323167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3C36A3A5-7BB6-4F86-88E4-3FFD01987BF6}" type="slidenum">
              <a:rPr lang="en-CA" smtClean="0"/>
              <a:pPr/>
              <a:t>1</a:t>
            </a:fld>
            <a:endParaRPr lang="en-CA"/>
          </a:p>
        </p:txBody>
      </p:sp>
      <p:sp>
        <p:nvSpPr>
          <p:cNvPr id="6" name="Slide Image Placeholder 5"/>
          <p:cNvSpPr>
            <a:spLocks noGrp="1" noRot="1" noChangeAspect="1"/>
          </p:cNvSpPr>
          <p:nvPr>
            <p:ph type="sldImg"/>
          </p:nvPr>
        </p:nvSpPr>
        <p:spPr>
          <a:xfrm>
            <a:off x="-849313" y="214313"/>
            <a:ext cx="9002713" cy="5064125"/>
          </a:xfrm>
        </p:spPr>
      </p:sp>
      <p:sp>
        <p:nvSpPr>
          <p:cNvPr id="7" name="Notes Placeholder 6"/>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375792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5"/>
          <p:cNvSpPr>
            <a:spLocks noGrp="1" noChangeArrowheads="1"/>
          </p:cNvSpPr>
          <p:nvPr>
            <p:ph type="sldNum" sz="quarter" idx="5"/>
          </p:nvPr>
        </p:nvSpPr>
        <p:spPr/>
        <p:txBody>
          <a:bodyPr/>
          <a:lstStyle/>
          <a:p>
            <a:fld id="{FF93E22B-2F9B-4E8B-B196-1A7014A04045}" type="slidenum">
              <a:rPr lang="en-US" smtClean="0"/>
              <a:pPr/>
              <a:t>2</a:t>
            </a:fld>
            <a:endParaRPr lang="en-US"/>
          </a:p>
        </p:txBody>
      </p:sp>
      <p:sp>
        <p:nvSpPr>
          <p:cNvPr id="3" name="Slide Image Placeholder 2"/>
          <p:cNvSpPr>
            <a:spLocks noGrp="1" noRot="1" noChangeAspect="1"/>
          </p:cNvSpPr>
          <p:nvPr>
            <p:ph type="sldImg"/>
          </p:nvPr>
        </p:nvSpPr>
        <p:spPr>
          <a:xfrm>
            <a:off x="-849313" y="214313"/>
            <a:ext cx="9002713" cy="5064125"/>
          </a:xfrm>
        </p:spPr>
      </p:sp>
      <p:sp>
        <p:nvSpPr>
          <p:cNvPr id="4" name="Notes Placeholder 3"/>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534048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3</a:t>
            </a:fld>
            <a:endParaRPr lang="en-CA" dirty="0"/>
          </a:p>
        </p:txBody>
      </p:sp>
    </p:spTree>
    <p:extLst>
      <p:ext uri="{BB962C8B-B14F-4D97-AF65-F5344CB8AC3E}">
        <p14:creationId xmlns:p14="http://schemas.microsoft.com/office/powerpoint/2010/main" val="2942338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a:t>
            </a:fld>
            <a:endParaRPr lang="en-CA" dirty="0"/>
          </a:p>
        </p:txBody>
      </p:sp>
    </p:spTree>
    <p:extLst>
      <p:ext uri="{BB962C8B-B14F-4D97-AF65-F5344CB8AC3E}">
        <p14:creationId xmlns:p14="http://schemas.microsoft.com/office/powerpoint/2010/main" val="1900291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r>
              <a:rPr lang="en-US" dirty="0"/>
              <a:t>Type</a:t>
            </a:r>
            <a:r>
              <a:rPr lang="en-US" baseline="0" dirty="0"/>
              <a:t> I: reject </a:t>
            </a:r>
            <a:r>
              <a:rPr lang="en-US" baseline="0"/>
              <a:t>a true null</a:t>
            </a:r>
            <a:endParaRPr lang="en-US" baseline="0" dirty="0"/>
          </a:p>
          <a:p>
            <a:r>
              <a:rPr lang="en-US" baseline="0" dirty="0"/>
              <a:t>Type II: accept a false null</a:t>
            </a:r>
          </a:p>
        </p:txBody>
      </p:sp>
      <p:sp>
        <p:nvSpPr>
          <p:cNvPr id="4" name="Slide Number Placeholder 3"/>
          <p:cNvSpPr>
            <a:spLocks noGrp="1"/>
          </p:cNvSpPr>
          <p:nvPr>
            <p:ph type="sldNum" sz="quarter" idx="10"/>
          </p:nvPr>
        </p:nvSpPr>
        <p:spPr/>
        <p:txBody>
          <a:bodyPr/>
          <a:lstStyle/>
          <a:p>
            <a:fld id="{3C36A3A5-7BB6-4F86-88E4-3FFD01987BF6}" type="slidenum">
              <a:rPr lang="en-CA" smtClean="0"/>
              <a:t>5</a:t>
            </a:fld>
            <a:endParaRPr lang="en-CA" dirty="0"/>
          </a:p>
        </p:txBody>
      </p:sp>
    </p:spTree>
    <p:extLst>
      <p:ext uri="{BB962C8B-B14F-4D97-AF65-F5344CB8AC3E}">
        <p14:creationId xmlns:p14="http://schemas.microsoft.com/office/powerpoint/2010/main" val="2077281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6</a:t>
            </a:fld>
            <a:endParaRPr lang="en-CA" dirty="0"/>
          </a:p>
        </p:txBody>
      </p:sp>
    </p:spTree>
    <p:extLst>
      <p:ext uri="{BB962C8B-B14F-4D97-AF65-F5344CB8AC3E}">
        <p14:creationId xmlns:p14="http://schemas.microsoft.com/office/powerpoint/2010/main" val="2473797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7</a:t>
            </a:fld>
            <a:endParaRPr lang="en-CA" dirty="0"/>
          </a:p>
        </p:txBody>
      </p:sp>
    </p:spTree>
    <p:extLst>
      <p:ext uri="{BB962C8B-B14F-4D97-AF65-F5344CB8AC3E}">
        <p14:creationId xmlns:p14="http://schemas.microsoft.com/office/powerpoint/2010/main" val="323843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8</a:t>
            </a:fld>
            <a:endParaRPr lang="en-CA" dirty="0"/>
          </a:p>
        </p:txBody>
      </p:sp>
    </p:spTree>
    <p:extLst>
      <p:ext uri="{BB962C8B-B14F-4D97-AF65-F5344CB8AC3E}">
        <p14:creationId xmlns:p14="http://schemas.microsoft.com/office/powerpoint/2010/main" val="3038149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9</a:t>
            </a:fld>
            <a:endParaRPr lang="en-CA" dirty="0"/>
          </a:p>
        </p:txBody>
      </p:sp>
    </p:spTree>
    <p:extLst>
      <p:ext uri="{BB962C8B-B14F-4D97-AF65-F5344CB8AC3E}">
        <p14:creationId xmlns:p14="http://schemas.microsoft.com/office/powerpoint/2010/main" val="4278598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dirty="0"/>
          </a:p>
        </p:txBody>
      </p:sp>
      <p:sp>
        <p:nvSpPr>
          <p:cNvPr id="4" name="Slide Number Placeholder 3"/>
          <p:cNvSpPr>
            <a:spLocks noGrp="1"/>
          </p:cNvSpPr>
          <p:nvPr>
            <p:ph type="sldNum" sz="quarter" idx="10"/>
          </p:nvPr>
        </p:nvSpPr>
        <p:spPr/>
        <p:txBody>
          <a:bodyPr/>
          <a:lstStyle/>
          <a:p>
            <a:fld id="{3C36A3A5-7BB6-4F86-88E4-3FFD01987BF6}" type="slidenum">
              <a:rPr lang="en-CA" smtClean="0"/>
              <a:t>10</a:t>
            </a:fld>
            <a:endParaRPr lang="en-CA" dirty="0"/>
          </a:p>
        </p:txBody>
      </p:sp>
    </p:spTree>
    <p:extLst>
      <p:ext uri="{BB962C8B-B14F-4D97-AF65-F5344CB8AC3E}">
        <p14:creationId xmlns:p14="http://schemas.microsoft.com/office/powerpoint/2010/main" val="4123180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11</a:t>
            </a:fld>
            <a:endParaRPr lang="en-CA" dirty="0"/>
          </a:p>
        </p:txBody>
      </p:sp>
    </p:spTree>
    <p:extLst>
      <p:ext uri="{BB962C8B-B14F-4D97-AF65-F5344CB8AC3E}">
        <p14:creationId xmlns:p14="http://schemas.microsoft.com/office/powerpoint/2010/main" val="3375013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12</a:t>
            </a:fld>
            <a:endParaRPr lang="en-CA" dirty="0"/>
          </a:p>
        </p:txBody>
      </p:sp>
    </p:spTree>
    <p:extLst>
      <p:ext uri="{BB962C8B-B14F-4D97-AF65-F5344CB8AC3E}">
        <p14:creationId xmlns:p14="http://schemas.microsoft.com/office/powerpoint/2010/main" val="4125128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13</a:t>
            </a:fld>
            <a:endParaRPr lang="en-CA" dirty="0"/>
          </a:p>
        </p:txBody>
      </p:sp>
    </p:spTree>
    <p:extLst>
      <p:ext uri="{BB962C8B-B14F-4D97-AF65-F5344CB8AC3E}">
        <p14:creationId xmlns:p14="http://schemas.microsoft.com/office/powerpoint/2010/main" val="440652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14</a:t>
            </a:fld>
            <a:endParaRPr lang="en-CA" dirty="0"/>
          </a:p>
        </p:txBody>
      </p:sp>
    </p:spTree>
    <p:extLst>
      <p:ext uri="{BB962C8B-B14F-4D97-AF65-F5344CB8AC3E}">
        <p14:creationId xmlns:p14="http://schemas.microsoft.com/office/powerpoint/2010/main" val="887775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15</a:t>
            </a:fld>
            <a:endParaRPr lang="en-CA" dirty="0"/>
          </a:p>
        </p:txBody>
      </p:sp>
    </p:spTree>
    <p:extLst>
      <p:ext uri="{BB962C8B-B14F-4D97-AF65-F5344CB8AC3E}">
        <p14:creationId xmlns:p14="http://schemas.microsoft.com/office/powerpoint/2010/main" val="3411747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16</a:t>
            </a:fld>
            <a:endParaRPr lang="en-CA" dirty="0"/>
          </a:p>
        </p:txBody>
      </p:sp>
    </p:spTree>
    <p:extLst>
      <p:ext uri="{BB962C8B-B14F-4D97-AF65-F5344CB8AC3E}">
        <p14:creationId xmlns:p14="http://schemas.microsoft.com/office/powerpoint/2010/main" val="2974727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17</a:t>
            </a:fld>
            <a:endParaRPr lang="en-CA" dirty="0"/>
          </a:p>
        </p:txBody>
      </p:sp>
    </p:spTree>
    <p:extLst>
      <p:ext uri="{BB962C8B-B14F-4D97-AF65-F5344CB8AC3E}">
        <p14:creationId xmlns:p14="http://schemas.microsoft.com/office/powerpoint/2010/main" val="950843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18</a:t>
            </a:fld>
            <a:endParaRPr lang="en-CA" dirty="0"/>
          </a:p>
        </p:txBody>
      </p:sp>
    </p:spTree>
    <p:extLst>
      <p:ext uri="{BB962C8B-B14F-4D97-AF65-F5344CB8AC3E}">
        <p14:creationId xmlns:p14="http://schemas.microsoft.com/office/powerpoint/2010/main" val="2416756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19</a:t>
            </a:fld>
            <a:endParaRPr lang="en-CA" dirty="0"/>
          </a:p>
        </p:txBody>
      </p:sp>
    </p:spTree>
    <p:extLst>
      <p:ext uri="{BB962C8B-B14F-4D97-AF65-F5344CB8AC3E}">
        <p14:creationId xmlns:p14="http://schemas.microsoft.com/office/powerpoint/2010/main" val="952099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20</a:t>
            </a:fld>
            <a:endParaRPr lang="en-CA" dirty="0"/>
          </a:p>
        </p:txBody>
      </p:sp>
    </p:spTree>
    <p:extLst>
      <p:ext uri="{BB962C8B-B14F-4D97-AF65-F5344CB8AC3E}">
        <p14:creationId xmlns:p14="http://schemas.microsoft.com/office/powerpoint/2010/main" val="3343625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21</a:t>
            </a:fld>
            <a:endParaRPr lang="en-CA" dirty="0"/>
          </a:p>
        </p:txBody>
      </p:sp>
    </p:spTree>
    <p:extLst>
      <p:ext uri="{BB962C8B-B14F-4D97-AF65-F5344CB8AC3E}">
        <p14:creationId xmlns:p14="http://schemas.microsoft.com/office/powerpoint/2010/main" val="2237370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22</a:t>
            </a:fld>
            <a:endParaRPr lang="en-CA" dirty="0"/>
          </a:p>
        </p:txBody>
      </p:sp>
    </p:spTree>
    <p:extLst>
      <p:ext uri="{BB962C8B-B14F-4D97-AF65-F5344CB8AC3E}">
        <p14:creationId xmlns:p14="http://schemas.microsoft.com/office/powerpoint/2010/main" val="1666450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23</a:t>
            </a:fld>
            <a:endParaRPr lang="en-CA" dirty="0"/>
          </a:p>
        </p:txBody>
      </p:sp>
    </p:spTree>
    <p:extLst>
      <p:ext uri="{BB962C8B-B14F-4D97-AF65-F5344CB8AC3E}">
        <p14:creationId xmlns:p14="http://schemas.microsoft.com/office/powerpoint/2010/main" val="1808655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24</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448675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25</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25732055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26</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2507149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3C36A3A5-7BB6-4F86-88E4-3FFD01987BF6}" type="slidenum">
              <a:rPr lang="en-CA" smtClean="0"/>
              <a:pPr/>
              <a:t>27</a:t>
            </a:fld>
            <a:endParaRPr lang="en-CA"/>
          </a:p>
        </p:txBody>
      </p:sp>
      <p:sp>
        <p:nvSpPr>
          <p:cNvPr id="4" name="Slide Image Placeholder 3"/>
          <p:cNvSpPr>
            <a:spLocks noGrp="1" noRot="1" noChangeAspect="1"/>
          </p:cNvSpPr>
          <p:nvPr>
            <p:ph type="sldImg"/>
          </p:nvPr>
        </p:nvSpPr>
        <p:spPr>
          <a:xfrm>
            <a:off x="-849313" y="214313"/>
            <a:ext cx="9002713" cy="5064125"/>
          </a:xfrm>
        </p:spPr>
      </p:sp>
      <p:sp>
        <p:nvSpPr>
          <p:cNvPr id="5" name="Notes Placeholder 4"/>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6740475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28</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7512552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29</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33632101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30</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480361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31</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6820092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32</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855784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33</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34427439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34</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20653180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35</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1656920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36</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58536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37</a:t>
            </a:fld>
            <a:endParaRPr lang="en-CA" dirty="0"/>
          </a:p>
        </p:txBody>
      </p:sp>
    </p:spTree>
    <p:extLst>
      <p:ext uri="{BB962C8B-B14F-4D97-AF65-F5344CB8AC3E}">
        <p14:creationId xmlns:p14="http://schemas.microsoft.com/office/powerpoint/2010/main" val="2091460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38</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691679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EB13DE9F-2FA1-4BAA-A67D-95EF1AC1A074}" type="slidenum">
              <a:rPr lang="en-US" smtClean="0"/>
              <a:pPr/>
              <a:t>39</a:t>
            </a:fld>
            <a:endParaRPr lang="en-US"/>
          </a:p>
        </p:txBody>
      </p:sp>
      <p:sp>
        <p:nvSpPr>
          <p:cNvPr id="7" name="Slide Image Placeholder 6"/>
          <p:cNvSpPr>
            <a:spLocks noGrp="1" noRot="1" noChangeAspect="1"/>
          </p:cNvSpPr>
          <p:nvPr>
            <p:ph type="sldImg"/>
          </p:nvPr>
        </p:nvSpPr>
        <p:spPr>
          <a:xfrm>
            <a:off x="-849313" y="214313"/>
            <a:ext cx="9002713" cy="5064125"/>
          </a:xfrm>
        </p:spPr>
      </p:sp>
      <p:sp>
        <p:nvSpPr>
          <p:cNvPr id="8" name="Notes Placeholder 7"/>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Tree>
    <p:extLst>
      <p:ext uri="{BB962C8B-B14F-4D97-AF65-F5344CB8AC3E}">
        <p14:creationId xmlns:p14="http://schemas.microsoft.com/office/powerpoint/2010/main" val="26540548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40</a:t>
            </a:fld>
            <a:endParaRPr lang="en-CA" dirty="0"/>
          </a:p>
        </p:txBody>
      </p:sp>
    </p:spTree>
    <p:extLst>
      <p:ext uri="{BB962C8B-B14F-4D97-AF65-F5344CB8AC3E}">
        <p14:creationId xmlns:p14="http://schemas.microsoft.com/office/powerpoint/2010/main" val="33376141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41</a:t>
            </a:fld>
            <a:endParaRPr lang="en-CA" dirty="0"/>
          </a:p>
        </p:txBody>
      </p:sp>
    </p:spTree>
    <p:extLst>
      <p:ext uri="{BB962C8B-B14F-4D97-AF65-F5344CB8AC3E}">
        <p14:creationId xmlns:p14="http://schemas.microsoft.com/office/powerpoint/2010/main" val="1321797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42</a:t>
            </a:fld>
            <a:endParaRPr lang="en-CA" dirty="0"/>
          </a:p>
        </p:txBody>
      </p:sp>
    </p:spTree>
    <p:extLst>
      <p:ext uri="{BB962C8B-B14F-4D97-AF65-F5344CB8AC3E}">
        <p14:creationId xmlns:p14="http://schemas.microsoft.com/office/powerpoint/2010/main" val="33067799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43</a:t>
            </a:fld>
            <a:endParaRPr lang="en-CA" dirty="0"/>
          </a:p>
        </p:txBody>
      </p:sp>
    </p:spTree>
    <p:extLst>
      <p:ext uri="{BB962C8B-B14F-4D97-AF65-F5344CB8AC3E}">
        <p14:creationId xmlns:p14="http://schemas.microsoft.com/office/powerpoint/2010/main" val="1901570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44</a:t>
            </a:fld>
            <a:endParaRPr lang="en-CA" dirty="0"/>
          </a:p>
        </p:txBody>
      </p:sp>
    </p:spTree>
    <p:extLst>
      <p:ext uri="{BB962C8B-B14F-4D97-AF65-F5344CB8AC3E}">
        <p14:creationId xmlns:p14="http://schemas.microsoft.com/office/powerpoint/2010/main" val="13020075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45</a:t>
            </a:fld>
            <a:endParaRPr lang="en-CA" dirty="0"/>
          </a:p>
        </p:txBody>
      </p:sp>
    </p:spTree>
    <p:extLst>
      <p:ext uri="{BB962C8B-B14F-4D97-AF65-F5344CB8AC3E}">
        <p14:creationId xmlns:p14="http://schemas.microsoft.com/office/powerpoint/2010/main" val="37251188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46</a:t>
            </a:fld>
            <a:endParaRPr lang="en-CA" dirty="0"/>
          </a:p>
        </p:txBody>
      </p:sp>
    </p:spTree>
    <p:extLst>
      <p:ext uri="{BB962C8B-B14F-4D97-AF65-F5344CB8AC3E}">
        <p14:creationId xmlns:p14="http://schemas.microsoft.com/office/powerpoint/2010/main" val="18682166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47</a:t>
            </a:fld>
            <a:endParaRPr lang="en-CA" dirty="0"/>
          </a:p>
        </p:txBody>
      </p:sp>
    </p:spTree>
    <p:extLst>
      <p:ext uri="{BB962C8B-B14F-4D97-AF65-F5344CB8AC3E}">
        <p14:creationId xmlns:p14="http://schemas.microsoft.com/office/powerpoint/2010/main" val="27530054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48</a:t>
            </a:fld>
            <a:endParaRPr lang="en-CA" dirty="0"/>
          </a:p>
        </p:txBody>
      </p:sp>
    </p:spTree>
    <p:extLst>
      <p:ext uri="{BB962C8B-B14F-4D97-AF65-F5344CB8AC3E}">
        <p14:creationId xmlns:p14="http://schemas.microsoft.com/office/powerpoint/2010/main" val="31115280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49</a:t>
            </a:fld>
            <a:endParaRPr lang="en-CA" dirty="0"/>
          </a:p>
        </p:txBody>
      </p:sp>
    </p:spTree>
    <p:extLst>
      <p:ext uri="{BB962C8B-B14F-4D97-AF65-F5344CB8AC3E}">
        <p14:creationId xmlns:p14="http://schemas.microsoft.com/office/powerpoint/2010/main" val="10211445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50</a:t>
            </a:fld>
            <a:endParaRPr lang="en-CA" dirty="0"/>
          </a:p>
        </p:txBody>
      </p:sp>
    </p:spTree>
    <p:extLst>
      <p:ext uri="{BB962C8B-B14F-4D97-AF65-F5344CB8AC3E}">
        <p14:creationId xmlns:p14="http://schemas.microsoft.com/office/powerpoint/2010/main" val="20020174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51</a:t>
            </a:fld>
            <a:endParaRPr lang="en-CA" dirty="0"/>
          </a:p>
        </p:txBody>
      </p:sp>
    </p:spTree>
    <p:extLst>
      <p:ext uri="{BB962C8B-B14F-4D97-AF65-F5344CB8AC3E}">
        <p14:creationId xmlns:p14="http://schemas.microsoft.com/office/powerpoint/2010/main" val="8583112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49313" y="214313"/>
            <a:ext cx="9002713" cy="5064125"/>
          </a:xfrm>
        </p:spPr>
      </p:sp>
      <p:sp>
        <p:nvSpPr>
          <p:cNvPr id="3" name="Notes Placeholder 2"/>
          <p:cNvSpPr>
            <a:spLocks noGrp="1"/>
          </p:cNvSpPr>
          <p:nvPr>
            <p:ph type="body" idx="1"/>
          </p:nvPr>
        </p:nvSpPr>
        <p:spPr>
          <a:xfrm>
            <a:off x="730859" y="4620496"/>
            <a:ext cx="5853483" cy="3780555"/>
          </a:xfrm>
          <a:prstGeom prst="rect">
            <a:avLst/>
          </a:prstGeom>
        </p:spPr>
        <p:txBody>
          <a:bodyPr lIns="94704" tIns="47352" rIns="94704" bIns="47352"/>
          <a:lstStyle/>
          <a:p>
            <a:endParaRPr lang="en-US"/>
          </a:p>
        </p:txBody>
      </p:sp>
      <p:sp>
        <p:nvSpPr>
          <p:cNvPr id="4" name="Slide Number Placeholder 3"/>
          <p:cNvSpPr>
            <a:spLocks noGrp="1"/>
          </p:cNvSpPr>
          <p:nvPr>
            <p:ph type="sldNum" sz="quarter" idx="10"/>
          </p:nvPr>
        </p:nvSpPr>
        <p:spPr/>
        <p:txBody>
          <a:bodyPr/>
          <a:lstStyle/>
          <a:p>
            <a:fld id="{3C36A3A5-7BB6-4F86-88E4-3FFD01987BF6}" type="slidenum">
              <a:rPr lang="en-CA" smtClean="0"/>
              <a:t>52</a:t>
            </a:fld>
            <a:endParaRPr lang="en-CA" dirty="0"/>
          </a:p>
        </p:txBody>
      </p:sp>
    </p:spTree>
    <p:extLst>
      <p:ext uri="{BB962C8B-B14F-4D97-AF65-F5344CB8AC3E}">
        <p14:creationId xmlns:p14="http://schemas.microsoft.com/office/powerpoint/2010/main" val="1679149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rz Logo Title">
    <p:spTree>
      <p:nvGrpSpPr>
        <p:cNvPr id="1" name=""/>
        <p:cNvGrpSpPr/>
        <p:nvPr/>
      </p:nvGrpSpPr>
      <p:grpSpPr>
        <a:xfrm>
          <a:off x="0" y="0"/>
          <a:ext cx="0" cy="0"/>
          <a:chOff x="0" y="0"/>
          <a:chExt cx="0" cy="0"/>
        </a:xfrm>
      </p:grpSpPr>
      <p:pic>
        <p:nvPicPr>
          <p:cNvPr id="3" name="Picture 5" descr="Logo, Smith School of Business at Queen's University">
            <a:extLst>
              <a:ext uri="{FF2B5EF4-FFF2-40B4-BE49-F238E27FC236}">
                <a16:creationId xmlns:a16="http://schemas.microsoft.com/office/drawing/2014/main" id="{0ACDDAE5-8A25-314E-8AD8-A9BCD99D6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988" y="2633663"/>
            <a:ext cx="83280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4"/>
          <p:cNvSpPr>
            <a:spLocks noGrp="1"/>
          </p:cNvSpPr>
          <p:nvPr>
            <p:ph type="title"/>
          </p:nvPr>
        </p:nvSpPr>
        <p:spPr>
          <a:xfrm>
            <a:off x="0" y="-1125027"/>
            <a:ext cx="8876071" cy="1031188"/>
          </a:xfrm>
          <a:prstGeom prst="rect">
            <a:avLst/>
          </a:prstGeom>
        </p:spPr>
        <p:txBody>
          <a:bodyPr/>
          <a:lstStyle/>
          <a:p>
            <a:endParaRPr lang="en-US" dirty="0"/>
          </a:p>
        </p:txBody>
      </p:sp>
    </p:spTree>
    <p:extLst>
      <p:ext uri="{BB962C8B-B14F-4D97-AF65-F5344CB8AC3E}">
        <p14:creationId xmlns:p14="http://schemas.microsoft.com/office/powerpoint/2010/main" val="2857290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Vert Logo Title">
    <p:spTree>
      <p:nvGrpSpPr>
        <p:cNvPr id="1" name=""/>
        <p:cNvGrpSpPr/>
        <p:nvPr/>
      </p:nvGrpSpPr>
      <p:grpSpPr>
        <a:xfrm>
          <a:off x="0" y="0"/>
          <a:ext cx="0" cy="0"/>
          <a:chOff x="0" y="0"/>
          <a:chExt cx="0" cy="0"/>
        </a:xfrm>
      </p:grpSpPr>
      <p:pic>
        <p:nvPicPr>
          <p:cNvPr id="3" name="Picture 5" descr="Logo, Smith School of Business at Queen's University">
            <a:extLst>
              <a:ext uri="{FF2B5EF4-FFF2-40B4-BE49-F238E27FC236}">
                <a16:creationId xmlns:a16="http://schemas.microsoft.com/office/drawing/2014/main" id="{755E95B0-BA7A-6E45-92EB-61CAD8F7A1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9263" y="1374775"/>
            <a:ext cx="3673475"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0" y="-1134081"/>
            <a:ext cx="8876071" cy="1031188"/>
          </a:xfrm>
          <a:prstGeom prst="rect">
            <a:avLst/>
          </a:prstGeom>
        </p:spPr>
        <p:txBody>
          <a:bodyPr/>
          <a:lstStyle/>
          <a:p>
            <a:endParaRPr lang="en-US" dirty="0"/>
          </a:p>
        </p:txBody>
      </p:sp>
    </p:spTree>
    <p:extLst>
      <p:ext uri="{BB962C8B-B14F-4D97-AF65-F5344CB8AC3E}">
        <p14:creationId xmlns:p14="http://schemas.microsoft.com/office/powerpoint/2010/main" val="173419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6BF4A8A5-9C1B-9A41-8873-44DC288043B0}"/>
              </a:ext>
            </a:extLst>
          </p:cNvPr>
          <p:cNvCxnSpPr>
            <a:cxnSpLocks/>
          </p:cNvCxnSpPr>
          <p:nvPr/>
        </p:nvCxnSpPr>
        <p:spPr>
          <a:xfrm>
            <a:off x="838200" y="4117975"/>
            <a:ext cx="45243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8200" y="609607"/>
            <a:ext cx="7871234" cy="3367041"/>
          </a:xfrm>
          <a:prstGeom prst="rect">
            <a:avLst/>
          </a:prstGeom>
        </p:spPr>
        <p:txBody>
          <a:bodyPr/>
          <a:lstStyle>
            <a:lvl1pPr>
              <a:defRPr sz="6000"/>
            </a:lvl1pPr>
          </a:lstStyle>
          <a:p>
            <a:endParaRPr lang="en-US" dirty="0"/>
          </a:p>
        </p:txBody>
      </p:sp>
      <p:sp>
        <p:nvSpPr>
          <p:cNvPr id="7" name="Subtitle 2"/>
          <p:cNvSpPr>
            <a:spLocks noGrp="1"/>
          </p:cNvSpPr>
          <p:nvPr>
            <p:ph type="subTitle" idx="1"/>
          </p:nvPr>
        </p:nvSpPr>
        <p:spPr>
          <a:xfrm>
            <a:off x="838200" y="4314571"/>
            <a:ext cx="9144000" cy="1655762"/>
          </a:xfrm>
        </p:spPr>
        <p:txBody>
          <a:bodyPr>
            <a:noAutofit/>
          </a:bodyPr>
          <a:lstStyle>
            <a:lvl1pPr marL="0" indent="0" algn="l">
              <a:lnSpc>
                <a:spcPct val="100000"/>
              </a:lnSpc>
              <a:spcBef>
                <a:spcPts val="0"/>
              </a:spcBef>
              <a:buNone/>
              <a:defRPr sz="2400" kern="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5" name="Date Placeholder 4">
            <a:extLst>
              <a:ext uri="{FF2B5EF4-FFF2-40B4-BE49-F238E27FC236}">
                <a16:creationId xmlns:a16="http://schemas.microsoft.com/office/drawing/2014/main" id="{8E97048D-7FDA-5B49-A5A3-0F4E0C2F1B2B}"/>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3808331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6C02BE4D-A0FE-8E40-BE1B-E7DD17EF03B2}"/>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2A8D2C79-31C4-414F-902A-3165C9C8EF9A}"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 name="Title 1"/>
          <p:cNvSpPr>
            <a:spLocks noGrp="1"/>
          </p:cNvSpPr>
          <p:nvPr>
            <p:ph type="title"/>
          </p:nvPr>
        </p:nvSpPr>
        <p:spPr>
          <a:xfrm>
            <a:off x="838200" y="1066800"/>
            <a:ext cx="9401269" cy="3324130"/>
          </a:xfrm>
          <a:prstGeom prst="rect">
            <a:avLst/>
          </a:prstGeom>
        </p:spPr>
        <p:txBody>
          <a:bodyPr/>
          <a:lstStyle>
            <a:lvl1pPr>
              <a:defRPr sz="4800"/>
            </a:lvl1pPr>
          </a:lstStyle>
          <a:p>
            <a:endParaRPr lang="en-US" dirty="0"/>
          </a:p>
        </p:txBody>
      </p:sp>
      <p:sp>
        <p:nvSpPr>
          <p:cNvPr id="3" name="Text Placeholder 2"/>
          <p:cNvSpPr>
            <a:spLocks noGrp="1"/>
          </p:cNvSpPr>
          <p:nvPr>
            <p:ph type="body" idx="1"/>
          </p:nvPr>
        </p:nvSpPr>
        <p:spPr>
          <a:xfrm>
            <a:off x="838200" y="4544196"/>
            <a:ext cx="10515600" cy="1500187"/>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dirty="0"/>
          </a:p>
        </p:txBody>
      </p:sp>
      <p:sp>
        <p:nvSpPr>
          <p:cNvPr id="5" name="Date Placeholder 3">
            <a:extLst>
              <a:ext uri="{FF2B5EF4-FFF2-40B4-BE49-F238E27FC236}">
                <a16:creationId xmlns:a16="http://schemas.microsoft.com/office/drawing/2014/main" id="{FD735415-206E-7A41-97F6-C2D181DCE114}"/>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5F35F6BD-69A0-3540-811D-A75FCCCFAC20}"/>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2632700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91D59160-B5F9-0745-866E-FF8506C81CD5}"/>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4F7EB3CC-1C2A-5C48-AF91-B2A7AD6B5325}"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7" name="Title 4"/>
          <p:cNvSpPr>
            <a:spLocks noGrp="1"/>
          </p:cNvSpPr>
          <p:nvPr>
            <p:ph type="title"/>
          </p:nvPr>
        </p:nvSpPr>
        <p:spPr>
          <a:xfrm>
            <a:off x="1657964" y="2913406"/>
            <a:ext cx="8876071" cy="1031188"/>
          </a:xfrm>
          <a:prstGeom prst="rect">
            <a:avLst/>
          </a:prstGeom>
        </p:spPr>
        <p:txBody>
          <a:bodyPr anchor="ctr" anchorCtr="1"/>
          <a:lstStyle>
            <a:lvl1pPr algn="ctr">
              <a:defRPr sz="4800"/>
            </a:lvl1pPr>
          </a:lstStyle>
          <a:p>
            <a:endParaRPr lang="en-US" dirty="0"/>
          </a:p>
        </p:txBody>
      </p:sp>
      <p:sp>
        <p:nvSpPr>
          <p:cNvPr id="4" name="Date Placeholder 3">
            <a:extLst>
              <a:ext uri="{FF2B5EF4-FFF2-40B4-BE49-F238E27FC236}">
                <a16:creationId xmlns:a16="http://schemas.microsoft.com/office/drawing/2014/main" id="{F74C2D95-AAA2-324C-8457-C24B021A0BD2}"/>
              </a:ext>
            </a:extLst>
          </p:cNvPr>
          <p:cNvSpPr>
            <a:spLocks noGrp="1"/>
          </p:cNvSpPr>
          <p:nvPr>
            <p:ph type="dt" sz="half" idx="10"/>
          </p:nvPr>
        </p:nvSpPr>
        <p:spPr/>
        <p:txBody>
          <a:bodyPr/>
          <a:lstStyle>
            <a:lvl1pPr>
              <a:defRPr/>
            </a:lvl1pPr>
          </a:lstStyle>
          <a:p>
            <a:pPr>
              <a:defRPr/>
            </a:pPr>
            <a:endParaRPr lang="en-US"/>
          </a:p>
        </p:txBody>
      </p:sp>
      <p:sp>
        <p:nvSpPr>
          <p:cNvPr id="5" name="Footer Placeholder 5">
            <a:extLst>
              <a:ext uri="{FF2B5EF4-FFF2-40B4-BE49-F238E27FC236}">
                <a16:creationId xmlns:a16="http://schemas.microsoft.com/office/drawing/2014/main" id="{D93D5B91-E64C-4346-8A50-B7B5A4D9156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2016307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06FBA191-0D97-ED44-956C-E80088E532C6}"/>
              </a:ext>
            </a:extLst>
          </p:cNvPr>
          <p:cNvCxnSpPr>
            <a:cxnSpLocks/>
          </p:cNvCxnSpPr>
          <p:nvPr/>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Box 6">
            <a:extLst>
              <a:ext uri="{FF2B5EF4-FFF2-40B4-BE49-F238E27FC236}">
                <a16:creationId xmlns:a16="http://schemas.microsoft.com/office/drawing/2014/main" id="{A6489F7A-533B-DE47-94ED-11607402E03A}"/>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5D4E487A-7FB7-D64E-959C-21B62078E888}"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7"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Content Placeholder 2"/>
          <p:cNvSpPr>
            <a:spLocks noGrp="1"/>
          </p:cNvSpPr>
          <p:nvPr>
            <p:ph idx="1"/>
          </p:nvPr>
        </p:nvSpPr>
        <p:spPr>
          <a:xfrm>
            <a:off x="838200" y="1862659"/>
            <a:ext cx="8876071" cy="38892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1">
            <a:extLst>
              <a:ext uri="{FF2B5EF4-FFF2-40B4-BE49-F238E27FC236}">
                <a16:creationId xmlns:a16="http://schemas.microsoft.com/office/drawing/2014/main" id="{C2BE082C-748D-C346-B3BD-EDA81E53ABF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085D4D0C-7443-AE4A-8FE5-69BAE7B29FD6}"/>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250443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A9AB6D3B-1B47-8B4D-A31C-BFDEDBF83775}"/>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EE3793A0-0413-2341-A076-32788B866001}"/>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E33CCAE3-8882-AC40-868C-EB4F96E8D2C1}"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1"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Content Placeholder 2"/>
          <p:cNvSpPr>
            <a:spLocks noGrp="1"/>
          </p:cNvSpPr>
          <p:nvPr>
            <p:ph sz="half" idx="1"/>
          </p:nvPr>
        </p:nvSpPr>
        <p:spPr>
          <a:xfrm>
            <a:off x="838200" y="1862659"/>
            <a:ext cx="5181600" cy="4314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62659"/>
            <a:ext cx="5181600" cy="4314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a:extLst>
              <a:ext uri="{FF2B5EF4-FFF2-40B4-BE49-F238E27FC236}">
                <a16:creationId xmlns:a16="http://schemas.microsoft.com/office/drawing/2014/main" id="{1787AFDD-367D-8049-A8E3-A76F44D8856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6B5E45CB-37FD-134A-AB41-0EA0CCC8509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57196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7" name="Straight Connector 6" descr="&quot;&quot;">
            <a:extLst>
              <a:ext uri="{FF2B5EF4-FFF2-40B4-BE49-F238E27FC236}">
                <a16:creationId xmlns:a16="http://schemas.microsoft.com/office/drawing/2014/main" id="{E748CA6F-D9A4-D443-A53B-3DEE7D90162B}"/>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6">
            <a:extLst>
              <a:ext uri="{FF2B5EF4-FFF2-40B4-BE49-F238E27FC236}">
                <a16:creationId xmlns:a16="http://schemas.microsoft.com/office/drawing/2014/main" id="{F87C3F34-4390-EE43-B4A5-954F910E29A7}"/>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38470853-6E1B-194F-AE62-F124817C19C7}"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0"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Text Placeholder 2"/>
          <p:cNvSpPr>
            <a:spLocks noGrp="1"/>
          </p:cNvSpPr>
          <p:nvPr>
            <p:ph type="body" idx="1"/>
          </p:nvPr>
        </p:nvSpPr>
        <p:spPr>
          <a:xfrm>
            <a:off x="83661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1">
            <a:extLst>
              <a:ext uri="{FF2B5EF4-FFF2-40B4-BE49-F238E27FC236}">
                <a16:creationId xmlns:a16="http://schemas.microsoft.com/office/drawing/2014/main" id="{8EEF23C8-6BB7-7040-9E2D-32E14C8A8793}"/>
              </a:ext>
            </a:extLst>
          </p:cNvPr>
          <p:cNvSpPr>
            <a:spLocks noGrp="1"/>
          </p:cNvSpPr>
          <p:nvPr>
            <p:ph type="dt" sz="half" idx="10"/>
          </p:nvPr>
        </p:nvSpPr>
        <p:spPr/>
        <p:txBody>
          <a:bodyPr/>
          <a:lstStyle>
            <a:lvl1pPr>
              <a:defRPr/>
            </a:lvl1pPr>
          </a:lstStyle>
          <a:p>
            <a:pPr>
              <a:defRPr/>
            </a:pPr>
            <a:endParaRPr lang="en-US"/>
          </a:p>
        </p:txBody>
      </p:sp>
      <p:sp>
        <p:nvSpPr>
          <p:cNvPr id="11" name="Footer Placeholder 5">
            <a:extLst>
              <a:ext uri="{FF2B5EF4-FFF2-40B4-BE49-F238E27FC236}">
                <a16:creationId xmlns:a16="http://schemas.microsoft.com/office/drawing/2014/main" id="{46666742-4A8A-D445-B3CA-1C6601999C77}"/>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182025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 name="Straight Connector 2" descr="&quot;&quot;">
            <a:extLst>
              <a:ext uri="{FF2B5EF4-FFF2-40B4-BE49-F238E27FC236}">
                <a16:creationId xmlns:a16="http://schemas.microsoft.com/office/drawing/2014/main" id="{D8E0245C-8434-9746-9A09-AA6B6F74B8C0}"/>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6">
            <a:extLst>
              <a:ext uri="{FF2B5EF4-FFF2-40B4-BE49-F238E27FC236}">
                <a16:creationId xmlns:a16="http://schemas.microsoft.com/office/drawing/2014/main" id="{3DF02732-2841-9B40-A2C9-66A06CCA81A0}"/>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283A2C34-3929-9242-BB81-07072E4AB5BF}"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5"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5" name="Date Placeholder 2">
            <a:extLst>
              <a:ext uri="{FF2B5EF4-FFF2-40B4-BE49-F238E27FC236}">
                <a16:creationId xmlns:a16="http://schemas.microsoft.com/office/drawing/2014/main" id="{0CB8B9A3-BD9E-5641-9FA9-FC607D176746}"/>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28F994DE-F17E-9049-8EAB-59CF6E27DAF5}"/>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2641916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87434FA8-2F50-7E4F-988D-5F7307507E9B}"/>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EF451E8D-75F9-3B4E-8B6F-173BBE71E9D3}"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5" name="Title 1"/>
          <p:cNvSpPr>
            <a:spLocks noGrp="1"/>
          </p:cNvSpPr>
          <p:nvPr>
            <p:ph type="title"/>
          </p:nvPr>
        </p:nvSpPr>
        <p:spPr>
          <a:xfrm>
            <a:off x="0" y="-1155893"/>
            <a:ext cx="10515600" cy="1031188"/>
          </a:xfrm>
          <a:prstGeom prst="rect">
            <a:avLst/>
          </a:prstGeom>
        </p:spPr>
        <p:txBody>
          <a:bodyPr/>
          <a:lstStyle/>
          <a:p>
            <a:endParaRPr lang="en-US" dirty="0"/>
          </a:p>
        </p:txBody>
      </p:sp>
      <p:sp>
        <p:nvSpPr>
          <p:cNvPr id="4" name="Date Placeholder 1">
            <a:extLst>
              <a:ext uri="{FF2B5EF4-FFF2-40B4-BE49-F238E27FC236}">
                <a16:creationId xmlns:a16="http://schemas.microsoft.com/office/drawing/2014/main" id="{2C373844-434D-5447-AAE6-42DCEC7C1627}"/>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9816BD88-1C1A-0E4C-8B90-DCA1AF88328F}"/>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3219015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with Shap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C8E81086-9C14-814E-A468-7F1991334B44}"/>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BD075840-B8B4-894D-B940-E91F6E63678E}"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Title 1"/>
          <p:cNvSpPr>
            <a:spLocks noGrp="1"/>
          </p:cNvSpPr>
          <p:nvPr>
            <p:ph type="title"/>
          </p:nvPr>
        </p:nvSpPr>
        <p:spPr>
          <a:xfrm>
            <a:off x="0" y="-1155893"/>
            <a:ext cx="10515600" cy="1031188"/>
          </a:xfrm>
          <a:prstGeom prst="rect">
            <a:avLst/>
          </a:prstGeom>
        </p:spPr>
        <p:txBody>
          <a:bodyPr/>
          <a:lstStyle/>
          <a:p>
            <a:endParaRPr lang="en-US" dirty="0"/>
          </a:p>
        </p:txBody>
      </p:sp>
      <p:sp>
        <p:nvSpPr>
          <p:cNvPr id="4" name="Date Placeholder 1">
            <a:extLst>
              <a:ext uri="{FF2B5EF4-FFF2-40B4-BE49-F238E27FC236}">
                <a16:creationId xmlns:a16="http://schemas.microsoft.com/office/drawing/2014/main" id="{98249659-9F40-704C-AE69-83AE57CE6B11}"/>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165630D5-9E2C-9B46-943C-723C8567CCEA}"/>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1395420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1AACE0C1-9629-FF4F-B2E6-7B52E8C6F462}"/>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5FC083F4-2CB4-8F4D-AAB6-9F670B5D53D8}"/>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8EB5EED1-4B96-574F-B34D-10270B3C93DD}"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1"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4" name="Text Placeholder 3"/>
          <p:cNvSpPr>
            <a:spLocks noGrp="1"/>
          </p:cNvSpPr>
          <p:nvPr>
            <p:ph type="body" sz="half" idx="2"/>
          </p:nvPr>
        </p:nvSpPr>
        <p:spPr>
          <a:xfrm>
            <a:off x="839788" y="1862659"/>
            <a:ext cx="3932237" cy="400632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p:cNvSpPr>
            <a:spLocks noGrp="1"/>
          </p:cNvSpPr>
          <p:nvPr>
            <p:ph idx="1"/>
          </p:nvPr>
        </p:nvSpPr>
        <p:spPr>
          <a:xfrm>
            <a:off x="5183188" y="1862659"/>
            <a:ext cx="6172200" cy="399839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8">
            <a:extLst>
              <a:ext uri="{FF2B5EF4-FFF2-40B4-BE49-F238E27FC236}">
                <a16:creationId xmlns:a16="http://schemas.microsoft.com/office/drawing/2014/main" id="{4996AE79-DCB8-044B-A486-D0B78496656F}"/>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E208AD99-95E2-9B49-9732-6DEB2481F66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674827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B6847EA2-BB60-B044-820B-75F88783053F}"/>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38B66A1A-E165-1042-9C94-019E204A314C}"/>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C608E374-52AD-B44B-A36A-5736262D0C72}"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2"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9" name="Text Placeholder 3"/>
          <p:cNvSpPr>
            <a:spLocks noGrp="1"/>
          </p:cNvSpPr>
          <p:nvPr>
            <p:ph type="body" sz="half" idx="2"/>
          </p:nvPr>
        </p:nvSpPr>
        <p:spPr>
          <a:xfrm>
            <a:off x="838200" y="1862659"/>
            <a:ext cx="3932237" cy="38268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p:cNvSpPr>
            <a:spLocks noGrp="1"/>
          </p:cNvSpPr>
          <p:nvPr>
            <p:ph type="pic" idx="1"/>
          </p:nvPr>
        </p:nvSpPr>
        <p:spPr>
          <a:xfrm>
            <a:off x="5181600" y="1862659"/>
            <a:ext cx="6172200" cy="3818927"/>
          </a:xfrm>
        </p:spPr>
        <p:txBody>
          <a:bodyPr rtlCol="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7" name="Date Placeholder 10">
            <a:extLst>
              <a:ext uri="{FF2B5EF4-FFF2-40B4-BE49-F238E27FC236}">
                <a16:creationId xmlns:a16="http://schemas.microsoft.com/office/drawing/2014/main" id="{30C3FE27-B2A1-D243-B8A1-18D81C8B815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D7DDFBB8-1DB9-3D47-A945-1A2CB90EF3AA}"/>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3234573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FC30271C-68E4-8643-8189-C8F7E17728BE}"/>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0">
            <a:extLst>
              <a:ext uri="{FF2B5EF4-FFF2-40B4-BE49-F238E27FC236}">
                <a16:creationId xmlns:a16="http://schemas.microsoft.com/office/drawing/2014/main" id="{013C5B48-F205-5A42-A836-967E3B80F181}"/>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221983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lvl1pPr>
              <a:defRPr sz="3200"/>
            </a:lvl1pPr>
          </a:lstStyle>
          <a:p>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E79EA2-2173-9C44-8D20-1E54C792C37C}"/>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2102565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orz Logo Title">
    <p:spTree>
      <p:nvGrpSpPr>
        <p:cNvPr id="1" name=""/>
        <p:cNvGrpSpPr/>
        <p:nvPr/>
      </p:nvGrpSpPr>
      <p:grpSpPr>
        <a:xfrm>
          <a:off x="0" y="0"/>
          <a:ext cx="0" cy="0"/>
          <a:chOff x="0" y="0"/>
          <a:chExt cx="0" cy="0"/>
        </a:xfrm>
      </p:grpSpPr>
      <p:pic>
        <p:nvPicPr>
          <p:cNvPr id="3" name="Picture 5" descr="Logo, Smith School of Business at Queen's University">
            <a:extLst>
              <a:ext uri="{FF2B5EF4-FFF2-40B4-BE49-F238E27FC236}">
                <a16:creationId xmlns:a16="http://schemas.microsoft.com/office/drawing/2014/main" id="{0ACDDAE5-8A25-314E-8AD8-A9BCD99D6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988" y="2633663"/>
            <a:ext cx="83280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4"/>
          <p:cNvSpPr>
            <a:spLocks noGrp="1"/>
          </p:cNvSpPr>
          <p:nvPr>
            <p:ph type="title"/>
          </p:nvPr>
        </p:nvSpPr>
        <p:spPr>
          <a:xfrm>
            <a:off x="0" y="-1125027"/>
            <a:ext cx="8876071" cy="1031188"/>
          </a:xfrm>
          <a:prstGeom prst="rect">
            <a:avLst/>
          </a:prstGeom>
        </p:spPr>
        <p:txBody>
          <a:bodyPr/>
          <a:lstStyle/>
          <a:p>
            <a:endParaRPr lang="en-US" dirty="0"/>
          </a:p>
        </p:txBody>
      </p:sp>
    </p:spTree>
    <p:extLst>
      <p:ext uri="{BB962C8B-B14F-4D97-AF65-F5344CB8AC3E}">
        <p14:creationId xmlns:p14="http://schemas.microsoft.com/office/powerpoint/2010/main" val="3113177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Vert Logo Title">
    <p:spTree>
      <p:nvGrpSpPr>
        <p:cNvPr id="1" name=""/>
        <p:cNvGrpSpPr/>
        <p:nvPr/>
      </p:nvGrpSpPr>
      <p:grpSpPr>
        <a:xfrm>
          <a:off x="0" y="0"/>
          <a:ext cx="0" cy="0"/>
          <a:chOff x="0" y="0"/>
          <a:chExt cx="0" cy="0"/>
        </a:xfrm>
      </p:grpSpPr>
      <p:pic>
        <p:nvPicPr>
          <p:cNvPr id="3" name="Picture 5" descr="Logo, Smith School of Business at Queen's University">
            <a:extLst>
              <a:ext uri="{FF2B5EF4-FFF2-40B4-BE49-F238E27FC236}">
                <a16:creationId xmlns:a16="http://schemas.microsoft.com/office/drawing/2014/main" id="{755E95B0-BA7A-6E45-92EB-61CAD8F7A1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9263" y="1374775"/>
            <a:ext cx="3673475"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0" y="-1134081"/>
            <a:ext cx="8876071" cy="1031188"/>
          </a:xfrm>
          <a:prstGeom prst="rect">
            <a:avLst/>
          </a:prstGeom>
        </p:spPr>
        <p:txBody>
          <a:bodyPr/>
          <a:lstStyle/>
          <a:p>
            <a:endParaRPr lang="en-US" dirty="0"/>
          </a:p>
        </p:txBody>
      </p:sp>
    </p:spTree>
    <p:extLst>
      <p:ext uri="{BB962C8B-B14F-4D97-AF65-F5344CB8AC3E}">
        <p14:creationId xmlns:p14="http://schemas.microsoft.com/office/powerpoint/2010/main" val="1424201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6BF4A8A5-9C1B-9A41-8873-44DC288043B0}"/>
              </a:ext>
            </a:extLst>
          </p:cNvPr>
          <p:cNvCxnSpPr>
            <a:cxnSpLocks/>
          </p:cNvCxnSpPr>
          <p:nvPr/>
        </p:nvCxnSpPr>
        <p:spPr>
          <a:xfrm>
            <a:off x="838200" y="4117975"/>
            <a:ext cx="45243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8200" y="609607"/>
            <a:ext cx="7871234" cy="3367041"/>
          </a:xfrm>
          <a:prstGeom prst="rect">
            <a:avLst/>
          </a:prstGeom>
        </p:spPr>
        <p:txBody>
          <a:bodyPr/>
          <a:lstStyle>
            <a:lvl1pPr>
              <a:defRPr sz="6000"/>
            </a:lvl1pPr>
          </a:lstStyle>
          <a:p>
            <a:endParaRPr lang="en-US" dirty="0"/>
          </a:p>
        </p:txBody>
      </p:sp>
      <p:sp>
        <p:nvSpPr>
          <p:cNvPr id="7" name="Subtitle 2"/>
          <p:cNvSpPr>
            <a:spLocks noGrp="1"/>
          </p:cNvSpPr>
          <p:nvPr>
            <p:ph type="subTitle" idx="1"/>
          </p:nvPr>
        </p:nvSpPr>
        <p:spPr>
          <a:xfrm>
            <a:off x="838200" y="4314571"/>
            <a:ext cx="9144000" cy="1655762"/>
          </a:xfrm>
        </p:spPr>
        <p:txBody>
          <a:bodyPr>
            <a:noAutofit/>
          </a:bodyPr>
          <a:lstStyle>
            <a:lvl1pPr marL="0" indent="0" algn="l">
              <a:lnSpc>
                <a:spcPct val="100000"/>
              </a:lnSpc>
              <a:spcBef>
                <a:spcPts val="0"/>
              </a:spcBef>
              <a:buNone/>
              <a:defRPr sz="2400" kern="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5" name="Date Placeholder 4">
            <a:extLst>
              <a:ext uri="{FF2B5EF4-FFF2-40B4-BE49-F238E27FC236}">
                <a16:creationId xmlns:a16="http://schemas.microsoft.com/office/drawing/2014/main" id="{8E97048D-7FDA-5B49-A5A3-0F4E0C2F1B2B}"/>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4126175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6C02BE4D-A0FE-8E40-BE1B-E7DD17EF03B2}"/>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2A8D2C79-31C4-414F-902A-3165C9C8EF9A}"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 name="Title 1"/>
          <p:cNvSpPr>
            <a:spLocks noGrp="1"/>
          </p:cNvSpPr>
          <p:nvPr>
            <p:ph type="title"/>
          </p:nvPr>
        </p:nvSpPr>
        <p:spPr>
          <a:xfrm>
            <a:off x="838200" y="1066800"/>
            <a:ext cx="9401269" cy="3324130"/>
          </a:xfrm>
          <a:prstGeom prst="rect">
            <a:avLst/>
          </a:prstGeom>
        </p:spPr>
        <p:txBody>
          <a:bodyPr/>
          <a:lstStyle>
            <a:lvl1pPr>
              <a:defRPr sz="4800"/>
            </a:lvl1pPr>
          </a:lstStyle>
          <a:p>
            <a:endParaRPr lang="en-US" dirty="0"/>
          </a:p>
        </p:txBody>
      </p:sp>
      <p:sp>
        <p:nvSpPr>
          <p:cNvPr id="3" name="Text Placeholder 2"/>
          <p:cNvSpPr>
            <a:spLocks noGrp="1"/>
          </p:cNvSpPr>
          <p:nvPr>
            <p:ph type="body" idx="1"/>
          </p:nvPr>
        </p:nvSpPr>
        <p:spPr>
          <a:xfrm>
            <a:off x="838200" y="4544196"/>
            <a:ext cx="10515600" cy="1500187"/>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dirty="0"/>
          </a:p>
        </p:txBody>
      </p:sp>
      <p:sp>
        <p:nvSpPr>
          <p:cNvPr id="5" name="Date Placeholder 3">
            <a:extLst>
              <a:ext uri="{FF2B5EF4-FFF2-40B4-BE49-F238E27FC236}">
                <a16:creationId xmlns:a16="http://schemas.microsoft.com/office/drawing/2014/main" id="{FD735415-206E-7A41-97F6-C2D181DCE114}"/>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5F35F6BD-69A0-3540-811D-A75FCCCFAC20}"/>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3176646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91D59160-B5F9-0745-866E-FF8506C81CD5}"/>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4F7EB3CC-1C2A-5C48-AF91-B2A7AD6B5325}"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7" name="Title 4"/>
          <p:cNvSpPr>
            <a:spLocks noGrp="1"/>
          </p:cNvSpPr>
          <p:nvPr>
            <p:ph type="title"/>
          </p:nvPr>
        </p:nvSpPr>
        <p:spPr>
          <a:xfrm>
            <a:off x="1657964" y="2913406"/>
            <a:ext cx="8876071" cy="1031188"/>
          </a:xfrm>
          <a:prstGeom prst="rect">
            <a:avLst/>
          </a:prstGeom>
        </p:spPr>
        <p:txBody>
          <a:bodyPr anchor="ctr" anchorCtr="1"/>
          <a:lstStyle>
            <a:lvl1pPr algn="ctr">
              <a:defRPr sz="4800"/>
            </a:lvl1pPr>
          </a:lstStyle>
          <a:p>
            <a:endParaRPr lang="en-US" dirty="0"/>
          </a:p>
        </p:txBody>
      </p:sp>
      <p:sp>
        <p:nvSpPr>
          <p:cNvPr id="4" name="Date Placeholder 3">
            <a:extLst>
              <a:ext uri="{FF2B5EF4-FFF2-40B4-BE49-F238E27FC236}">
                <a16:creationId xmlns:a16="http://schemas.microsoft.com/office/drawing/2014/main" id="{F74C2D95-AAA2-324C-8457-C24B021A0BD2}"/>
              </a:ext>
            </a:extLst>
          </p:cNvPr>
          <p:cNvSpPr>
            <a:spLocks noGrp="1"/>
          </p:cNvSpPr>
          <p:nvPr>
            <p:ph type="dt" sz="half" idx="10"/>
          </p:nvPr>
        </p:nvSpPr>
        <p:spPr/>
        <p:txBody>
          <a:bodyPr/>
          <a:lstStyle>
            <a:lvl1pPr>
              <a:defRPr/>
            </a:lvl1pPr>
          </a:lstStyle>
          <a:p>
            <a:pPr>
              <a:defRPr/>
            </a:pPr>
            <a:endParaRPr lang="en-US"/>
          </a:p>
        </p:txBody>
      </p:sp>
      <p:sp>
        <p:nvSpPr>
          <p:cNvPr id="5" name="Footer Placeholder 5">
            <a:extLst>
              <a:ext uri="{FF2B5EF4-FFF2-40B4-BE49-F238E27FC236}">
                <a16:creationId xmlns:a16="http://schemas.microsoft.com/office/drawing/2014/main" id="{D93D5B91-E64C-4346-8A50-B7B5A4D9156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2604871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06FBA191-0D97-ED44-956C-E80088E532C6}"/>
              </a:ext>
            </a:extLst>
          </p:cNvPr>
          <p:cNvCxnSpPr>
            <a:cxnSpLocks/>
          </p:cNvCxnSpPr>
          <p:nvPr/>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Box 6">
            <a:extLst>
              <a:ext uri="{FF2B5EF4-FFF2-40B4-BE49-F238E27FC236}">
                <a16:creationId xmlns:a16="http://schemas.microsoft.com/office/drawing/2014/main" id="{A6489F7A-533B-DE47-94ED-11607402E03A}"/>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5D4E487A-7FB7-D64E-959C-21B62078E888}"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7"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Content Placeholder 2"/>
          <p:cNvSpPr>
            <a:spLocks noGrp="1"/>
          </p:cNvSpPr>
          <p:nvPr>
            <p:ph idx="1"/>
          </p:nvPr>
        </p:nvSpPr>
        <p:spPr>
          <a:xfrm>
            <a:off x="838200" y="1862659"/>
            <a:ext cx="8876071" cy="38892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1">
            <a:extLst>
              <a:ext uri="{FF2B5EF4-FFF2-40B4-BE49-F238E27FC236}">
                <a16:creationId xmlns:a16="http://schemas.microsoft.com/office/drawing/2014/main" id="{C2BE082C-748D-C346-B3BD-EDA81E53ABF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085D4D0C-7443-AE4A-8FE5-69BAE7B29FD6}"/>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2062664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A9AB6D3B-1B47-8B4D-A31C-BFDEDBF83775}"/>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EE3793A0-0413-2341-A076-32788B866001}"/>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E33CCAE3-8882-AC40-868C-EB4F96E8D2C1}"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1"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Content Placeholder 2"/>
          <p:cNvSpPr>
            <a:spLocks noGrp="1"/>
          </p:cNvSpPr>
          <p:nvPr>
            <p:ph sz="half" idx="1"/>
          </p:nvPr>
        </p:nvSpPr>
        <p:spPr>
          <a:xfrm>
            <a:off x="838200" y="1862659"/>
            <a:ext cx="5181600" cy="4314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62659"/>
            <a:ext cx="5181600" cy="4314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a:extLst>
              <a:ext uri="{FF2B5EF4-FFF2-40B4-BE49-F238E27FC236}">
                <a16:creationId xmlns:a16="http://schemas.microsoft.com/office/drawing/2014/main" id="{1787AFDD-367D-8049-A8E3-A76F44D8856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6B5E45CB-37FD-134A-AB41-0EA0CCC8509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1225682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7" name="Straight Connector 6" descr="&quot;&quot;">
            <a:extLst>
              <a:ext uri="{FF2B5EF4-FFF2-40B4-BE49-F238E27FC236}">
                <a16:creationId xmlns:a16="http://schemas.microsoft.com/office/drawing/2014/main" id="{E748CA6F-D9A4-D443-A53B-3DEE7D90162B}"/>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6">
            <a:extLst>
              <a:ext uri="{FF2B5EF4-FFF2-40B4-BE49-F238E27FC236}">
                <a16:creationId xmlns:a16="http://schemas.microsoft.com/office/drawing/2014/main" id="{F87C3F34-4390-EE43-B4A5-954F910E29A7}"/>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38470853-6E1B-194F-AE62-F124817C19C7}"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0"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3" name="Text Placeholder 2"/>
          <p:cNvSpPr>
            <a:spLocks noGrp="1"/>
          </p:cNvSpPr>
          <p:nvPr>
            <p:ph type="body" idx="1"/>
          </p:nvPr>
        </p:nvSpPr>
        <p:spPr>
          <a:xfrm>
            <a:off x="83661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1">
            <a:extLst>
              <a:ext uri="{FF2B5EF4-FFF2-40B4-BE49-F238E27FC236}">
                <a16:creationId xmlns:a16="http://schemas.microsoft.com/office/drawing/2014/main" id="{8EEF23C8-6BB7-7040-9E2D-32E14C8A8793}"/>
              </a:ext>
            </a:extLst>
          </p:cNvPr>
          <p:cNvSpPr>
            <a:spLocks noGrp="1"/>
          </p:cNvSpPr>
          <p:nvPr>
            <p:ph type="dt" sz="half" idx="10"/>
          </p:nvPr>
        </p:nvSpPr>
        <p:spPr/>
        <p:txBody>
          <a:bodyPr/>
          <a:lstStyle>
            <a:lvl1pPr>
              <a:defRPr/>
            </a:lvl1pPr>
          </a:lstStyle>
          <a:p>
            <a:pPr>
              <a:defRPr/>
            </a:pPr>
            <a:endParaRPr lang="en-US"/>
          </a:p>
        </p:txBody>
      </p:sp>
      <p:sp>
        <p:nvSpPr>
          <p:cNvPr id="11" name="Footer Placeholder 5">
            <a:extLst>
              <a:ext uri="{FF2B5EF4-FFF2-40B4-BE49-F238E27FC236}">
                <a16:creationId xmlns:a16="http://schemas.microsoft.com/office/drawing/2014/main" id="{46666742-4A8A-D445-B3CA-1C6601999C77}"/>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25906408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 name="Straight Connector 2" descr="&quot;&quot;">
            <a:extLst>
              <a:ext uri="{FF2B5EF4-FFF2-40B4-BE49-F238E27FC236}">
                <a16:creationId xmlns:a16="http://schemas.microsoft.com/office/drawing/2014/main" id="{D8E0245C-8434-9746-9A09-AA6B6F74B8C0}"/>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6">
            <a:extLst>
              <a:ext uri="{FF2B5EF4-FFF2-40B4-BE49-F238E27FC236}">
                <a16:creationId xmlns:a16="http://schemas.microsoft.com/office/drawing/2014/main" id="{3DF02732-2841-9B40-A2C9-66A06CCA81A0}"/>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283A2C34-3929-9242-BB81-07072E4AB5BF}"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5" name="Title Placeholder 1"/>
          <p:cNvSpPr>
            <a:spLocks noGrp="1"/>
          </p:cNvSpPr>
          <p:nvPr>
            <p:ph type="title"/>
          </p:nvPr>
        </p:nvSpPr>
        <p:spPr>
          <a:xfrm>
            <a:off x="838200" y="311995"/>
            <a:ext cx="9401269" cy="937444"/>
          </a:xfrm>
          <a:prstGeom prst="rect">
            <a:avLst/>
          </a:prstGeom>
        </p:spPr>
        <p:txBody>
          <a:bodyPr rtlCol="0">
            <a:noAutofit/>
          </a:bodyPr>
          <a:lstStyle>
            <a:lvl1pPr>
              <a:defRPr sz="3200"/>
            </a:lvl1pPr>
          </a:lstStyle>
          <a:p>
            <a:endParaRPr lang="en-US" dirty="0"/>
          </a:p>
        </p:txBody>
      </p:sp>
      <p:sp>
        <p:nvSpPr>
          <p:cNvPr id="5" name="Date Placeholder 2">
            <a:extLst>
              <a:ext uri="{FF2B5EF4-FFF2-40B4-BE49-F238E27FC236}">
                <a16:creationId xmlns:a16="http://schemas.microsoft.com/office/drawing/2014/main" id="{0CB8B9A3-BD9E-5641-9FA9-FC607D176746}"/>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28F994DE-F17E-9049-8EAB-59CF6E27DAF5}"/>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35081867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87434FA8-2F50-7E4F-988D-5F7307507E9B}"/>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EF451E8D-75F9-3B4E-8B6F-173BBE71E9D3}"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5" name="Title 1"/>
          <p:cNvSpPr>
            <a:spLocks noGrp="1"/>
          </p:cNvSpPr>
          <p:nvPr>
            <p:ph type="title"/>
          </p:nvPr>
        </p:nvSpPr>
        <p:spPr>
          <a:xfrm>
            <a:off x="0" y="-1155893"/>
            <a:ext cx="10515600" cy="1031188"/>
          </a:xfrm>
          <a:prstGeom prst="rect">
            <a:avLst/>
          </a:prstGeom>
        </p:spPr>
        <p:txBody>
          <a:bodyPr/>
          <a:lstStyle/>
          <a:p>
            <a:endParaRPr lang="en-US" dirty="0"/>
          </a:p>
        </p:txBody>
      </p:sp>
      <p:sp>
        <p:nvSpPr>
          <p:cNvPr id="4" name="Date Placeholder 1">
            <a:extLst>
              <a:ext uri="{FF2B5EF4-FFF2-40B4-BE49-F238E27FC236}">
                <a16:creationId xmlns:a16="http://schemas.microsoft.com/office/drawing/2014/main" id="{2C373844-434D-5447-AAE6-42DCEC7C1627}"/>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9816BD88-1C1A-0E4C-8B90-DCA1AF88328F}"/>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516244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with Shap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C8E81086-9C14-814E-A468-7F1991334B44}"/>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BD075840-B8B4-894D-B940-E91F6E63678E}" type="slidenum">
              <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Title 1"/>
          <p:cNvSpPr>
            <a:spLocks noGrp="1"/>
          </p:cNvSpPr>
          <p:nvPr>
            <p:ph type="title"/>
          </p:nvPr>
        </p:nvSpPr>
        <p:spPr>
          <a:xfrm>
            <a:off x="0" y="-1155893"/>
            <a:ext cx="10515600" cy="1031188"/>
          </a:xfrm>
          <a:prstGeom prst="rect">
            <a:avLst/>
          </a:prstGeom>
        </p:spPr>
        <p:txBody>
          <a:bodyPr/>
          <a:lstStyle/>
          <a:p>
            <a:endParaRPr lang="en-US" dirty="0"/>
          </a:p>
        </p:txBody>
      </p:sp>
      <p:sp>
        <p:nvSpPr>
          <p:cNvPr id="4" name="Date Placeholder 1">
            <a:extLst>
              <a:ext uri="{FF2B5EF4-FFF2-40B4-BE49-F238E27FC236}">
                <a16:creationId xmlns:a16="http://schemas.microsoft.com/office/drawing/2014/main" id="{98249659-9F40-704C-AE69-83AE57CE6B11}"/>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165630D5-9E2C-9B46-943C-723C8567CCEA}"/>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bg1"/>
                </a:solidFill>
                <a:latin typeface="+mn-lt"/>
              </a:defRPr>
            </a:lvl1pPr>
          </a:lstStyle>
          <a:p>
            <a:pPr>
              <a:defRPr/>
            </a:pPr>
            <a:endParaRPr lang="en-US"/>
          </a:p>
        </p:txBody>
      </p:sp>
    </p:spTree>
    <p:extLst>
      <p:ext uri="{BB962C8B-B14F-4D97-AF65-F5344CB8AC3E}">
        <p14:creationId xmlns:p14="http://schemas.microsoft.com/office/powerpoint/2010/main" val="21192783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1AACE0C1-9629-FF4F-B2E6-7B52E8C6F462}"/>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5FC083F4-2CB4-8F4D-AAB6-9F670B5D53D8}"/>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8EB5EED1-4B96-574F-B34D-10270B3C93DD}"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1"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4" name="Text Placeholder 3"/>
          <p:cNvSpPr>
            <a:spLocks noGrp="1"/>
          </p:cNvSpPr>
          <p:nvPr>
            <p:ph type="body" sz="half" idx="2"/>
          </p:nvPr>
        </p:nvSpPr>
        <p:spPr>
          <a:xfrm>
            <a:off x="839788" y="1862659"/>
            <a:ext cx="3932237" cy="400632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p:cNvSpPr>
            <a:spLocks noGrp="1"/>
          </p:cNvSpPr>
          <p:nvPr>
            <p:ph idx="1"/>
          </p:nvPr>
        </p:nvSpPr>
        <p:spPr>
          <a:xfrm>
            <a:off x="5183188" y="1862659"/>
            <a:ext cx="6172200" cy="399839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8">
            <a:extLst>
              <a:ext uri="{FF2B5EF4-FFF2-40B4-BE49-F238E27FC236}">
                <a16:creationId xmlns:a16="http://schemas.microsoft.com/office/drawing/2014/main" id="{4996AE79-DCB8-044B-A486-D0B78496656F}"/>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E208AD99-95E2-9B49-9732-6DEB2481F661}"/>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4122484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cxnSp>
        <p:nvCxnSpPr>
          <p:cNvPr id="5" name="Straight Connector 4" descr="&quot;&quot;">
            <a:extLst>
              <a:ext uri="{FF2B5EF4-FFF2-40B4-BE49-F238E27FC236}">
                <a16:creationId xmlns:a16="http://schemas.microsoft.com/office/drawing/2014/main" id="{B6847EA2-BB60-B044-820B-75F88783053F}"/>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38B66A1A-E165-1042-9C94-019E204A314C}"/>
              </a:ext>
              <a:ext uri="{C183D7F6-B498-43B3-948B-1728B52AA6E4}">
                <adec:decorative xmlns:adec="http://schemas.microsoft.com/office/drawing/2017/decorative" val="1"/>
              </a:ext>
            </a:extLst>
          </p:cNvPr>
          <p:cNvSpPr txBox="1">
            <a:spLocks noChangeArrowheads="1"/>
          </p:cNvSpPr>
          <p:nvPr userDrawn="1"/>
        </p:nvSpPr>
        <p:spPr bwMode="auto">
          <a:xfrm>
            <a:off x="11353800" y="333375"/>
            <a:ext cx="3730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algn="r" eaLnBrk="1" hangingPunct="1"/>
            <a:fld id="{C608E374-52AD-B44B-A36A-5736262D0C72}" type="slidenum">
              <a:rPr lang="en-US" altLang="en-US" sz="1200">
                <a:latin typeface="Lato Black" panose="020F0502020204030203" pitchFamily="34" charset="0"/>
                <a:ea typeface="Lato Black" panose="020F0502020204030203" pitchFamily="34" charset="0"/>
                <a:cs typeface="Lato Black" panose="020F0502020204030203" pitchFamily="34" charset="0"/>
              </a:rPr>
              <a:pPr algn="r" eaLnBrk="1" hangingPunct="1"/>
              <a:t>‹#›</a:t>
            </a:fld>
            <a:endParaRPr lang="en-US" altLang="en-US" sz="1200">
              <a:latin typeface="Lato Black" panose="020F0502020204030203" pitchFamily="34" charset="0"/>
              <a:ea typeface="Lato Black" panose="020F0502020204030203" pitchFamily="34" charset="0"/>
              <a:cs typeface="Lato Black" panose="020F0502020204030203" pitchFamily="34" charset="0"/>
            </a:endParaRPr>
          </a:p>
        </p:txBody>
      </p:sp>
      <p:sp>
        <p:nvSpPr>
          <p:cNvPr id="12"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9" name="Text Placeholder 3"/>
          <p:cNvSpPr>
            <a:spLocks noGrp="1"/>
          </p:cNvSpPr>
          <p:nvPr>
            <p:ph type="body" sz="half" idx="2"/>
          </p:nvPr>
        </p:nvSpPr>
        <p:spPr>
          <a:xfrm>
            <a:off x="838200" y="1862659"/>
            <a:ext cx="3932237" cy="38268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p:cNvSpPr>
            <a:spLocks noGrp="1"/>
          </p:cNvSpPr>
          <p:nvPr>
            <p:ph type="pic" idx="1"/>
          </p:nvPr>
        </p:nvSpPr>
        <p:spPr>
          <a:xfrm>
            <a:off x="5181600" y="1862659"/>
            <a:ext cx="6172200" cy="3818927"/>
          </a:xfrm>
        </p:spPr>
        <p:txBody>
          <a:bodyPr rtlCol="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7" name="Date Placeholder 10">
            <a:extLst>
              <a:ext uri="{FF2B5EF4-FFF2-40B4-BE49-F238E27FC236}">
                <a16:creationId xmlns:a16="http://schemas.microsoft.com/office/drawing/2014/main" id="{30C3FE27-B2A1-D243-B8A1-18D81C8B815A}"/>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D7DDFBB8-1DB9-3D47-A945-1A2CB90EF3AA}"/>
              </a:ext>
            </a:extLst>
          </p:cNvPr>
          <p:cNvSpPr>
            <a:spLocks noGrp="1"/>
          </p:cNvSpPr>
          <p:nvPr>
            <p:ph type="ftr" sz="quarter" idx="11"/>
          </p:nvPr>
        </p:nvSpPr>
        <p:spPr>
          <a:xfrm>
            <a:off x="10239375" y="242888"/>
            <a:ext cx="1160463" cy="365125"/>
          </a:xfrm>
          <a:prstGeom prst="rect">
            <a:avLst/>
          </a:prstGeom>
        </p:spPr>
        <p:txBody>
          <a:bodyPr vert="horz" lIns="0" tIns="0" rIns="0" bIns="0" rtlCol="0" anchor="ctr" anchorCtr="0"/>
          <a:lstStyle>
            <a:lvl1pPr algn="r" eaLnBrk="1" fontAlgn="auto" hangingPunct="1">
              <a:spcBef>
                <a:spcPts val="0"/>
              </a:spcBef>
              <a:spcAft>
                <a:spcPts val="0"/>
              </a:spcAft>
              <a:defRPr sz="1200" dirty="0">
                <a:solidFill>
                  <a:schemeClr val="tx1"/>
                </a:solidFill>
                <a:latin typeface="+mn-lt"/>
              </a:defRPr>
            </a:lvl1pPr>
          </a:lstStyle>
          <a:p>
            <a:pPr>
              <a:defRPr/>
            </a:pPr>
            <a:endParaRPr lang="en-US"/>
          </a:p>
        </p:txBody>
      </p:sp>
    </p:spTree>
    <p:extLst>
      <p:ext uri="{BB962C8B-B14F-4D97-AF65-F5344CB8AC3E}">
        <p14:creationId xmlns:p14="http://schemas.microsoft.com/office/powerpoint/2010/main" val="41152954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cxnSp>
        <p:nvCxnSpPr>
          <p:cNvPr id="4" name="Straight Connector 3" descr="&quot;&quot;">
            <a:extLst>
              <a:ext uri="{FF2B5EF4-FFF2-40B4-BE49-F238E27FC236}">
                <a16:creationId xmlns:a16="http://schemas.microsoft.com/office/drawing/2014/main" id="{FC30271C-68E4-8643-8189-C8F7E17728BE}"/>
              </a:ext>
            </a:extLst>
          </p:cNvPr>
          <p:cNvCxnSpPr>
            <a:cxnSpLocks/>
          </p:cNvCxnSpPr>
          <p:nvPr userDrawn="1"/>
        </p:nvCxnSpPr>
        <p:spPr>
          <a:xfrm>
            <a:off x="0" y="1397000"/>
            <a:ext cx="117268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Placeholder 1"/>
          <p:cNvSpPr>
            <a:spLocks noGrp="1"/>
          </p:cNvSpPr>
          <p:nvPr>
            <p:ph type="title"/>
          </p:nvPr>
        </p:nvSpPr>
        <p:spPr>
          <a:xfrm>
            <a:off x="838200" y="311995"/>
            <a:ext cx="8876071" cy="937444"/>
          </a:xfrm>
          <a:prstGeom prst="rect">
            <a:avLst/>
          </a:prstGeom>
        </p:spPr>
        <p:txBody>
          <a:bodyPr rtlCol="0">
            <a:noAutofit/>
          </a:bodyPr>
          <a:lstStyle>
            <a:lvl1pPr>
              <a:defRPr sz="3200"/>
            </a:lvl1pPr>
          </a:lstStyle>
          <a:p>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0">
            <a:extLst>
              <a:ext uri="{FF2B5EF4-FFF2-40B4-BE49-F238E27FC236}">
                <a16:creationId xmlns:a16="http://schemas.microsoft.com/office/drawing/2014/main" id="{013C5B48-F205-5A42-A836-967E3B80F181}"/>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5779646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lvl1pPr>
              <a:defRPr sz="3200"/>
            </a:lvl1pPr>
          </a:lstStyle>
          <a:p>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E79EA2-2173-9C44-8D20-1E54C792C37C}"/>
              </a:ext>
            </a:extLst>
          </p:cNvPr>
          <p:cNvSpPr>
            <a:spLocks noGrp="1"/>
          </p:cNvSpPr>
          <p:nvPr>
            <p:ph type="dt" sz="half" idx="10"/>
          </p:nvPr>
        </p:nvSpPr>
        <p:spPr/>
        <p:txBody>
          <a:bodyPr/>
          <a:lstStyle>
            <a:lvl1pPr>
              <a:defRPr/>
            </a:lvl1pPr>
          </a:lstStyle>
          <a:p>
            <a:pPr>
              <a:defRPr/>
            </a:pPr>
            <a:endParaRPr lang="en-US"/>
          </a:p>
        </p:txBody>
      </p:sp>
    </p:spTree>
    <p:extLst>
      <p:ext uri="{BB962C8B-B14F-4D97-AF65-F5344CB8AC3E}">
        <p14:creationId xmlns:p14="http://schemas.microsoft.com/office/powerpoint/2010/main" val="8771643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eg"/><Relationship Id="rId18"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1.jpeg"/><Relationship Id="rId18"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F037F24-AEB5-C542-9AD8-542A853FFC72}"/>
              </a:ext>
            </a:extLst>
          </p:cNvPr>
          <p:cNvSpPr>
            <a:spLocks noGrp="1" noChangeArrowheads="1"/>
          </p:cNvSpPr>
          <p:nvPr>
            <p:ph type="title"/>
          </p:nvPr>
        </p:nvSpPr>
        <p:spPr bwMode="auto">
          <a:xfrm>
            <a:off x="838200" y="273050"/>
            <a:ext cx="105156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F7B9BC1-19DD-4A4E-99A1-4DA20A284A3D}"/>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F568E6C-EB3A-2E4C-93E3-3CB27EA5C125}"/>
              </a:ext>
            </a:extLst>
          </p:cNvPr>
          <p:cNvSpPr>
            <a:spLocks noGrp="1"/>
          </p:cNvSpPr>
          <p:nvPr>
            <p:ph type="dt" sz="half" idx="2"/>
          </p:nvPr>
        </p:nvSpPr>
        <p:spPr>
          <a:xfrm>
            <a:off x="838200" y="6356350"/>
            <a:ext cx="2743200" cy="365125"/>
          </a:xfrm>
          <a:prstGeom prst="rect">
            <a:avLst/>
          </a:prstGeom>
        </p:spPr>
        <p:txBody>
          <a:bodyPr vert="horz" lIns="0" tIns="0" rIns="0" bIns="0" rtlCol="0" anchor="ctr"/>
          <a:lstStyle>
            <a:lvl1pPr algn="l" eaLnBrk="1" fontAlgn="auto" hangingPunct="1">
              <a:spcBef>
                <a:spcPts val="0"/>
              </a:spcBef>
              <a:spcAft>
                <a:spcPts val="0"/>
              </a:spcAft>
              <a:defRPr sz="1200" baseline="0" dirty="0">
                <a:solidFill>
                  <a:schemeClr val="bg1"/>
                </a:solidFill>
                <a:latin typeface="+mn-lt"/>
              </a:defRPr>
            </a:lvl1pPr>
          </a:lstStyle>
          <a:p>
            <a:pPr>
              <a:defRPr/>
            </a:pPr>
            <a:endParaRPr lang="en-US"/>
          </a:p>
        </p:txBody>
      </p:sp>
      <p:pic>
        <p:nvPicPr>
          <p:cNvPr id="1029" name="Picture 9">
            <a:extLst>
              <a:ext uri="{FF2B5EF4-FFF2-40B4-BE49-F238E27FC236}">
                <a16:creationId xmlns:a16="http://schemas.microsoft.com/office/drawing/2014/main" id="{8A1BCE5C-CBAB-3A48-97D0-D13C671D948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967913" y="6338888"/>
            <a:ext cx="19796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502089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Lst>
  <p:hf sldNum="0" hdr="0" ftr="0" dt="0"/>
  <p:txStyles>
    <p:titleStyle>
      <a:lvl1pPr algn="l" rtl="0" fontAlgn="base">
        <a:lnSpc>
          <a:spcPct val="90000"/>
        </a:lnSpc>
        <a:spcBef>
          <a:spcPct val="0"/>
        </a:spcBef>
        <a:spcAft>
          <a:spcPct val="0"/>
        </a:spcAft>
        <a:defRPr sz="3200" kern="1200">
          <a:solidFill>
            <a:schemeClr val="tx1"/>
          </a:solidFill>
          <a:latin typeface="+mj-lt"/>
          <a:ea typeface="+mj-ea"/>
          <a:cs typeface="+mj-cs"/>
        </a:defRPr>
      </a:lvl1pPr>
      <a:lvl2pPr algn="l" rtl="0" fontAlgn="base">
        <a:lnSpc>
          <a:spcPct val="90000"/>
        </a:lnSpc>
        <a:spcBef>
          <a:spcPct val="0"/>
        </a:spcBef>
        <a:spcAft>
          <a:spcPct val="0"/>
        </a:spcAft>
        <a:defRPr sz="3200">
          <a:solidFill>
            <a:schemeClr val="tx1"/>
          </a:solidFill>
          <a:latin typeface="Lato Black" panose="020F0502020204030203" pitchFamily="34" charset="0"/>
        </a:defRPr>
      </a:lvl2pPr>
      <a:lvl3pPr algn="l" rtl="0" fontAlgn="base">
        <a:lnSpc>
          <a:spcPct val="90000"/>
        </a:lnSpc>
        <a:spcBef>
          <a:spcPct val="0"/>
        </a:spcBef>
        <a:spcAft>
          <a:spcPct val="0"/>
        </a:spcAft>
        <a:defRPr sz="3200">
          <a:solidFill>
            <a:schemeClr val="tx1"/>
          </a:solidFill>
          <a:latin typeface="Lato Black" panose="020F0502020204030203" pitchFamily="34" charset="0"/>
        </a:defRPr>
      </a:lvl3pPr>
      <a:lvl4pPr algn="l" rtl="0" fontAlgn="base">
        <a:lnSpc>
          <a:spcPct val="90000"/>
        </a:lnSpc>
        <a:spcBef>
          <a:spcPct val="0"/>
        </a:spcBef>
        <a:spcAft>
          <a:spcPct val="0"/>
        </a:spcAft>
        <a:defRPr sz="3200">
          <a:solidFill>
            <a:schemeClr val="tx1"/>
          </a:solidFill>
          <a:latin typeface="Lato Black" panose="020F0502020204030203" pitchFamily="34" charset="0"/>
        </a:defRPr>
      </a:lvl4pPr>
      <a:lvl5pPr algn="l" rtl="0" fontAlgn="base">
        <a:lnSpc>
          <a:spcPct val="90000"/>
        </a:lnSpc>
        <a:spcBef>
          <a:spcPct val="0"/>
        </a:spcBef>
        <a:spcAft>
          <a:spcPct val="0"/>
        </a:spcAft>
        <a:defRPr sz="3200">
          <a:solidFill>
            <a:schemeClr val="tx1"/>
          </a:solidFill>
          <a:latin typeface="Lato Black" panose="020F0502020204030203" pitchFamily="34" charset="0"/>
        </a:defRPr>
      </a:lvl5pPr>
      <a:lvl6pPr marL="457200" algn="l" rtl="0" fontAlgn="base">
        <a:lnSpc>
          <a:spcPct val="90000"/>
        </a:lnSpc>
        <a:spcBef>
          <a:spcPct val="0"/>
        </a:spcBef>
        <a:spcAft>
          <a:spcPct val="0"/>
        </a:spcAft>
        <a:defRPr sz="3200">
          <a:solidFill>
            <a:schemeClr val="tx1"/>
          </a:solidFill>
          <a:latin typeface="Lato Black" panose="020F0502020204030203" pitchFamily="34" charset="0"/>
        </a:defRPr>
      </a:lvl6pPr>
      <a:lvl7pPr marL="914400" algn="l" rtl="0" fontAlgn="base">
        <a:lnSpc>
          <a:spcPct val="90000"/>
        </a:lnSpc>
        <a:spcBef>
          <a:spcPct val="0"/>
        </a:spcBef>
        <a:spcAft>
          <a:spcPct val="0"/>
        </a:spcAft>
        <a:defRPr sz="3200">
          <a:solidFill>
            <a:schemeClr val="tx1"/>
          </a:solidFill>
          <a:latin typeface="Lato Black" panose="020F0502020204030203" pitchFamily="34" charset="0"/>
        </a:defRPr>
      </a:lvl7pPr>
      <a:lvl8pPr marL="1371600" algn="l" rtl="0" fontAlgn="base">
        <a:lnSpc>
          <a:spcPct val="90000"/>
        </a:lnSpc>
        <a:spcBef>
          <a:spcPct val="0"/>
        </a:spcBef>
        <a:spcAft>
          <a:spcPct val="0"/>
        </a:spcAft>
        <a:defRPr sz="3200">
          <a:solidFill>
            <a:schemeClr val="tx1"/>
          </a:solidFill>
          <a:latin typeface="Lato Black" panose="020F0502020204030203" pitchFamily="34" charset="0"/>
        </a:defRPr>
      </a:lvl8pPr>
      <a:lvl9pPr marL="1828800" algn="l" rtl="0" fontAlgn="base">
        <a:lnSpc>
          <a:spcPct val="90000"/>
        </a:lnSpc>
        <a:spcBef>
          <a:spcPct val="0"/>
        </a:spcBef>
        <a:spcAft>
          <a:spcPct val="0"/>
        </a:spcAft>
        <a:defRPr sz="3200">
          <a:solidFill>
            <a:schemeClr val="tx1"/>
          </a:solidFill>
          <a:latin typeface="Lato Black" panose="020F0502020204030203" pitchFamily="34" charset="0"/>
        </a:defRPr>
      </a:lvl9pPr>
    </p:titleStyle>
    <p:bodyStyle>
      <a:lvl1pPr marL="228600" indent="-228600" algn="l" rtl="0" fontAlgn="base">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F037F24-AEB5-C542-9AD8-542A853FFC72}"/>
              </a:ext>
            </a:extLst>
          </p:cNvPr>
          <p:cNvSpPr>
            <a:spLocks noGrp="1" noChangeArrowheads="1"/>
          </p:cNvSpPr>
          <p:nvPr>
            <p:ph type="title"/>
          </p:nvPr>
        </p:nvSpPr>
        <p:spPr bwMode="auto">
          <a:xfrm>
            <a:off x="838200" y="273050"/>
            <a:ext cx="105156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F7B9BC1-19DD-4A4E-99A1-4DA20A284A3D}"/>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F568E6C-EB3A-2E4C-93E3-3CB27EA5C125}"/>
              </a:ext>
            </a:extLst>
          </p:cNvPr>
          <p:cNvSpPr>
            <a:spLocks noGrp="1"/>
          </p:cNvSpPr>
          <p:nvPr>
            <p:ph type="dt" sz="half" idx="2"/>
          </p:nvPr>
        </p:nvSpPr>
        <p:spPr>
          <a:xfrm>
            <a:off x="838200" y="6356350"/>
            <a:ext cx="2743200" cy="365125"/>
          </a:xfrm>
          <a:prstGeom prst="rect">
            <a:avLst/>
          </a:prstGeom>
        </p:spPr>
        <p:txBody>
          <a:bodyPr vert="horz" lIns="0" tIns="0" rIns="0" bIns="0" rtlCol="0" anchor="ctr"/>
          <a:lstStyle>
            <a:lvl1pPr algn="l" eaLnBrk="1" fontAlgn="auto" hangingPunct="1">
              <a:spcBef>
                <a:spcPts val="0"/>
              </a:spcBef>
              <a:spcAft>
                <a:spcPts val="0"/>
              </a:spcAft>
              <a:defRPr sz="1200" baseline="0" dirty="0">
                <a:solidFill>
                  <a:schemeClr val="bg1"/>
                </a:solidFill>
                <a:latin typeface="+mn-lt"/>
              </a:defRPr>
            </a:lvl1pPr>
          </a:lstStyle>
          <a:p>
            <a:pPr>
              <a:defRPr/>
            </a:pPr>
            <a:endParaRPr lang="en-US"/>
          </a:p>
        </p:txBody>
      </p:sp>
      <p:pic>
        <p:nvPicPr>
          <p:cNvPr id="1029" name="Picture 9">
            <a:extLst>
              <a:ext uri="{FF2B5EF4-FFF2-40B4-BE49-F238E27FC236}">
                <a16:creationId xmlns:a16="http://schemas.microsoft.com/office/drawing/2014/main" id="{8A1BCE5C-CBAB-3A48-97D0-D13C671D948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967913" y="6338888"/>
            <a:ext cx="19796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716782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Lst>
  <p:hf sldNum="0" hdr="0" ftr="0" dt="0"/>
  <p:txStyles>
    <p:titleStyle>
      <a:lvl1pPr algn="l" rtl="0" fontAlgn="base">
        <a:lnSpc>
          <a:spcPct val="90000"/>
        </a:lnSpc>
        <a:spcBef>
          <a:spcPct val="0"/>
        </a:spcBef>
        <a:spcAft>
          <a:spcPct val="0"/>
        </a:spcAft>
        <a:defRPr sz="3200" kern="1200">
          <a:solidFill>
            <a:schemeClr val="tx1"/>
          </a:solidFill>
          <a:latin typeface="+mj-lt"/>
          <a:ea typeface="+mj-ea"/>
          <a:cs typeface="+mj-cs"/>
        </a:defRPr>
      </a:lvl1pPr>
      <a:lvl2pPr algn="l" rtl="0" fontAlgn="base">
        <a:lnSpc>
          <a:spcPct val="90000"/>
        </a:lnSpc>
        <a:spcBef>
          <a:spcPct val="0"/>
        </a:spcBef>
        <a:spcAft>
          <a:spcPct val="0"/>
        </a:spcAft>
        <a:defRPr sz="3200">
          <a:solidFill>
            <a:schemeClr val="tx1"/>
          </a:solidFill>
          <a:latin typeface="Lato Black" panose="020F0502020204030203" pitchFamily="34" charset="0"/>
        </a:defRPr>
      </a:lvl2pPr>
      <a:lvl3pPr algn="l" rtl="0" fontAlgn="base">
        <a:lnSpc>
          <a:spcPct val="90000"/>
        </a:lnSpc>
        <a:spcBef>
          <a:spcPct val="0"/>
        </a:spcBef>
        <a:spcAft>
          <a:spcPct val="0"/>
        </a:spcAft>
        <a:defRPr sz="3200">
          <a:solidFill>
            <a:schemeClr val="tx1"/>
          </a:solidFill>
          <a:latin typeface="Lato Black" panose="020F0502020204030203" pitchFamily="34" charset="0"/>
        </a:defRPr>
      </a:lvl3pPr>
      <a:lvl4pPr algn="l" rtl="0" fontAlgn="base">
        <a:lnSpc>
          <a:spcPct val="90000"/>
        </a:lnSpc>
        <a:spcBef>
          <a:spcPct val="0"/>
        </a:spcBef>
        <a:spcAft>
          <a:spcPct val="0"/>
        </a:spcAft>
        <a:defRPr sz="3200">
          <a:solidFill>
            <a:schemeClr val="tx1"/>
          </a:solidFill>
          <a:latin typeface="Lato Black" panose="020F0502020204030203" pitchFamily="34" charset="0"/>
        </a:defRPr>
      </a:lvl4pPr>
      <a:lvl5pPr algn="l" rtl="0" fontAlgn="base">
        <a:lnSpc>
          <a:spcPct val="90000"/>
        </a:lnSpc>
        <a:spcBef>
          <a:spcPct val="0"/>
        </a:spcBef>
        <a:spcAft>
          <a:spcPct val="0"/>
        </a:spcAft>
        <a:defRPr sz="3200">
          <a:solidFill>
            <a:schemeClr val="tx1"/>
          </a:solidFill>
          <a:latin typeface="Lato Black" panose="020F0502020204030203" pitchFamily="34" charset="0"/>
        </a:defRPr>
      </a:lvl5pPr>
      <a:lvl6pPr marL="457200" algn="l" rtl="0" fontAlgn="base">
        <a:lnSpc>
          <a:spcPct val="90000"/>
        </a:lnSpc>
        <a:spcBef>
          <a:spcPct val="0"/>
        </a:spcBef>
        <a:spcAft>
          <a:spcPct val="0"/>
        </a:spcAft>
        <a:defRPr sz="3200">
          <a:solidFill>
            <a:schemeClr val="tx1"/>
          </a:solidFill>
          <a:latin typeface="Lato Black" panose="020F0502020204030203" pitchFamily="34" charset="0"/>
        </a:defRPr>
      </a:lvl6pPr>
      <a:lvl7pPr marL="914400" algn="l" rtl="0" fontAlgn="base">
        <a:lnSpc>
          <a:spcPct val="90000"/>
        </a:lnSpc>
        <a:spcBef>
          <a:spcPct val="0"/>
        </a:spcBef>
        <a:spcAft>
          <a:spcPct val="0"/>
        </a:spcAft>
        <a:defRPr sz="3200">
          <a:solidFill>
            <a:schemeClr val="tx1"/>
          </a:solidFill>
          <a:latin typeface="Lato Black" panose="020F0502020204030203" pitchFamily="34" charset="0"/>
        </a:defRPr>
      </a:lvl7pPr>
      <a:lvl8pPr marL="1371600" algn="l" rtl="0" fontAlgn="base">
        <a:lnSpc>
          <a:spcPct val="90000"/>
        </a:lnSpc>
        <a:spcBef>
          <a:spcPct val="0"/>
        </a:spcBef>
        <a:spcAft>
          <a:spcPct val="0"/>
        </a:spcAft>
        <a:defRPr sz="3200">
          <a:solidFill>
            <a:schemeClr val="tx1"/>
          </a:solidFill>
          <a:latin typeface="Lato Black" panose="020F0502020204030203" pitchFamily="34" charset="0"/>
        </a:defRPr>
      </a:lvl8pPr>
      <a:lvl9pPr marL="1828800" algn="l" rtl="0" fontAlgn="base">
        <a:lnSpc>
          <a:spcPct val="90000"/>
        </a:lnSpc>
        <a:spcBef>
          <a:spcPct val="0"/>
        </a:spcBef>
        <a:spcAft>
          <a:spcPct val="0"/>
        </a:spcAft>
        <a:defRPr sz="3200">
          <a:solidFill>
            <a:schemeClr val="tx1"/>
          </a:solidFill>
          <a:latin typeface="Lato Black" panose="020F0502020204030203" pitchFamily="34" charset="0"/>
        </a:defRPr>
      </a:lvl9pPr>
    </p:titleStyle>
    <p:bodyStyle>
      <a:lvl1pPr marL="228600" indent="-228600" algn="l" rtl="0" fontAlgn="base">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oleObject" Target="../embeddings/oleObject1.bin"/><Relationship Id="rId4" Type="http://schemas.openxmlformats.org/officeDocument/2006/relationships/image" Target="../media/image6.wmf"/><Relationship Id="rId5"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slideLayout" Target="../slideLayouts/slideLayout6.xml"/><Relationship Id="rId10" Type="http://schemas.openxmlformats.org/officeDocument/2006/relationships/notesSlide" Target="../notesSlides/notesSlide4.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image" Target="../media/image11.png"/><Relationship Id="rId16" Type="http://schemas.openxmlformats.org/officeDocument/2006/relationships/image" Target="../media/image12.png"/><Relationship Id="rId1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oleObject" Target="../embeddings/oleObject3.bin"/><Relationship Id="rId4" Type="http://schemas.openxmlformats.org/officeDocument/2006/relationships/image" Target="../media/image6.wmf"/><Relationship Id="rId5"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oleObject" Target="../embeddings/oleObject5.bin"/><Relationship Id="rId4" Type="http://schemas.openxmlformats.org/officeDocument/2006/relationships/image" Target="../media/image6.wmf"/><Relationship Id="rId5"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slideLayout" Target="../slideLayouts/slideLayout6.xml"/><Relationship Id="rId5" Type="http://schemas.openxmlformats.org/officeDocument/2006/relationships/notesSlide" Target="../notesSlides/notesSlide12.xml"/><Relationship Id="rId6" Type="http://schemas.openxmlformats.org/officeDocument/2006/relationships/oleObject" Target="../embeddings/oleObject7.bin"/><Relationship Id="rId7" Type="http://schemas.openxmlformats.org/officeDocument/2006/relationships/image" Target="../media/image6.wmf"/><Relationship Id="rId8" Type="http://schemas.openxmlformats.org/officeDocument/2006/relationships/oleObject" Target="../embeddings/oleObject8.bin"/><Relationship Id="rId9" Type="http://schemas.openxmlformats.org/officeDocument/2006/relationships/oleObject" Target="../embeddings/oleObject9.bin"/><Relationship Id="rId10" Type="http://schemas.openxmlformats.org/officeDocument/2006/relationships/image" Target="../media/image14.wmf"/><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slideLayout" Target="../slideLayouts/slideLayout6.xml"/><Relationship Id="rId4" Type="http://schemas.openxmlformats.org/officeDocument/2006/relationships/notesSlide" Target="../notesSlides/notesSlide13.xml"/><Relationship Id="rId5" Type="http://schemas.openxmlformats.org/officeDocument/2006/relationships/image" Target="../media/image18.png"/><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slideLayout" Target="../slideLayouts/slideLayout6.xml"/><Relationship Id="rId7" Type="http://schemas.openxmlformats.org/officeDocument/2006/relationships/notesSlide" Target="../notesSlides/notesSlide14.xml"/><Relationship Id="rId8" Type="http://schemas.openxmlformats.org/officeDocument/2006/relationships/oleObject" Target="../embeddings/oleObject10.bin"/><Relationship Id="rId9" Type="http://schemas.openxmlformats.org/officeDocument/2006/relationships/image" Target="../media/image6.wmf"/><Relationship Id="rId10" Type="http://schemas.openxmlformats.org/officeDocument/2006/relationships/oleObject" Target="../embeddings/oleObject11.bin"/><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tags" Target="../tags/tag21.xml"/><Relationship Id="rId4" Type="http://schemas.openxmlformats.org/officeDocument/2006/relationships/tags" Target="../tags/tag22.xml"/><Relationship Id="rId5" Type="http://schemas.openxmlformats.org/officeDocument/2006/relationships/slideLayout" Target="../slideLayouts/slideLayout6.xml"/><Relationship Id="rId6" Type="http://schemas.openxmlformats.org/officeDocument/2006/relationships/notesSlide" Target="../notesSlides/notesSlide15.xml"/><Relationship Id="rId7" Type="http://schemas.openxmlformats.org/officeDocument/2006/relationships/oleObject" Target="../embeddings/oleObject12.bin"/><Relationship Id="rId8" Type="http://schemas.openxmlformats.org/officeDocument/2006/relationships/image" Target="../media/image6.wmf"/><Relationship Id="rId9" Type="http://schemas.openxmlformats.org/officeDocument/2006/relationships/oleObject" Target="../embeddings/oleObject13.bin"/><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tags" Target="../tags/tag24.xml"/><Relationship Id="rId3" Type="http://schemas.openxmlformats.org/officeDocument/2006/relationships/tags" Target="../tags/tag25.xml"/><Relationship Id="rId4" Type="http://schemas.openxmlformats.org/officeDocument/2006/relationships/slideLayout" Target="../slideLayouts/slideLayout6.xml"/><Relationship Id="rId5" Type="http://schemas.openxmlformats.org/officeDocument/2006/relationships/notesSlide" Target="../notesSlides/notesSlide16.xml"/><Relationship Id="rId6" Type="http://schemas.openxmlformats.org/officeDocument/2006/relationships/oleObject" Target="../embeddings/oleObject14.bin"/><Relationship Id="rId7" Type="http://schemas.openxmlformats.org/officeDocument/2006/relationships/image" Target="../media/image6.wmf"/><Relationship Id="rId8" Type="http://schemas.openxmlformats.org/officeDocument/2006/relationships/oleObject" Target="../embeddings/oleObject15.bin"/><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tags" Target="../tags/tag28.xml"/><Relationship Id="rId4" Type="http://schemas.openxmlformats.org/officeDocument/2006/relationships/tags" Target="../tags/tag29.xml"/><Relationship Id="rId5" Type="http://schemas.openxmlformats.org/officeDocument/2006/relationships/slideLayout" Target="../slideLayouts/slideLayout6.xml"/><Relationship Id="rId6" Type="http://schemas.openxmlformats.org/officeDocument/2006/relationships/notesSlide" Target="../notesSlides/notesSlide17.xml"/><Relationship Id="rId7" Type="http://schemas.openxmlformats.org/officeDocument/2006/relationships/oleObject" Target="../embeddings/oleObject16.bin"/><Relationship Id="rId8" Type="http://schemas.openxmlformats.org/officeDocument/2006/relationships/image" Target="../media/image6.wmf"/><Relationship Id="rId9" Type="http://schemas.openxmlformats.org/officeDocument/2006/relationships/oleObject" Target="../embeddings/oleObject17.bin"/><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slideLayout" Target="../slideLayouts/slideLayout6.xml"/><Relationship Id="rId5" Type="http://schemas.openxmlformats.org/officeDocument/2006/relationships/notesSlide" Target="../notesSlides/notesSlide18.xml"/><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wmf"/></Relationships>
</file>

<file path=ppt/slides/_rels/slide1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slideLayout" Target="../slideLayouts/slideLayout6.xml"/><Relationship Id="rId5" Type="http://schemas.openxmlformats.org/officeDocument/2006/relationships/notesSlide" Target="../notesSlides/notesSlide19.xml"/><Relationship Id="rId6" Type="http://schemas.openxmlformats.org/officeDocument/2006/relationships/oleObject" Target="../embeddings/oleObject18.bin"/><Relationship Id="rId7" Type="http://schemas.openxmlformats.org/officeDocument/2006/relationships/image" Target="../media/image6.wmf"/><Relationship Id="rId8" Type="http://schemas.openxmlformats.org/officeDocument/2006/relationships/oleObject" Target="../embeddings/oleObject19.bin"/><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oleObject" Target="../embeddings/oleObject20.bin"/><Relationship Id="rId4" Type="http://schemas.openxmlformats.org/officeDocument/2006/relationships/image" Target="../media/image6.wmf"/><Relationship Id="rId5" Type="http://schemas.openxmlformats.org/officeDocument/2006/relationships/oleObject" Target="../embeddings/oleObject21.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oleObject" Target="../embeddings/oleObject22.bin"/><Relationship Id="rId4" Type="http://schemas.openxmlformats.org/officeDocument/2006/relationships/image" Target="../media/image6.wmf"/><Relationship Id="rId5" Type="http://schemas.openxmlformats.org/officeDocument/2006/relationships/oleObject" Target="../embeddings/oleObject2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oleObject" Target="../embeddings/oleObject24.bin"/><Relationship Id="rId4" Type="http://schemas.openxmlformats.org/officeDocument/2006/relationships/image" Target="../media/image6.wmf"/><Relationship Id="rId5" Type="http://schemas.openxmlformats.org/officeDocument/2006/relationships/oleObject" Target="../embeddings/oleObject25.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oleObject" Target="../embeddings/oleObject26.bin"/><Relationship Id="rId4" Type="http://schemas.openxmlformats.org/officeDocument/2006/relationships/image" Target="../media/image6.wmf"/><Relationship Id="rId5" Type="http://schemas.openxmlformats.org/officeDocument/2006/relationships/oleObject" Target="../embeddings/oleObject27.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oleObject" Target="../embeddings/oleObject28.bin"/><Relationship Id="rId4" Type="http://schemas.openxmlformats.org/officeDocument/2006/relationships/image" Target="../media/image6.wmf"/><Relationship Id="rId5" Type="http://schemas.openxmlformats.org/officeDocument/2006/relationships/oleObject" Target="../embeddings/oleObject29.bin"/></Relationships>
</file>

<file path=ppt/slides/_rels/slide44.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6.xml"/><Relationship Id="rId3" Type="http://schemas.openxmlformats.org/officeDocument/2006/relationships/notesSlide" Target="../notesSlides/notesSlide44.xml"/><Relationship Id="rId4" Type="http://schemas.openxmlformats.org/officeDocument/2006/relationships/oleObject" Target="../embeddings/oleObject30.bin"/><Relationship Id="rId5" Type="http://schemas.openxmlformats.org/officeDocument/2006/relationships/image" Target="../media/image43.wmf"/><Relationship Id="rId6" Type="http://schemas.openxmlformats.org/officeDocument/2006/relationships/oleObject" Target="../embeddings/oleObject31.bin"/><Relationship Id="rId7" Type="http://schemas.openxmlformats.org/officeDocument/2006/relationships/image" Target="../media/image44.wmf"/><Relationship Id="rId8"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oleObject" Target="../embeddings/oleObject32.bin"/><Relationship Id="rId4" Type="http://schemas.openxmlformats.org/officeDocument/2006/relationships/image" Target="../media/image46.wmf"/><Relationship Id="rId5" Type="http://schemas.openxmlformats.org/officeDocument/2006/relationships/oleObject" Target="../embeddings/oleObject33.bin"/><Relationship Id="rId6" Type="http://schemas.openxmlformats.org/officeDocument/2006/relationships/image" Target="../media/image47.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oleObject" Target="../embeddings/oleObject34.bin"/><Relationship Id="rId4" Type="http://schemas.openxmlformats.org/officeDocument/2006/relationships/image" Target="../media/image48.wmf"/><Relationship Id="rId5" Type="http://schemas.openxmlformats.org/officeDocument/2006/relationships/oleObject" Target="../embeddings/oleObject35.bin"/><Relationship Id="rId6" Type="http://schemas.openxmlformats.org/officeDocument/2006/relationships/image" Target="../media/image49.wmf"/><Relationship Id="rId7" Type="http://schemas.openxmlformats.org/officeDocument/2006/relationships/oleObject" Target="../embeddings/oleObject36.bin"/><Relationship Id="rId8" Type="http://schemas.openxmlformats.org/officeDocument/2006/relationships/image" Target="../media/image50.wmf"/><Relationship Id="rId9" Type="http://schemas.openxmlformats.org/officeDocument/2006/relationships/oleObject" Target="../embeddings/oleObject37.bin"/><Relationship Id="rId10" Type="http://schemas.openxmlformats.org/officeDocument/2006/relationships/image" Target="../media/image51.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oleObject" Target="../embeddings/oleObject38.bin"/><Relationship Id="rId4" Type="http://schemas.openxmlformats.org/officeDocument/2006/relationships/image" Target="../media/image6.wmf"/><Relationship Id="rId5" Type="http://schemas.openxmlformats.org/officeDocument/2006/relationships/oleObject" Target="../embeddings/oleObject39.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oleObject" Target="../embeddings/oleObject40.bin"/><Relationship Id="rId4" Type="http://schemas.openxmlformats.org/officeDocument/2006/relationships/image" Target="../media/image6.wmf"/><Relationship Id="rId5" Type="http://schemas.openxmlformats.org/officeDocument/2006/relationships/oleObject" Target="../embeddings/oleObject41.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oleObject" Target="../embeddings/oleObject42.bin"/><Relationship Id="rId4" Type="http://schemas.openxmlformats.org/officeDocument/2006/relationships/image" Target="../media/image6.wmf"/><Relationship Id="rId5" Type="http://schemas.openxmlformats.org/officeDocument/2006/relationships/oleObject" Target="../embeddings/oleObject4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oleObject" Target="../embeddings/oleObject44.bin"/><Relationship Id="rId4" Type="http://schemas.openxmlformats.org/officeDocument/2006/relationships/image" Target="../media/image6.wmf"/><Relationship Id="rId5" Type="http://schemas.openxmlformats.org/officeDocument/2006/relationships/oleObject" Target="../embeddings/oleObject45.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oleObject" Target="../embeddings/oleObject46.bin"/><Relationship Id="rId4" Type="http://schemas.openxmlformats.org/officeDocument/2006/relationships/image" Target="../media/image6.wmf"/><Relationship Id="rId5" Type="http://schemas.openxmlformats.org/officeDocument/2006/relationships/oleObject" Target="../embeddings/oleObject47.bin"/><Relationship Id="rId6" Type="http://schemas.openxmlformats.org/officeDocument/2006/relationships/oleObject" Target="../embeddings/oleObject48.bin"/><Relationship Id="rId7" Type="http://schemas.openxmlformats.org/officeDocument/2006/relationships/image" Target="../media/image52.wmf"/><Relationship Id="rId8" Type="http://schemas.openxmlformats.org/officeDocument/2006/relationships/oleObject" Target="../embeddings/oleObject49.bin"/><Relationship Id="rId9" Type="http://schemas.openxmlformats.org/officeDocument/2006/relationships/image" Target="../media/image53.wmf"/><Relationship Id="rId10" Type="http://schemas.openxmlformats.org/officeDocument/2006/relationships/oleObject" Target="../embeddings/oleObject50.bin"/><Relationship Id="rId11" Type="http://schemas.openxmlformats.org/officeDocument/2006/relationships/image" Target="../media/image54.wmf"/><Relationship Id="rId12" Type="http://schemas.openxmlformats.org/officeDocument/2006/relationships/oleObject" Target="../embeddings/oleObject51.bin"/><Relationship Id="rId13" Type="http://schemas.openxmlformats.org/officeDocument/2006/relationships/image" Target="../media/image55.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title"/>
          </p:nvPr>
        </p:nvSpPr>
        <p:spPr>
          <a:xfrm>
            <a:off x="838200" y="609607"/>
            <a:ext cx="7871234" cy="3367041"/>
          </a:xfrm>
        </p:spPr>
        <p:txBody>
          <a:bodyPr>
            <a:normAutofit/>
          </a:bodyPr>
          <a:lstStyle/>
          <a:p>
            <a:r>
              <a:rPr lang="en-US" sz="3200" dirty="0"/>
              <a:t>MMA 860</a:t>
            </a:r>
            <a:br>
              <a:rPr lang="en-US" sz="3200" dirty="0"/>
            </a:br>
            <a:r>
              <a:rPr lang="en-US" sz="3200" dirty="0"/>
              <a:t>The Acquisition and Management of Data</a:t>
            </a:r>
            <a:endParaRPr lang="en-CA" sz="3200" dirty="0"/>
          </a:p>
        </p:txBody>
      </p:sp>
      <p:sp>
        <p:nvSpPr>
          <p:cNvPr id="5" name="Subtitle 4"/>
          <p:cNvSpPr>
            <a:spLocks noGrp="1"/>
          </p:cNvSpPr>
          <p:nvPr>
            <p:ph type="subTitle" idx="1"/>
          </p:nvPr>
        </p:nvSpPr>
        <p:spPr>
          <a:xfrm>
            <a:off x="838200" y="4314571"/>
            <a:ext cx="9144000" cy="1655762"/>
          </a:xfrm>
        </p:spPr>
        <p:txBody>
          <a:bodyPr rtlCol="0">
            <a:noAutofit/>
          </a:bodyPr>
          <a:lstStyle/>
          <a:p>
            <a:r>
              <a:rPr lang="en-CA" dirty="0"/>
              <a:t>Master of Management Analytics </a:t>
            </a:r>
            <a:br>
              <a:rPr lang="en-CA" dirty="0"/>
            </a:br>
            <a:r>
              <a:rPr lang="en-CA" dirty="0"/>
              <a:t>Session Five</a:t>
            </a:r>
            <a:br>
              <a:rPr lang="en-CA" dirty="0"/>
            </a:br>
            <a:r>
              <a:rPr lang="en-CA" dirty="0"/>
              <a:t>Alex Scott</a:t>
            </a:r>
          </a:p>
        </p:txBody>
      </p:sp>
      <p:sp>
        <p:nvSpPr>
          <p:cNvPr id="6" name="TextBox 5"/>
          <p:cNvSpPr txBox="1"/>
          <p:nvPr/>
        </p:nvSpPr>
        <p:spPr>
          <a:xfrm>
            <a:off x="274320" y="6400800"/>
            <a:ext cx="11887200" cy="274320"/>
          </a:xfrm>
          <a:prstGeom prst="rect">
            <a:avLst/>
          </a:prstGeom>
          <a:noFill/>
        </p:spPr>
        <p:txBody>
          <a:bodyPr wrap="square" lIns="0" rIns="0" tIns="0" bIns="0">
            <a:spAutoFit/>
          </a:bodyPr>
          <a:lstStyle/>
          <a:p>
            <a:pPr algn="l"/>
            <a:r>
              <a:rPr sz="1000" b="0">
                <a:solidFill>
                  <a:srgbClr val="595959"/>
                </a:solidFill>
                <a:latin typeface="Calibri"/>
              </a:rPr>
              <a:t>Refreshed for 2027W – see syllabus and cheat sheet repository for updated materials.</a:t>
            </a:r>
          </a:p>
        </p:txBody>
      </p:sp>
    </p:spTree>
    <p:extLst>
      <p:ext uri="{BB962C8B-B14F-4D97-AF65-F5344CB8AC3E}">
        <p14:creationId xmlns:p14="http://schemas.microsoft.com/office/powerpoint/2010/main" val="928840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Today's Objectives</a:t>
            </a:r>
          </a:p>
        </p:txBody>
      </p:sp>
      <p:sp>
        <p:nvSpPr>
          <p:cNvPr id="8195" name="Rectangle 3"/>
          <p:cNvSpPr>
            <a:spLocks noGrp="1" noChangeArrowheads="1"/>
          </p:cNvSpPr>
          <p:nvPr>
            <p:ph idx="1"/>
          </p:nvPr>
        </p:nvSpPr>
        <p:spPr/>
        <p:txBody>
          <a:bodyPr>
            <a:normAutofit fontScale="92500" lnSpcReduction="10000"/>
          </a:bodyPr>
          <a:lstStyle/>
          <a:p>
            <a:pPr marL="0" indent="0">
              <a:buNone/>
            </a:pPr>
            <a:r>
              <a:rPr lang="en-US" dirty="0"/>
              <a:t>Topic One: Hypothesis Testing </a:t>
            </a:r>
          </a:p>
          <a:p>
            <a:r>
              <a:rPr lang="en-US" dirty="0"/>
              <a:t>Regression hypothesis testing</a:t>
            </a:r>
          </a:p>
          <a:p>
            <a:r>
              <a:rPr lang="en-US" dirty="0"/>
              <a:t>Approaches to testing</a:t>
            </a:r>
          </a:p>
          <a:p>
            <a:r>
              <a:rPr lang="en-US" dirty="0"/>
              <a:t>Tests of multiple restrictions</a:t>
            </a:r>
          </a:p>
          <a:p>
            <a:r>
              <a:rPr lang="en-US" dirty="0"/>
              <a:t>The Chow Test</a:t>
            </a:r>
          </a:p>
          <a:p>
            <a:r>
              <a:rPr lang="en-US" dirty="0"/>
              <a:t>The Breusch Pagan Test</a:t>
            </a:r>
          </a:p>
          <a:p>
            <a:endParaRPr lang="en-US" dirty="0"/>
          </a:p>
          <a:p>
            <a:pPr marL="0" indent="0">
              <a:buNone/>
            </a:pPr>
            <a:r>
              <a:rPr lang="en-US" dirty="0"/>
              <a:t>Topic Two: The final test</a:t>
            </a:r>
          </a:p>
          <a:p>
            <a:endParaRPr lang="en-US" dirty="0"/>
          </a:p>
        </p:txBody>
      </p:sp>
    </p:spTree>
    <p:extLst>
      <p:ext uri="{BB962C8B-B14F-4D97-AF65-F5344CB8AC3E}">
        <p14:creationId xmlns:p14="http://schemas.microsoft.com/office/powerpoint/2010/main" val="319087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a:t>
            </a:r>
          </a:p>
        </p:txBody>
      </p:sp>
      <p:sp>
        <p:nvSpPr>
          <p:cNvPr id="5" name="Content Placeholder 4"/>
          <p:cNvSpPr>
            <a:spLocks noGrp="1"/>
          </p:cNvSpPr>
          <p:nvPr>
            <p:ph idx="1"/>
          </p:nvPr>
        </p:nvSpPr>
        <p:spPr/>
        <p:txBody>
          <a:bodyPr>
            <a:normAutofit/>
          </a:bodyPr>
          <a:lstStyle/>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2428367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Hypothesis Testing in Three Parts</a:t>
            </a:r>
          </a:p>
        </p:txBody>
      </p:sp>
      <p:sp>
        <p:nvSpPr>
          <p:cNvPr id="9" name="Freeform 8"/>
          <p:cNvSpPr/>
          <p:nvPr/>
        </p:nvSpPr>
        <p:spPr>
          <a:xfrm>
            <a:off x="2344053" y="2335465"/>
            <a:ext cx="2206171" cy="1162426"/>
          </a:xfrm>
          <a:custGeom>
            <a:avLst/>
            <a:gdLst>
              <a:gd name="connsiteX0" fmla="*/ 0 w 2206171"/>
              <a:gd name="connsiteY0" fmla="*/ 0 h 1494971"/>
              <a:gd name="connsiteX1" fmla="*/ 0 w 2206171"/>
              <a:gd name="connsiteY1" fmla="*/ 1494971 h 1494971"/>
              <a:gd name="connsiteX2" fmla="*/ 2206171 w 2206171"/>
              <a:gd name="connsiteY2" fmla="*/ 1480457 h 1494971"/>
            </a:gdLst>
            <a:ahLst/>
            <a:cxnLst>
              <a:cxn ang="0">
                <a:pos x="connsiteX0" y="connsiteY0"/>
              </a:cxn>
              <a:cxn ang="0">
                <a:pos x="connsiteX1" y="connsiteY1"/>
              </a:cxn>
              <a:cxn ang="0">
                <a:pos x="connsiteX2" y="connsiteY2"/>
              </a:cxn>
            </a:cxnLst>
            <a:rect l="l" t="t" r="r" b="b"/>
            <a:pathLst>
              <a:path w="2206171" h="1494971">
                <a:moveTo>
                  <a:pt x="0" y="0"/>
                </a:moveTo>
                <a:lnTo>
                  <a:pt x="0" y="1494971"/>
                </a:lnTo>
                <a:lnTo>
                  <a:pt x="2206171" y="1480457"/>
                </a:ln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Freeform 10"/>
          <p:cNvSpPr/>
          <p:nvPr/>
        </p:nvSpPr>
        <p:spPr>
          <a:xfrm>
            <a:off x="2358567" y="2364493"/>
            <a:ext cx="2075542" cy="1133398"/>
          </a:xfrm>
          <a:custGeom>
            <a:avLst/>
            <a:gdLst>
              <a:gd name="connsiteX0" fmla="*/ 0 w 2075542"/>
              <a:gd name="connsiteY0" fmla="*/ 959227 h 1133398"/>
              <a:gd name="connsiteX1" fmla="*/ 232228 w 2075542"/>
              <a:gd name="connsiteY1" fmla="*/ 291570 h 1133398"/>
              <a:gd name="connsiteX2" fmla="*/ 798285 w 2075542"/>
              <a:gd name="connsiteY2" fmla="*/ 538313 h 1133398"/>
              <a:gd name="connsiteX3" fmla="*/ 1349828 w 2075542"/>
              <a:gd name="connsiteY3" fmla="*/ 480255 h 1133398"/>
              <a:gd name="connsiteX4" fmla="*/ 1741714 w 2075542"/>
              <a:gd name="connsiteY4" fmla="*/ 15798 h 1133398"/>
              <a:gd name="connsiteX5" fmla="*/ 2075542 w 2075542"/>
              <a:gd name="connsiteY5" fmla="*/ 1133398 h 1133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5542" h="1133398">
                <a:moveTo>
                  <a:pt x="0" y="959227"/>
                </a:moveTo>
                <a:cubicBezTo>
                  <a:pt x="49590" y="660474"/>
                  <a:pt x="99181" y="361722"/>
                  <a:pt x="232228" y="291570"/>
                </a:cubicBezTo>
                <a:cubicBezTo>
                  <a:pt x="365275" y="221418"/>
                  <a:pt x="612018" y="506865"/>
                  <a:pt x="798285" y="538313"/>
                </a:cubicBezTo>
                <a:cubicBezTo>
                  <a:pt x="984552" y="569760"/>
                  <a:pt x="1192590" y="567341"/>
                  <a:pt x="1349828" y="480255"/>
                </a:cubicBezTo>
                <a:cubicBezTo>
                  <a:pt x="1507066" y="393169"/>
                  <a:pt x="1620762" y="-93059"/>
                  <a:pt x="1741714" y="15798"/>
                </a:cubicBezTo>
                <a:cubicBezTo>
                  <a:pt x="1862666" y="124655"/>
                  <a:pt x="1969104" y="629026"/>
                  <a:pt x="2075542" y="1133398"/>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Connector 12"/>
          <p:cNvCxnSpPr/>
          <p:nvPr/>
        </p:nvCxnSpPr>
        <p:spPr>
          <a:xfrm>
            <a:off x="3476162" y="2335465"/>
            <a:ext cx="14515" cy="1162426"/>
          </a:xfrm>
          <a:prstGeom prst="line">
            <a:avLst/>
          </a:prstGeom>
          <a:ln w="19050">
            <a:solidFill>
              <a:schemeClr val="tx1"/>
            </a:solidFill>
            <a:prstDash val="sysDash"/>
            <a:tailEnd type="none" w="lg" len="lg"/>
          </a:ln>
          <a:effectLst/>
        </p:spPr>
        <p:style>
          <a:lnRef idx="2">
            <a:schemeClr val="accent1"/>
          </a:lnRef>
          <a:fillRef idx="0">
            <a:schemeClr val="accent1"/>
          </a:fillRef>
          <a:effectRef idx="1">
            <a:schemeClr val="accent1"/>
          </a:effectRef>
          <a:fontRef idx="minor">
            <a:schemeClr val="tx1"/>
          </a:fontRef>
        </p:style>
      </p:cxnSp>
      <p:sp>
        <p:nvSpPr>
          <p:cNvPr id="17" name="Right Arrow 16"/>
          <p:cNvSpPr/>
          <p:nvPr/>
        </p:nvSpPr>
        <p:spPr>
          <a:xfrm>
            <a:off x="4687586" y="2247174"/>
            <a:ext cx="1142943" cy="49284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Sample</a:t>
            </a:r>
            <a:endParaRPr lang="en-US" dirty="0">
              <a:solidFill>
                <a:schemeClr val="tx1"/>
              </a:solidFill>
            </a:endParaRPr>
          </a:p>
        </p:txBody>
      </p:sp>
      <p:sp>
        <p:nvSpPr>
          <p:cNvPr id="21" name="Freeform 20"/>
          <p:cNvSpPr/>
          <p:nvPr/>
        </p:nvSpPr>
        <p:spPr>
          <a:xfrm>
            <a:off x="2444665" y="4680453"/>
            <a:ext cx="2213424" cy="1101289"/>
          </a:xfrm>
          <a:custGeom>
            <a:avLst/>
            <a:gdLst>
              <a:gd name="connsiteX0" fmla="*/ 0 w 2206171"/>
              <a:gd name="connsiteY0" fmla="*/ 0 h 1494971"/>
              <a:gd name="connsiteX1" fmla="*/ 0 w 2206171"/>
              <a:gd name="connsiteY1" fmla="*/ 1494971 h 1494971"/>
              <a:gd name="connsiteX2" fmla="*/ 2206171 w 2206171"/>
              <a:gd name="connsiteY2" fmla="*/ 1480457 h 1494971"/>
            </a:gdLst>
            <a:ahLst/>
            <a:cxnLst>
              <a:cxn ang="0">
                <a:pos x="connsiteX0" y="connsiteY0"/>
              </a:cxn>
              <a:cxn ang="0">
                <a:pos x="connsiteX1" y="connsiteY1"/>
              </a:cxn>
              <a:cxn ang="0">
                <a:pos x="connsiteX2" y="connsiteY2"/>
              </a:cxn>
            </a:cxnLst>
            <a:rect l="l" t="t" r="r" b="b"/>
            <a:pathLst>
              <a:path w="2206171" h="1494971">
                <a:moveTo>
                  <a:pt x="0" y="0"/>
                </a:moveTo>
                <a:lnTo>
                  <a:pt x="0" y="1494971"/>
                </a:lnTo>
                <a:lnTo>
                  <a:pt x="2206171" y="1480457"/>
                </a:ln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8" name="Group 27"/>
          <p:cNvGrpSpPr/>
          <p:nvPr/>
        </p:nvGrpSpPr>
        <p:grpSpPr>
          <a:xfrm>
            <a:off x="2419265" y="4716757"/>
            <a:ext cx="2213423" cy="1064985"/>
            <a:chOff x="4891314" y="4257675"/>
            <a:chExt cx="1952396" cy="1011010"/>
          </a:xfrm>
        </p:grpSpPr>
        <p:sp>
          <p:nvSpPr>
            <p:cNvPr id="25" name="Freeform 24"/>
            <p:cNvSpPr/>
            <p:nvPr/>
          </p:nvSpPr>
          <p:spPr>
            <a:xfrm>
              <a:off x="4891314" y="4257675"/>
              <a:ext cx="979265" cy="1011010"/>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flipH="1">
              <a:off x="5864445" y="4257675"/>
              <a:ext cx="979265" cy="990602"/>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9" name="Straight Connector 28"/>
          <p:cNvCxnSpPr/>
          <p:nvPr/>
        </p:nvCxnSpPr>
        <p:spPr>
          <a:xfrm>
            <a:off x="3547596" y="4716756"/>
            <a:ext cx="14515" cy="1162426"/>
          </a:xfrm>
          <a:prstGeom prst="line">
            <a:avLst/>
          </a:prstGeom>
          <a:ln w="19050">
            <a:solidFill>
              <a:schemeClr val="tx1"/>
            </a:solidFill>
            <a:prstDash val="sysDash"/>
            <a:tailEnd type="none" w="lg" len="lg"/>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7311327" y="5099909"/>
            <a:ext cx="1639513" cy="866950"/>
          </a:xfrm>
          <a:custGeom>
            <a:avLst/>
            <a:gdLst>
              <a:gd name="connsiteX0" fmla="*/ 0 w 2206171"/>
              <a:gd name="connsiteY0" fmla="*/ 0 h 1494971"/>
              <a:gd name="connsiteX1" fmla="*/ 0 w 2206171"/>
              <a:gd name="connsiteY1" fmla="*/ 1494971 h 1494971"/>
              <a:gd name="connsiteX2" fmla="*/ 2206171 w 2206171"/>
              <a:gd name="connsiteY2" fmla="*/ 1480457 h 1494971"/>
            </a:gdLst>
            <a:ahLst/>
            <a:cxnLst>
              <a:cxn ang="0">
                <a:pos x="connsiteX0" y="connsiteY0"/>
              </a:cxn>
              <a:cxn ang="0">
                <a:pos x="connsiteX1" y="connsiteY1"/>
              </a:cxn>
              <a:cxn ang="0">
                <a:pos x="connsiteX2" y="connsiteY2"/>
              </a:cxn>
            </a:cxnLst>
            <a:rect l="l" t="t" r="r" b="b"/>
            <a:pathLst>
              <a:path w="2206171" h="1494971">
                <a:moveTo>
                  <a:pt x="0" y="0"/>
                </a:moveTo>
                <a:lnTo>
                  <a:pt x="0" y="1494971"/>
                </a:lnTo>
                <a:lnTo>
                  <a:pt x="2206171" y="1480457"/>
                </a:ln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2" name="Group 31"/>
          <p:cNvGrpSpPr/>
          <p:nvPr/>
        </p:nvGrpSpPr>
        <p:grpSpPr>
          <a:xfrm>
            <a:off x="7292511" y="5230391"/>
            <a:ext cx="1639512" cy="736469"/>
            <a:chOff x="4891314" y="4257675"/>
            <a:chExt cx="1952396" cy="1011010"/>
          </a:xfrm>
        </p:grpSpPr>
        <p:sp>
          <p:nvSpPr>
            <p:cNvPr id="33" name="Freeform 32"/>
            <p:cNvSpPr/>
            <p:nvPr/>
          </p:nvSpPr>
          <p:spPr>
            <a:xfrm>
              <a:off x="4891314" y="4257675"/>
              <a:ext cx="979265" cy="1011010"/>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Freeform 33"/>
            <p:cNvSpPr/>
            <p:nvPr/>
          </p:nvSpPr>
          <p:spPr>
            <a:xfrm flipH="1">
              <a:off x="5864445" y="4257675"/>
              <a:ext cx="979265" cy="990602"/>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5" name="Straight Connector 34"/>
          <p:cNvCxnSpPr/>
          <p:nvPr/>
        </p:nvCxnSpPr>
        <p:spPr>
          <a:xfrm>
            <a:off x="8227481" y="5308543"/>
            <a:ext cx="0" cy="710427"/>
          </a:xfrm>
          <a:prstGeom prst="line">
            <a:avLst/>
          </a:prstGeom>
          <a:ln w="19050">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1890074" y="3891551"/>
            <a:ext cx="8242300" cy="0"/>
          </a:xfrm>
          <a:prstGeom prst="line">
            <a:avLst/>
          </a:prstGeom>
          <a:ln w="19050">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7289936" y="3960527"/>
            <a:ext cx="1639513" cy="866950"/>
          </a:xfrm>
          <a:custGeom>
            <a:avLst/>
            <a:gdLst>
              <a:gd name="connsiteX0" fmla="*/ 0 w 2206171"/>
              <a:gd name="connsiteY0" fmla="*/ 0 h 1494971"/>
              <a:gd name="connsiteX1" fmla="*/ 0 w 2206171"/>
              <a:gd name="connsiteY1" fmla="*/ 1494971 h 1494971"/>
              <a:gd name="connsiteX2" fmla="*/ 2206171 w 2206171"/>
              <a:gd name="connsiteY2" fmla="*/ 1480457 h 1494971"/>
            </a:gdLst>
            <a:ahLst/>
            <a:cxnLst>
              <a:cxn ang="0">
                <a:pos x="connsiteX0" y="connsiteY0"/>
              </a:cxn>
              <a:cxn ang="0">
                <a:pos x="connsiteX1" y="connsiteY1"/>
              </a:cxn>
              <a:cxn ang="0">
                <a:pos x="connsiteX2" y="connsiteY2"/>
              </a:cxn>
            </a:cxnLst>
            <a:rect l="l" t="t" r="r" b="b"/>
            <a:pathLst>
              <a:path w="2206171" h="1494971">
                <a:moveTo>
                  <a:pt x="0" y="0"/>
                </a:moveTo>
                <a:lnTo>
                  <a:pt x="0" y="1494971"/>
                </a:lnTo>
                <a:lnTo>
                  <a:pt x="2206171" y="1480457"/>
                </a:ln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3" name="Group 42"/>
          <p:cNvGrpSpPr/>
          <p:nvPr/>
        </p:nvGrpSpPr>
        <p:grpSpPr>
          <a:xfrm>
            <a:off x="7271120" y="4091009"/>
            <a:ext cx="1639512" cy="736469"/>
            <a:chOff x="4891314" y="4257675"/>
            <a:chExt cx="1952396" cy="1011010"/>
          </a:xfrm>
        </p:grpSpPr>
        <p:sp>
          <p:nvSpPr>
            <p:cNvPr id="45" name="Freeform 44"/>
            <p:cNvSpPr/>
            <p:nvPr/>
          </p:nvSpPr>
          <p:spPr>
            <a:xfrm>
              <a:off x="4891314" y="4257675"/>
              <a:ext cx="979265" cy="1011010"/>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Freeform 45"/>
            <p:cNvSpPr/>
            <p:nvPr/>
          </p:nvSpPr>
          <p:spPr>
            <a:xfrm flipH="1">
              <a:off x="5864445" y="4257675"/>
              <a:ext cx="979265" cy="990602"/>
            </a:xfrm>
            <a:custGeom>
              <a:avLst/>
              <a:gdLst>
                <a:gd name="connsiteX0" fmla="*/ 0 w 1596572"/>
                <a:gd name="connsiteY0" fmla="*/ 1059543 h 1059543"/>
                <a:gd name="connsiteX1" fmla="*/ 435429 w 1596572"/>
                <a:gd name="connsiteY1" fmla="*/ 1016000 h 1059543"/>
                <a:gd name="connsiteX2" fmla="*/ 856343 w 1596572"/>
                <a:gd name="connsiteY2" fmla="*/ 856343 h 1059543"/>
                <a:gd name="connsiteX3" fmla="*/ 1059543 w 1596572"/>
                <a:gd name="connsiteY3" fmla="*/ 566057 h 1059543"/>
                <a:gd name="connsiteX4" fmla="*/ 1204686 w 1596572"/>
                <a:gd name="connsiteY4" fmla="*/ 290286 h 1059543"/>
                <a:gd name="connsiteX5" fmla="*/ 1422400 w 1596572"/>
                <a:gd name="connsiteY5" fmla="*/ 58057 h 1059543"/>
                <a:gd name="connsiteX6" fmla="*/ 1596572 w 1596572"/>
                <a:gd name="connsiteY6" fmla="*/ 0 h 105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6572" h="1059543">
                  <a:moveTo>
                    <a:pt x="0" y="1059543"/>
                  </a:moveTo>
                  <a:cubicBezTo>
                    <a:pt x="146352" y="1054705"/>
                    <a:pt x="292705" y="1049867"/>
                    <a:pt x="435429" y="1016000"/>
                  </a:cubicBezTo>
                  <a:cubicBezTo>
                    <a:pt x="578153" y="982133"/>
                    <a:pt x="752324" y="931333"/>
                    <a:pt x="856343" y="856343"/>
                  </a:cubicBezTo>
                  <a:cubicBezTo>
                    <a:pt x="960362" y="781353"/>
                    <a:pt x="1001486" y="660400"/>
                    <a:pt x="1059543" y="566057"/>
                  </a:cubicBezTo>
                  <a:cubicBezTo>
                    <a:pt x="1117600" y="471714"/>
                    <a:pt x="1144210" y="374953"/>
                    <a:pt x="1204686" y="290286"/>
                  </a:cubicBezTo>
                  <a:cubicBezTo>
                    <a:pt x="1265162" y="205619"/>
                    <a:pt x="1357086" y="106438"/>
                    <a:pt x="1422400" y="58057"/>
                  </a:cubicBezTo>
                  <a:cubicBezTo>
                    <a:pt x="1487714" y="9676"/>
                    <a:pt x="1542143" y="4838"/>
                    <a:pt x="1596572" y="0"/>
                  </a:cubicBezTo>
                </a:path>
              </a:pathLst>
            </a:cu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4" name="Straight Connector 43"/>
          <p:cNvCxnSpPr/>
          <p:nvPr/>
        </p:nvCxnSpPr>
        <p:spPr>
          <a:xfrm>
            <a:off x="8880608" y="4692978"/>
            <a:ext cx="0" cy="301904"/>
          </a:xfrm>
          <a:prstGeom prst="line">
            <a:avLst/>
          </a:prstGeom>
          <a:ln w="19050">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2242320" y="1901185"/>
            <a:ext cx="2409634" cy="400110"/>
          </a:xfrm>
          <a:prstGeom prst="rect">
            <a:avLst/>
          </a:prstGeom>
        </p:spPr>
        <p:txBody>
          <a:bodyPr wrap="none">
            <a:spAutoFit/>
          </a:bodyPr>
          <a:lstStyle/>
          <a:p>
            <a:r>
              <a:rPr lang="en-US" sz="2000" b="0" dirty="0">
                <a:solidFill>
                  <a:schemeClr val="tx1"/>
                </a:solidFill>
              </a:rPr>
              <a:t>Sample Distribution</a:t>
            </a:r>
            <a:endParaRPr lang="en-US" b="0" dirty="0">
              <a:solidFill>
                <a:schemeClr val="tx1"/>
              </a:solidFill>
            </a:endParaRPr>
          </a:p>
        </p:txBody>
      </p:sp>
      <p:sp>
        <p:nvSpPr>
          <p:cNvPr id="56" name="Rectangle 55"/>
          <p:cNvSpPr/>
          <p:nvPr/>
        </p:nvSpPr>
        <p:spPr>
          <a:xfrm>
            <a:off x="2185676" y="3931474"/>
            <a:ext cx="2610009" cy="707886"/>
          </a:xfrm>
          <a:prstGeom prst="rect">
            <a:avLst/>
          </a:prstGeom>
        </p:spPr>
        <p:txBody>
          <a:bodyPr wrap="none">
            <a:spAutoFit/>
          </a:bodyPr>
          <a:lstStyle/>
          <a:p>
            <a:r>
              <a:rPr lang="en-US" sz="2000" b="0" dirty="0">
                <a:solidFill>
                  <a:schemeClr val="tx1"/>
                </a:solidFill>
              </a:rPr>
              <a:t>Sampling Distribution</a:t>
            </a:r>
          </a:p>
          <a:p>
            <a:r>
              <a:rPr lang="en-US" sz="2000" b="0" dirty="0">
                <a:solidFill>
                  <a:schemeClr val="tx1"/>
                </a:solidFill>
              </a:rPr>
              <a:t> of Sample Mean</a:t>
            </a:r>
            <a:endParaRPr lang="en-US" b="0" dirty="0">
              <a:solidFill>
                <a:schemeClr val="tx1"/>
              </a:solidFill>
            </a:endParaRPr>
          </a:p>
        </p:txBody>
      </p:sp>
      <p:sp>
        <p:nvSpPr>
          <p:cNvPr id="59" name="Right Arrow 58"/>
          <p:cNvSpPr/>
          <p:nvPr/>
        </p:nvSpPr>
        <p:spPr>
          <a:xfrm>
            <a:off x="5003853" y="4420070"/>
            <a:ext cx="1839399" cy="111331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Can Assess Probabilities</a:t>
            </a:r>
            <a:endParaRPr lang="en-US" dirty="0">
              <a:solidFill>
                <a:schemeClr val="tx1"/>
              </a:solidFill>
            </a:endParaRPr>
          </a:p>
        </p:txBody>
      </p:sp>
      <p:sp>
        <p:nvSpPr>
          <p:cNvPr id="62" name="Right Arrow 61"/>
          <p:cNvSpPr/>
          <p:nvPr/>
        </p:nvSpPr>
        <p:spPr>
          <a:xfrm>
            <a:off x="7516830" y="2247174"/>
            <a:ext cx="1142943" cy="49284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Mean</a:t>
            </a:r>
            <a:endParaRPr lang="en-US" dirty="0">
              <a:solidFill>
                <a:schemeClr val="tx1"/>
              </a:solidFill>
            </a:endParaRPr>
          </a:p>
        </p:txBody>
      </p:sp>
      <p:cxnSp>
        <p:nvCxnSpPr>
          <p:cNvPr id="63" name="Straight Connector 62"/>
          <p:cNvCxnSpPr/>
          <p:nvPr/>
        </p:nvCxnSpPr>
        <p:spPr>
          <a:xfrm>
            <a:off x="1890074" y="1901185"/>
            <a:ext cx="8242300" cy="0"/>
          </a:xfrm>
          <a:prstGeom prst="line">
            <a:avLst/>
          </a:prstGeom>
          <a:ln w="19050">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833487" y="3202134"/>
            <a:ext cx="1063754" cy="400110"/>
          </a:xfrm>
          <a:prstGeom prst="rect">
            <a:avLst/>
          </a:prstGeom>
        </p:spPr>
        <p:txBody>
          <a:bodyPr wrap="none">
            <a:spAutoFit/>
          </a:bodyPr>
          <a:lstStyle/>
          <a:p>
            <a:r>
              <a:rPr lang="en-US" sz="2000" b="0" dirty="0">
                <a:solidFill>
                  <a:schemeClr val="tx1"/>
                </a:solidFill>
              </a:rPr>
              <a:t>By CLT:</a:t>
            </a:r>
            <a:endParaRPr lang="en-US" b="0" dirty="0">
              <a:solidFill>
                <a:schemeClr val="tx1"/>
              </a:solidFill>
            </a:endParaRPr>
          </a:p>
        </p:txBody>
      </p:sp>
      <p:pic>
        <p:nvPicPr>
          <p:cNvPr id="7" name="Picture 6"/>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2077638" y="5881423"/>
            <a:ext cx="3287726" cy="333803"/>
          </a:xfrm>
          <a:prstGeom prst="rect">
            <a:avLst/>
          </a:prstGeom>
        </p:spPr>
      </p:pic>
      <p:pic>
        <p:nvPicPr>
          <p:cNvPr id="15" name="Picture 14"/>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077639" y="1497413"/>
            <a:ext cx="5577879" cy="322930"/>
          </a:xfrm>
          <a:prstGeom prst="rect">
            <a:avLst/>
          </a:prstGeom>
        </p:spPr>
      </p:pic>
      <p:pic>
        <p:nvPicPr>
          <p:cNvPr id="16" name="Picture 15"/>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5866159" y="2394030"/>
            <a:ext cx="1502034" cy="199133"/>
          </a:xfrm>
          <a:prstGeom prst="rect">
            <a:avLst/>
          </a:prstGeom>
        </p:spPr>
      </p:pic>
      <p:pic>
        <p:nvPicPr>
          <p:cNvPr id="23" name="Picture 22"/>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8770488" y="2173510"/>
            <a:ext cx="1612617" cy="640170"/>
          </a:xfrm>
          <a:prstGeom prst="rect">
            <a:avLst/>
          </a:prstGeom>
        </p:spPr>
      </p:pic>
      <p:pic>
        <p:nvPicPr>
          <p:cNvPr id="27" name="Picture 26"/>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2516389" y="3546366"/>
            <a:ext cx="1750382" cy="274780"/>
          </a:xfrm>
          <a:prstGeom prst="rect">
            <a:avLst/>
          </a:prstGeom>
        </p:spPr>
      </p:pic>
      <p:pic>
        <p:nvPicPr>
          <p:cNvPr id="37" name="Picture 36"/>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6011224" y="3180671"/>
            <a:ext cx="4326044" cy="421573"/>
          </a:xfrm>
          <a:prstGeom prst="rect">
            <a:avLst/>
          </a:prstGeom>
        </p:spPr>
      </p:pic>
      <p:pic>
        <p:nvPicPr>
          <p:cNvPr id="38" name="Picture 37"/>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8785726" y="5109332"/>
            <a:ext cx="189764" cy="228632"/>
          </a:xfrm>
          <a:prstGeom prst="rect">
            <a:avLst/>
          </a:prstGeom>
        </p:spPr>
      </p:pic>
      <p:pic>
        <p:nvPicPr>
          <p:cNvPr id="57" name="Picture 56"/>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8112418" y="6100909"/>
            <a:ext cx="189764" cy="228632"/>
          </a:xfrm>
          <a:prstGeom prst="rect">
            <a:avLst/>
          </a:prstGeom>
        </p:spPr>
      </p:pic>
    </p:spTree>
    <p:extLst>
      <p:ext uri="{BB962C8B-B14F-4D97-AF65-F5344CB8AC3E}">
        <p14:creationId xmlns:p14="http://schemas.microsoft.com/office/powerpoint/2010/main" val="252585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311995"/>
            <a:ext cx="9401269" cy="937444"/>
          </a:xfrm>
        </p:spPr>
        <p:txBody>
          <a:bodyPr/>
          <a:lstStyle/>
          <a:p>
            <a:r>
              <a:rPr lang="en-CA" dirty="0"/>
              <a:t>Types of Errors</a:t>
            </a:r>
          </a:p>
        </p:txBody>
      </p:sp>
      <p:sp>
        <p:nvSpPr>
          <p:cNvPr id="4" name="Rectangle 3"/>
          <p:cNvSpPr txBox="1">
            <a:spLocks noChangeArrowheads="1"/>
          </p:cNvSpPr>
          <p:nvPr/>
        </p:nvSpPr>
        <p:spPr>
          <a:xfrm>
            <a:off x="934755" y="1753643"/>
            <a:ext cx="10322490" cy="3709203"/>
          </a:xfrm>
          <a:prstGeom prst="rect">
            <a:avLst/>
          </a:prstGeom>
        </p:spPr>
        <p:txBody>
          <a:bodyPr vert="horz">
            <a:normAutofit/>
          </a:bodyPr>
          <a:lstStyle/>
          <a:p>
            <a:pPr lvl="0" algn="l">
              <a:spcBef>
                <a:spcPct val="20000"/>
              </a:spcBef>
              <a:buSzPct val="85000"/>
              <a:defRPr/>
            </a:pPr>
            <a:r>
              <a:rPr lang="en-CA" sz="2000" dirty="0">
                <a:solidFill>
                  <a:schemeClr val="tx1"/>
                </a:solidFill>
                <a:latin typeface="+mn-lt"/>
                <a:cs typeface="Times New Roman" pitchFamily="18" charset="0"/>
              </a:rPr>
              <a:t>Consider a jury example, we can think of these errors as representing the following:</a:t>
            </a:r>
          </a:p>
          <a:p>
            <a:pPr lvl="0" algn="l">
              <a:spcBef>
                <a:spcPct val="20000"/>
              </a:spcBef>
              <a:buSzPct val="85000"/>
              <a:defRPr/>
            </a:pPr>
            <a:endParaRPr lang="en-CA" sz="2000" dirty="0">
              <a:solidFill>
                <a:schemeClr val="tx1"/>
              </a:solidFill>
              <a:latin typeface="+mn-lt"/>
              <a:cs typeface="Times New Roman" pitchFamily="18" charset="0"/>
            </a:endParaRPr>
          </a:p>
          <a:p>
            <a:pPr lvl="0" algn="l">
              <a:spcBef>
                <a:spcPct val="20000"/>
              </a:spcBef>
              <a:buSzPct val="85000"/>
              <a:defRPr/>
            </a:pPr>
            <a:endParaRPr lang="en-CA" sz="2000" dirty="0">
              <a:solidFill>
                <a:schemeClr val="tx1"/>
              </a:solidFill>
              <a:latin typeface="+mn-lt"/>
              <a:cs typeface="Times New Roman" pitchFamily="18" charset="0"/>
            </a:endParaRPr>
          </a:p>
          <a:p>
            <a:pPr lvl="0">
              <a:spcBef>
                <a:spcPct val="20000"/>
              </a:spcBef>
              <a:buSzPct val="85000"/>
              <a:defRPr/>
            </a:pPr>
            <a:endParaRPr lang="en-CA" sz="2000" dirty="0">
              <a:latin typeface="+mn-lt"/>
              <a:cs typeface="Times New Roman" pitchFamily="18" charset="0"/>
            </a:endParaRPr>
          </a:p>
          <a:p>
            <a:pPr lvl="0">
              <a:spcBef>
                <a:spcPct val="20000"/>
              </a:spcBef>
              <a:buSzPct val="85000"/>
              <a:defRPr/>
            </a:pPr>
            <a:endParaRPr lang="en-CA" sz="2000" dirty="0">
              <a:latin typeface="+mn-lt"/>
              <a:cs typeface="Times New Roman" pitchFamily="18" charset="0"/>
            </a:endParaRPr>
          </a:p>
          <a:p>
            <a:pPr lvl="0">
              <a:spcBef>
                <a:spcPct val="20000"/>
              </a:spcBef>
              <a:buSzPct val="85000"/>
              <a:defRPr/>
            </a:pPr>
            <a:endParaRPr lang="en-CA" sz="2000" dirty="0">
              <a:latin typeface="+mn-lt"/>
              <a:cs typeface="Times New Roman" pitchFamily="18" charset="0"/>
            </a:endParaRPr>
          </a:p>
          <a:p>
            <a:pPr lvl="0" algn="l">
              <a:spcBef>
                <a:spcPts val="0"/>
              </a:spcBef>
              <a:buSzPct val="85000"/>
              <a:defRPr/>
            </a:pPr>
            <a:r>
              <a:rPr lang="en-CA" sz="2000" dirty="0">
                <a:solidFill>
                  <a:schemeClr val="tx1"/>
                </a:solidFill>
                <a:latin typeface="+mn-lt"/>
                <a:cs typeface="Times New Roman" pitchFamily="18" charset="0"/>
              </a:rPr>
              <a:t>From a business context, we can think of these errors as representing the following costs/risks: </a:t>
            </a:r>
          </a:p>
          <a:p>
            <a:pPr marL="457200" indent="-457200">
              <a:spcBef>
                <a:spcPct val="20000"/>
              </a:spcBef>
              <a:buSzPct val="85000"/>
              <a:defRPr/>
            </a:pPr>
            <a:endParaRPr lang="en-CA" sz="2000" dirty="0">
              <a:latin typeface="+mj-lt"/>
              <a:cs typeface="Times New Roman" pitchFamily="18" charset="0"/>
            </a:endParaRPr>
          </a:p>
        </p:txBody>
      </p:sp>
      <p:sp>
        <p:nvSpPr>
          <p:cNvPr id="6" name="TextBox 5"/>
          <p:cNvSpPr txBox="1"/>
          <p:nvPr/>
        </p:nvSpPr>
        <p:spPr>
          <a:xfrm>
            <a:off x="1296183" y="4658186"/>
            <a:ext cx="9599634" cy="1384995"/>
          </a:xfrm>
          <a:prstGeom prst="rect">
            <a:avLst/>
          </a:prstGeom>
          <a:solidFill>
            <a:schemeClr val="accent2">
              <a:lumMod val="20000"/>
              <a:lumOff val="80000"/>
            </a:schemeClr>
          </a:solidFill>
          <a:ln>
            <a:solidFill>
              <a:schemeClr val="tx1"/>
            </a:solidFill>
          </a:ln>
        </p:spPr>
        <p:txBody>
          <a:bodyPr wrap="square" rtlCol="0">
            <a:spAutoFit/>
          </a:bodyPr>
          <a:lstStyle/>
          <a:p>
            <a:pPr marL="0" lvl="1" algn="l">
              <a:spcBef>
                <a:spcPct val="20000"/>
              </a:spcBef>
              <a:buSzPct val="85000"/>
              <a:defRPr/>
            </a:pPr>
            <a:r>
              <a:rPr lang="en-CA" sz="2000" dirty="0">
                <a:solidFill>
                  <a:srgbClr val="FF0000"/>
                </a:solidFill>
                <a:latin typeface="+mj-lt"/>
                <a:cs typeface="Times New Roman" pitchFamily="18" charset="0"/>
              </a:rPr>
              <a:t>Type I error: </a:t>
            </a:r>
            <a:r>
              <a:rPr lang="en-CA" sz="2000" u="sng" dirty="0">
                <a:solidFill>
                  <a:schemeClr val="tx1"/>
                </a:solidFill>
                <a:latin typeface="+mj-lt"/>
                <a:cs typeface="Times New Roman" pitchFamily="18" charset="0"/>
              </a:rPr>
              <a:t>cost of failure</a:t>
            </a:r>
            <a:r>
              <a:rPr lang="en-CA" sz="2000" dirty="0">
                <a:solidFill>
                  <a:schemeClr val="tx1"/>
                </a:solidFill>
                <a:latin typeface="+mj-lt"/>
                <a:cs typeface="Times New Roman" pitchFamily="18" charset="0"/>
              </a:rPr>
              <a:t>, where I launch a business that turns out not to be successful (I thought the conditions where right, but in reality they were not.)</a:t>
            </a:r>
          </a:p>
          <a:p>
            <a:pPr marL="0" lvl="1" algn="l">
              <a:spcBef>
                <a:spcPct val="20000"/>
              </a:spcBef>
              <a:buSzPct val="85000"/>
              <a:defRPr/>
            </a:pPr>
            <a:r>
              <a:rPr lang="en-CA" sz="2000" dirty="0">
                <a:solidFill>
                  <a:srgbClr val="FF0000"/>
                </a:solidFill>
                <a:latin typeface="+mj-lt"/>
                <a:cs typeface="Times New Roman" pitchFamily="18" charset="0"/>
              </a:rPr>
              <a:t>Type II error: </a:t>
            </a:r>
            <a:r>
              <a:rPr lang="en-CA" sz="2000" dirty="0">
                <a:solidFill>
                  <a:schemeClr val="tx1"/>
                </a:solidFill>
                <a:latin typeface="+mj-lt"/>
                <a:cs typeface="Times New Roman" pitchFamily="18" charset="0"/>
              </a:rPr>
              <a:t>an </a:t>
            </a:r>
            <a:r>
              <a:rPr lang="en-CA" sz="2000" u="sng" dirty="0">
                <a:solidFill>
                  <a:schemeClr val="tx1"/>
                </a:solidFill>
                <a:latin typeface="+mj-lt"/>
                <a:cs typeface="Times New Roman" pitchFamily="18" charset="0"/>
              </a:rPr>
              <a:t>opportunity cost</a:t>
            </a:r>
            <a:r>
              <a:rPr lang="en-CA" sz="2000" dirty="0">
                <a:solidFill>
                  <a:schemeClr val="tx1"/>
                </a:solidFill>
                <a:latin typeface="+mj-lt"/>
                <a:cs typeface="Times New Roman" pitchFamily="18" charset="0"/>
              </a:rPr>
              <a:t>, where I don't launch a business that would have been successful (I didn't think the conditions were right, but in reality they were.)</a:t>
            </a:r>
            <a:endParaRPr lang="en-CA" sz="2400" dirty="0">
              <a:solidFill>
                <a:schemeClr val="tx1"/>
              </a:solidFill>
              <a:latin typeface="+mj-lt"/>
              <a:cs typeface="Times New Roman" pitchFamily="18" charset="0"/>
            </a:endParaRPr>
          </a:p>
        </p:txBody>
      </p:sp>
      <p:sp>
        <p:nvSpPr>
          <p:cNvPr id="7" name="TextBox 6"/>
          <p:cNvSpPr txBox="1"/>
          <p:nvPr/>
        </p:nvSpPr>
        <p:spPr>
          <a:xfrm>
            <a:off x="1296183" y="2306603"/>
            <a:ext cx="9599634" cy="1384995"/>
          </a:xfrm>
          <a:prstGeom prst="rect">
            <a:avLst/>
          </a:prstGeom>
          <a:solidFill>
            <a:schemeClr val="accent2">
              <a:lumMod val="20000"/>
              <a:lumOff val="80000"/>
            </a:schemeClr>
          </a:solidFill>
          <a:ln>
            <a:solidFill>
              <a:schemeClr val="tx1"/>
            </a:solidFill>
          </a:ln>
        </p:spPr>
        <p:txBody>
          <a:bodyPr wrap="square" rtlCol="0">
            <a:spAutoFit/>
          </a:bodyPr>
          <a:lstStyle/>
          <a:p>
            <a:pPr marL="0" lvl="1" algn="l">
              <a:spcBef>
                <a:spcPct val="20000"/>
              </a:spcBef>
              <a:buSzPct val="85000"/>
              <a:defRPr/>
            </a:pPr>
            <a:r>
              <a:rPr lang="en-CA" sz="2000" dirty="0">
                <a:solidFill>
                  <a:srgbClr val="FF0000"/>
                </a:solidFill>
                <a:latin typeface="+mj-lt"/>
                <a:cs typeface="Times New Roman" pitchFamily="18" charset="0"/>
              </a:rPr>
              <a:t>Type I error: </a:t>
            </a:r>
            <a:r>
              <a:rPr lang="en-CA" sz="2000" u="sng" dirty="0">
                <a:solidFill>
                  <a:schemeClr val="tx1"/>
                </a:solidFill>
                <a:latin typeface="+mj-lt"/>
                <a:cs typeface="Times New Roman" pitchFamily="18" charset="0"/>
              </a:rPr>
              <a:t>convicting an innocent person</a:t>
            </a:r>
            <a:r>
              <a:rPr lang="en-CA" sz="2000" dirty="0">
                <a:solidFill>
                  <a:schemeClr val="tx1"/>
                </a:solidFill>
                <a:latin typeface="+mj-lt"/>
                <a:cs typeface="Times New Roman" pitchFamily="18" charset="0"/>
              </a:rPr>
              <a:t> (I thought the evidence pointed to guilt, but in reality the person was innocent.)</a:t>
            </a:r>
          </a:p>
          <a:p>
            <a:pPr marL="0" lvl="1" algn="l">
              <a:spcBef>
                <a:spcPct val="20000"/>
              </a:spcBef>
              <a:buSzPct val="85000"/>
              <a:defRPr/>
            </a:pPr>
            <a:r>
              <a:rPr lang="en-CA" sz="2000" dirty="0">
                <a:solidFill>
                  <a:srgbClr val="FF0000"/>
                </a:solidFill>
                <a:latin typeface="+mj-lt"/>
                <a:cs typeface="Times New Roman" pitchFamily="18" charset="0"/>
              </a:rPr>
              <a:t>Type II error: </a:t>
            </a:r>
            <a:r>
              <a:rPr lang="en-CA" sz="2000" dirty="0">
                <a:solidFill>
                  <a:schemeClr val="tx1"/>
                </a:solidFill>
                <a:latin typeface="+mj-lt"/>
                <a:cs typeface="Times New Roman" pitchFamily="18" charset="0"/>
              </a:rPr>
              <a:t>a guilty defendant is acquitted (I didn't think the evidence pointed to guilt, but in reality the person was guilty.)</a:t>
            </a:r>
            <a:endParaRPr lang="en-CA" sz="2400" dirty="0">
              <a:solidFill>
                <a:schemeClr val="tx1"/>
              </a:solidFill>
              <a:latin typeface="+mj-lt"/>
              <a:cs typeface="Times New Roman" pitchFamily="18" charset="0"/>
            </a:endParaRPr>
          </a:p>
        </p:txBody>
      </p:sp>
    </p:spTree>
    <p:extLst>
      <p:ext uri="{BB962C8B-B14F-4D97-AF65-F5344CB8AC3E}">
        <p14:creationId xmlns:p14="http://schemas.microsoft.com/office/powerpoint/2010/main" val="2512634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Freeform 39"/>
          <p:cNvSpPr/>
          <p:nvPr/>
        </p:nvSpPr>
        <p:spPr>
          <a:xfrm>
            <a:off x="8182758" y="2097267"/>
            <a:ext cx="1892300" cy="1203325"/>
          </a:xfrm>
          <a:custGeom>
            <a:avLst/>
            <a:gdLst>
              <a:gd name="connsiteX0" fmla="*/ 1889125 w 1892300"/>
              <a:gd name="connsiteY0" fmla="*/ 831850 h 1203325"/>
              <a:gd name="connsiteX1" fmla="*/ 1892300 w 1892300"/>
              <a:gd name="connsiteY1" fmla="*/ 1203325 h 1203325"/>
              <a:gd name="connsiteX2" fmla="*/ 0 w 1892300"/>
              <a:gd name="connsiteY2" fmla="*/ 1200150 h 1203325"/>
              <a:gd name="connsiteX3" fmla="*/ 34925 w 1892300"/>
              <a:gd name="connsiteY3" fmla="*/ 1174750 h 1203325"/>
              <a:gd name="connsiteX4" fmla="*/ 165100 w 1892300"/>
              <a:gd name="connsiteY4" fmla="*/ 1174750 h 1203325"/>
              <a:gd name="connsiteX5" fmla="*/ 365125 w 1892300"/>
              <a:gd name="connsiteY5" fmla="*/ 1158875 h 1203325"/>
              <a:gd name="connsiteX6" fmla="*/ 558800 w 1892300"/>
              <a:gd name="connsiteY6" fmla="*/ 1098550 h 1203325"/>
              <a:gd name="connsiteX7" fmla="*/ 723900 w 1892300"/>
              <a:gd name="connsiteY7" fmla="*/ 949325 h 1203325"/>
              <a:gd name="connsiteX8" fmla="*/ 889000 w 1892300"/>
              <a:gd name="connsiteY8" fmla="*/ 695325 h 1203325"/>
              <a:gd name="connsiteX9" fmla="*/ 1044575 w 1892300"/>
              <a:gd name="connsiteY9" fmla="*/ 381000 h 1203325"/>
              <a:gd name="connsiteX10" fmla="*/ 1171575 w 1892300"/>
              <a:gd name="connsiteY10" fmla="*/ 139700 h 1203325"/>
              <a:gd name="connsiteX11" fmla="*/ 1263650 w 1892300"/>
              <a:gd name="connsiteY11" fmla="*/ 34925 h 1203325"/>
              <a:gd name="connsiteX12" fmla="*/ 1323975 w 1892300"/>
              <a:gd name="connsiteY12" fmla="*/ 0 h 1203325"/>
              <a:gd name="connsiteX13" fmla="*/ 1387475 w 1892300"/>
              <a:gd name="connsiteY13" fmla="*/ 0 h 1203325"/>
              <a:gd name="connsiteX14" fmla="*/ 1489075 w 1892300"/>
              <a:gd name="connsiteY14" fmla="*/ 104775 h 1203325"/>
              <a:gd name="connsiteX15" fmla="*/ 1657350 w 1892300"/>
              <a:gd name="connsiteY15" fmla="*/ 409575 h 1203325"/>
              <a:gd name="connsiteX16" fmla="*/ 1838325 w 1892300"/>
              <a:gd name="connsiteY16" fmla="*/ 758825 h 1203325"/>
              <a:gd name="connsiteX17" fmla="*/ 1889125 w 1892300"/>
              <a:gd name="connsiteY17" fmla="*/ 831850 h 120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92300" h="1203325">
                <a:moveTo>
                  <a:pt x="1889125" y="831850"/>
                </a:moveTo>
                <a:cubicBezTo>
                  <a:pt x="1890183" y="955675"/>
                  <a:pt x="1891242" y="1079500"/>
                  <a:pt x="1892300" y="1203325"/>
                </a:cubicBezTo>
                <a:lnTo>
                  <a:pt x="0" y="1200150"/>
                </a:lnTo>
                <a:lnTo>
                  <a:pt x="34925" y="1174750"/>
                </a:lnTo>
                <a:lnTo>
                  <a:pt x="165100" y="1174750"/>
                </a:lnTo>
                <a:lnTo>
                  <a:pt x="365125" y="1158875"/>
                </a:lnTo>
                <a:lnTo>
                  <a:pt x="558800" y="1098550"/>
                </a:lnTo>
                <a:lnTo>
                  <a:pt x="723900" y="949325"/>
                </a:lnTo>
                <a:lnTo>
                  <a:pt x="889000" y="695325"/>
                </a:lnTo>
                <a:lnTo>
                  <a:pt x="1044575" y="381000"/>
                </a:lnTo>
                <a:lnTo>
                  <a:pt x="1171575" y="139700"/>
                </a:lnTo>
                <a:lnTo>
                  <a:pt x="1263650" y="34925"/>
                </a:lnTo>
                <a:lnTo>
                  <a:pt x="1323975" y="0"/>
                </a:lnTo>
                <a:lnTo>
                  <a:pt x="1387475" y="0"/>
                </a:lnTo>
                <a:lnTo>
                  <a:pt x="1489075" y="104775"/>
                </a:lnTo>
                <a:lnTo>
                  <a:pt x="1657350" y="409575"/>
                </a:lnTo>
                <a:lnTo>
                  <a:pt x="1838325" y="758825"/>
                </a:lnTo>
                <a:lnTo>
                  <a:pt x="1889125" y="831850"/>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9" name="Freeform 38"/>
          <p:cNvSpPr/>
          <p:nvPr/>
        </p:nvSpPr>
        <p:spPr>
          <a:xfrm>
            <a:off x="10075058" y="2964042"/>
            <a:ext cx="768350" cy="346075"/>
          </a:xfrm>
          <a:custGeom>
            <a:avLst/>
            <a:gdLst>
              <a:gd name="connsiteX0" fmla="*/ 3175 w 768350"/>
              <a:gd name="connsiteY0" fmla="*/ 0 h 346075"/>
              <a:gd name="connsiteX1" fmla="*/ 0 w 768350"/>
              <a:gd name="connsiteY1" fmla="*/ 346075 h 346075"/>
              <a:gd name="connsiteX2" fmla="*/ 768350 w 768350"/>
              <a:gd name="connsiteY2" fmla="*/ 339725 h 346075"/>
              <a:gd name="connsiteX3" fmla="*/ 765175 w 768350"/>
              <a:gd name="connsiteY3" fmla="*/ 307975 h 346075"/>
              <a:gd name="connsiteX4" fmla="*/ 631825 w 768350"/>
              <a:gd name="connsiteY4" fmla="*/ 307975 h 346075"/>
              <a:gd name="connsiteX5" fmla="*/ 463550 w 768350"/>
              <a:gd name="connsiteY5" fmla="*/ 307975 h 346075"/>
              <a:gd name="connsiteX6" fmla="*/ 288925 w 768350"/>
              <a:gd name="connsiteY6" fmla="*/ 257175 h 346075"/>
              <a:gd name="connsiteX7" fmla="*/ 104775 w 768350"/>
              <a:gd name="connsiteY7" fmla="*/ 130175 h 346075"/>
              <a:gd name="connsiteX8" fmla="*/ 3175 w 768350"/>
              <a:gd name="connsiteY8" fmla="*/ 0 h 34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350" h="346075">
                <a:moveTo>
                  <a:pt x="3175" y="0"/>
                </a:moveTo>
                <a:cubicBezTo>
                  <a:pt x="2117" y="115358"/>
                  <a:pt x="1058" y="230717"/>
                  <a:pt x="0" y="346075"/>
                </a:cubicBezTo>
                <a:lnTo>
                  <a:pt x="768350" y="339725"/>
                </a:lnTo>
                <a:lnTo>
                  <a:pt x="765175" y="307975"/>
                </a:lnTo>
                <a:lnTo>
                  <a:pt x="631825" y="307975"/>
                </a:lnTo>
                <a:lnTo>
                  <a:pt x="463550" y="307975"/>
                </a:lnTo>
                <a:lnTo>
                  <a:pt x="288925" y="257175"/>
                </a:lnTo>
                <a:lnTo>
                  <a:pt x="104775" y="130175"/>
                </a:lnTo>
                <a:lnTo>
                  <a:pt x="3175" y="0"/>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7" name="Freeform 36"/>
          <p:cNvSpPr/>
          <p:nvPr/>
        </p:nvSpPr>
        <p:spPr>
          <a:xfrm>
            <a:off x="8652658" y="4152125"/>
            <a:ext cx="1428750" cy="1209675"/>
          </a:xfrm>
          <a:custGeom>
            <a:avLst/>
            <a:gdLst>
              <a:gd name="connsiteX0" fmla="*/ 1425575 w 1428750"/>
              <a:gd name="connsiteY0" fmla="*/ 0 h 1209675"/>
              <a:gd name="connsiteX1" fmla="*/ 1428750 w 1428750"/>
              <a:gd name="connsiteY1" fmla="*/ 1203325 h 1209675"/>
              <a:gd name="connsiteX2" fmla="*/ 0 w 1428750"/>
              <a:gd name="connsiteY2" fmla="*/ 1209675 h 1209675"/>
              <a:gd name="connsiteX3" fmla="*/ 28575 w 1428750"/>
              <a:gd name="connsiteY3" fmla="*/ 1168400 h 1209675"/>
              <a:gd name="connsiteX4" fmla="*/ 238125 w 1428750"/>
              <a:gd name="connsiteY4" fmla="*/ 1152525 h 1209675"/>
              <a:gd name="connsiteX5" fmla="*/ 469900 w 1428750"/>
              <a:gd name="connsiteY5" fmla="*/ 1136650 h 1209675"/>
              <a:gd name="connsiteX6" fmla="*/ 663575 w 1428750"/>
              <a:gd name="connsiteY6" fmla="*/ 1028700 h 1209675"/>
              <a:gd name="connsiteX7" fmla="*/ 812800 w 1428750"/>
              <a:gd name="connsiteY7" fmla="*/ 860425 h 1209675"/>
              <a:gd name="connsiteX8" fmla="*/ 962025 w 1428750"/>
              <a:gd name="connsiteY8" fmla="*/ 590550 h 1209675"/>
              <a:gd name="connsiteX9" fmla="*/ 1104900 w 1428750"/>
              <a:gd name="connsiteY9" fmla="*/ 317500 h 1209675"/>
              <a:gd name="connsiteX10" fmla="*/ 1231900 w 1428750"/>
              <a:gd name="connsiteY10" fmla="*/ 79375 h 1209675"/>
              <a:gd name="connsiteX11" fmla="*/ 1311275 w 1428750"/>
              <a:gd name="connsiteY11" fmla="*/ 9525 h 1209675"/>
              <a:gd name="connsiteX12" fmla="*/ 1425575 w 1428750"/>
              <a:gd name="connsiteY12"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8750" h="1209675">
                <a:moveTo>
                  <a:pt x="1425575" y="0"/>
                </a:moveTo>
                <a:cubicBezTo>
                  <a:pt x="1426633" y="401108"/>
                  <a:pt x="1427692" y="802217"/>
                  <a:pt x="1428750" y="1203325"/>
                </a:cubicBezTo>
                <a:lnTo>
                  <a:pt x="0" y="1209675"/>
                </a:lnTo>
                <a:lnTo>
                  <a:pt x="28575" y="1168400"/>
                </a:lnTo>
                <a:lnTo>
                  <a:pt x="238125" y="1152525"/>
                </a:lnTo>
                <a:lnTo>
                  <a:pt x="469900" y="1136650"/>
                </a:lnTo>
                <a:lnTo>
                  <a:pt x="663575" y="1028700"/>
                </a:lnTo>
                <a:lnTo>
                  <a:pt x="812800" y="860425"/>
                </a:lnTo>
                <a:lnTo>
                  <a:pt x="962025" y="590550"/>
                </a:lnTo>
                <a:lnTo>
                  <a:pt x="1104900" y="317500"/>
                </a:lnTo>
                <a:lnTo>
                  <a:pt x="1231900" y="79375"/>
                </a:lnTo>
                <a:lnTo>
                  <a:pt x="1311275" y="9525"/>
                </a:lnTo>
                <a:lnTo>
                  <a:pt x="1425575" y="0"/>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6" name="Freeform 35"/>
          <p:cNvSpPr/>
          <p:nvPr/>
        </p:nvSpPr>
        <p:spPr>
          <a:xfrm>
            <a:off x="10078233" y="4164825"/>
            <a:ext cx="1282700" cy="1190625"/>
          </a:xfrm>
          <a:custGeom>
            <a:avLst/>
            <a:gdLst>
              <a:gd name="connsiteX0" fmla="*/ 0 w 1282700"/>
              <a:gd name="connsiteY0" fmla="*/ 0 h 1190625"/>
              <a:gd name="connsiteX1" fmla="*/ 0 w 1282700"/>
              <a:gd name="connsiteY1" fmla="*/ 1187450 h 1190625"/>
              <a:gd name="connsiteX2" fmla="*/ 1282700 w 1282700"/>
              <a:gd name="connsiteY2" fmla="*/ 1190625 h 1190625"/>
              <a:gd name="connsiteX3" fmla="*/ 1270000 w 1282700"/>
              <a:gd name="connsiteY3" fmla="*/ 1155700 h 1190625"/>
              <a:gd name="connsiteX4" fmla="*/ 1041400 w 1282700"/>
              <a:gd name="connsiteY4" fmla="*/ 1149350 h 1190625"/>
              <a:gd name="connsiteX5" fmla="*/ 822325 w 1282700"/>
              <a:gd name="connsiteY5" fmla="*/ 1117600 h 1190625"/>
              <a:gd name="connsiteX6" fmla="*/ 606425 w 1282700"/>
              <a:gd name="connsiteY6" fmla="*/ 958850 h 1190625"/>
              <a:gd name="connsiteX7" fmla="*/ 406400 w 1282700"/>
              <a:gd name="connsiteY7" fmla="*/ 654050 h 1190625"/>
              <a:gd name="connsiteX8" fmla="*/ 196850 w 1282700"/>
              <a:gd name="connsiteY8" fmla="*/ 260350 h 1190625"/>
              <a:gd name="connsiteX9" fmla="*/ 76200 w 1282700"/>
              <a:gd name="connsiteY9" fmla="*/ 57150 h 1190625"/>
              <a:gd name="connsiteX10" fmla="*/ 0 w 1282700"/>
              <a:gd name="connsiteY10"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2700" h="1190625">
                <a:moveTo>
                  <a:pt x="0" y="0"/>
                </a:moveTo>
                <a:lnTo>
                  <a:pt x="0" y="1187450"/>
                </a:lnTo>
                <a:lnTo>
                  <a:pt x="1282700" y="1190625"/>
                </a:lnTo>
                <a:lnTo>
                  <a:pt x="1270000" y="1155700"/>
                </a:lnTo>
                <a:lnTo>
                  <a:pt x="1041400" y="1149350"/>
                </a:lnTo>
                <a:lnTo>
                  <a:pt x="822325" y="1117600"/>
                </a:lnTo>
                <a:lnTo>
                  <a:pt x="606425" y="958850"/>
                </a:lnTo>
                <a:lnTo>
                  <a:pt x="406400" y="654050"/>
                </a:lnTo>
                <a:lnTo>
                  <a:pt x="196850" y="260350"/>
                </a:lnTo>
                <a:lnTo>
                  <a:pt x="76200" y="57150"/>
                </a:lnTo>
                <a:lnTo>
                  <a:pt x="0" y="0"/>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7" name="Freeform 6"/>
          <p:cNvSpPr/>
          <p:nvPr/>
        </p:nvSpPr>
        <p:spPr>
          <a:xfrm>
            <a:off x="6043081" y="4465928"/>
            <a:ext cx="1081088" cy="888206"/>
          </a:xfrm>
          <a:custGeom>
            <a:avLst/>
            <a:gdLst>
              <a:gd name="connsiteX0" fmla="*/ 0 w 1081088"/>
              <a:gd name="connsiteY0" fmla="*/ 0 h 888206"/>
              <a:gd name="connsiteX1" fmla="*/ 0 w 1081088"/>
              <a:gd name="connsiteY1" fmla="*/ 881062 h 888206"/>
              <a:gd name="connsiteX2" fmla="*/ 1081088 w 1081088"/>
              <a:gd name="connsiteY2" fmla="*/ 888206 h 888206"/>
              <a:gd name="connsiteX3" fmla="*/ 1073944 w 1081088"/>
              <a:gd name="connsiteY3" fmla="*/ 852487 h 888206"/>
              <a:gd name="connsiteX4" fmla="*/ 895350 w 1081088"/>
              <a:gd name="connsiteY4" fmla="*/ 854869 h 888206"/>
              <a:gd name="connsiteX5" fmla="*/ 792956 w 1081088"/>
              <a:gd name="connsiteY5" fmla="*/ 850106 h 888206"/>
              <a:gd name="connsiteX6" fmla="*/ 647700 w 1081088"/>
              <a:gd name="connsiteY6" fmla="*/ 821531 h 888206"/>
              <a:gd name="connsiteX7" fmla="*/ 521494 w 1081088"/>
              <a:gd name="connsiteY7" fmla="*/ 776287 h 888206"/>
              <a:gd name="connsiteX8" fmla="*/ 383381 w 1081088"/>
              <a:gd name="connsiteY8" fmla="*/ 654844 h 888206"/>
              <a:gd name="connsiteX9" fmla="*/ 230981 w 1081088"/>
              <a:gd name="connsiteY9" fmla="*/ 431006 h 888206"/>
              <a:gd name="connsiteX10" fmla="*/ 83344 w 1081088"/>
              <a:gd name="connsiteY10" fmla="*/ 130969 h 888206"/>
              <a:gd name="connsiteX11" fmla="*/ 0 w 1081088"/>
              <a:gd name="connsiteY11" fmla="*/ 0 h 8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1088" h="888206">
                <a:moveTo>
                  <a:pt x="0" y="0"/>
                </a:moveTo>
                <a:lnTo>
                  <a:pt x="0" y="881062"/>
                </a:lnTo>
                <a:lnTo>
                  <a:pt x="1081088" y="888206"/>
                </a:lnTo>
                <a:lnTo>
                  <a:pt x="1073944" y="852487"/>
                </a:lnTo>
                <a:lnTo>
                  <a:pt x="895350" y="854869"/>
                </a:lnTo>
                <a:lnTo>
                  <a:pt x="792956" y="850106"/>
                </a:lnTo>
                <a:lnTo>
                  <a:pt x="647700" y="821531"/>
                </a:lnTo>
                <a:lnTo>
                  <a:pt x="521494" y="776287"/>
                </a:lnTo>
                <a:lnTo>
                  <a:pt x="383381" y="654844"/>
                </a:lnTo>
                <a:lnTo>
                  <a:pt x="230981" y="431006"/>
                </a:lnTo>
                <a:lnTo>
                  <a:pt x="83344" y="130969"/>
                </a:lnTo>
                <a:lnTo>
                  <a:pt x="0"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5" name="Freeform 34"/>
          <p:cNvSpPr/>
          <p:nvPr/>
        </p:nvSpPr>
        <p:spPr>
          <a:xfrm>
            <a:off x="4410858" y="4133075"/>
            <a:ext cx="1644650" cy="1216025"/>
          </a:xfrm>
          <a:custGeom>
            <a:avLst/>
            <a:gdLst>
              <a:gd name="connsiteX0" fmla="*/ 1625600 w 1644650"/>
              <a:gd name="connsiteY0" fmla="*/ 1212850 h 1216025"/>
              <a:gd name="connsiteX1" fmla="*/ 0 w 1644650"/>
              <a:gd name="connsiteY1" fmla="*/ 1216025 h 1216025"/>
              <a:gd name="connsiteX2" fmla="*/ 9525 w 1644650"/>
              <a:gd name="connsiteY2" fmla="*/ 1187450 h 1216025"/>
              <a:gd name="connsiteX3" fmla="*/ 187325 w 1644650"/>
              <a:gd name="connsiteY3" fmla="*/ 1184275 h 1216025"/>
              <a:gd name="connsiteX4" fmla="*/ 368300 w 1644650"/>
              <a:gd name="connsiteY4" fmla="*/ 1177925 h 1216025"/>
              <a:gd name="connsiteX5" fmla="*/ 552450 w 1644650"/>
              <a:gd name="connsiteY5" fmla="*/ 1123950 h 1216025"/>
              <a:gd name="connsiteX6" fmla="*/ 660400 w 1644650"/>
              <a:gd name="connsiteY6" fmla="*/ 1044575 h 1216025"/>
              <a:gd name="connsiteX7" fmla="*/ 758825 w 1644650"/>
              <a:gd name="connsiteY7" fmla="*/ 936625 h 1216025"/>
              <a:gd name="connsiteX8" fmla="*/ 860425 w 1644650"/>
              <a:gd name="connsiteY8" fmla="*/ 777875 h 1216025"/>
              <a:gd name="connsiteX9" fmla="*/ 1006475 w 1644650"/>
              <a:gd name="connsiteY9" fmla="*/ 501650 h 1216025"/>
              <a:gd name="connsiteX10" fmla="*/ 1146175 w 1644650"/>
              <a:gd name="connsiteY10" fmla="*/ 238125 h 1216025"/>
              <a:gd name="connsiteX11" fmla="*/ 1295400 w 1644650"/>
              <a:gd name="connsiteY11" fmla="*/ 34925 h 1216025"/>
              <a:gd name="connsiteX12" fmla="*/ 1371600 w 1644650"/>
              <a:gd name="connsiteY12" fmla="*/ 0 h 1216025"/>
              <a:gd name="connsiteX13" fmla="*/ 1450975 w 1644650"/>
              <a:gd name="connsiteY13" fmla="*/ 44450 h 1216025"/>
              <a:gd name="connsiteX14" fmla="*/ 1568450 w 1644650"/>
              <a:gd name="connsiteY14" fmla="*/ 190500 h 1216025"/>
              <a:gd name="connsiteX15" fmla="*/ 1644650 w 1644650"/>
              <a:gd name="connsiteY15" fmla="*/ 327025 h 1216025"/>
              <a:gd name="connsiteX16" fmla="*/ 1625600 w 1644650"/>
              <a:gd name="connsiteY16" fmla="*/ 1212850 h 121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44650" h="1216025">
                <a:moveTo>
                  <a:pt x="1625600" y="1212850"/>
                </a:moveTo>
                <a:lnTo>
                  <a:pt x="0" y="1216025"/>
                </a:lnTo>
                <a:lnTo>
                  <a:pt x="9525" y="1187450"/>
                </a:lnTo>
                <a:lnTo>
                  <a:pt x="187325" y="1184275"/>
                </a:lnTo>
                <a:lnTo>
                  <a:pt x="368300" y="1177925"/>
                </a:lnTo>
                <a:lnTo>
                  <a:pt x="552450" y="1123950"/>
                </a:lnTo>
                <a:lnTo>
                  <a:pt x="660400" y="1044575"/>
                </a:lnTo>
                <a:lnTo>
                  <a:pt x="758825" y="936625"/>
                </a:lnTo>
                <a:lnTo>
                  <a:pt x="860425" y="777875"/>
                </a:lnTo>
                <a:lnTo>
                  <a:pt x="1006475" y="501650"/>
                </a:lnTo>
                <a:lnTo>
                  <a:pt x="1146175" y="238125"/>
                </a:lnTo>
                <a:lnTo>
                  <a:pt x="1295400" y="34925"/>
                </a:lnTo>
                <a:lnTo>
                  <a:pt x="1371600" y="0"/>
                </a:lnTo>
                <a:lnTo>
                  <a:pt x="1450975" y="44450"/>
                </a:lnTo>
                <a:lnTo>
                  <a:pt x="1568450" y="190500"/>
                </a:lnTo>
                <a:lnTo>
                  <a:pt x="1644650" y="327025"/>
                </a:lnTo>
                <a:lnTo>
                  <a:pt x="1625600" y="1212850"/>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2" name="Freeform 31"/>
          <p:cNvSpPr/>
          <p:nvPr/>
        </p:nvSpPr>
        <p:spPr>
          <a:xfrm>
            <a:off x="6042809" y="3179941"/>
            <a:ext cx="612775" cy="120650"/>
          </a:xfrm>
          <a:custGeom>
            <a:avLst/>
            <a:gdLst>
              <a:gd name="connsiteX0" fmla="*/ 0 w 612775"/>
              <a:gd name="connsiteY0" fmla="*/ 0 h 120650"/>
              <a:gd name="connsiteX1" fmla="*/ 3175 w 612775"/>
              <a:gd name="connsiteY1" fmla="*/ 120650 h 120650"/>
              <a:gd name="connsiteX2" fmla="*/ 612775 w 612775"/>
              <a:gd name="connsiteY2" fmla="*/ 117475 h 120650"/>
              <a:gd name="connsiteX3" fmla="*/ 609600 w 612775"/>
              <a:gd name="connsiteY3" fmla="*/ 98425 h 120650"/>
              <a:gd name="connsiteX4" fmla="*/ 444500 w 612775"/>
              <a:gd name="connsiteY4" fmla="*/ 95250 h 120650"/>
              <a:gd name="connsiteX5" fmla="*/ 260350 w 612775"/>
              <a:gd name="connsiteY5" fmla="*/ 82550 h 120650"/>
              <a:gd name="connsiteX6" fmla="*/ 107950 w 612775"/>
              <a:gd name="connsiteY6" fmla="*/ 53975 h 120650"/>
              <a:gd name="connsiteX7" fmla="*/ 0 w 612775"/>
              <a:gd name="connsiteY7" fmla="*/ 0 h 1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775" h="120650">
                <a:moveTo>
                  <a:pt x="0" y="0"/>
                </a:moveTo>
                <a:cubicBezTo>
                  <a:pt x="1058" y="40217"/>
                  <a:pt x="2117" y="80433"/>
                  <a:pt x="3175" y="120650"/>
                </a:cubicBezTo>
                <a:lnTo>
                  <a:pt x="612775" y="117475"/>
                </a:lnTo>
                <a:lnTo>
                  <a:pt x="609600" y="98425"/>
                </a:lnTo>
                <a:lnTo>
                  <a:pt x="444500" y="95250"/>
                </a:lnTo>
                <a:lnTo>
                  <a:pt x="260350" y="82550"/>
                </a:lnTo>
                <a:lnTo>
                  <a:pt x="107950" y="53975"/>
                </a:lnTo>
                <a:lnTo>
                  <a:pt x="0" y="0"/>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3" name="Freeform 32"/>
          <p:cNvSpPr/>
          <p:nvPr/>
        </p:nvSpPr>
        <p:spPr>
          <a:xfrm>
            <a:off x="3902859" y="2100441"/>
            <a:ext cx="2149475" cy="1206500"/>
          </a:xfrm>
          <a:custGeom>
            <a:avLst/>
            <a:gdLst>
              <a:gd name="connsiteX0" fmla="*/ 2139950 w 2149475"/>
              <a:gd name="connsiteY0" fmla="*/ 1203325 h 1206500"/>
              <a:gd name="connsiteX1" fmla="*/ 0 w 2149475"/>
              <a:gd name="connsiteY1" fmla="*/ 1206500 h 1206500"/>
              <a:gd name="connsiteX2" fmla="*/ 6350 w 2149475"/>
              <a:gd name="connsiteY2" fmla="*/ 1174750 h 1206500"/>
              <a:gd name="connsiteX3" fmla="*/ 111125 w 2149475"/>
              <a:gd name="connsiteY3" fmla="*/ 1174750 h 1206500"/>
              <a:gd name="connsiteX4" fmla="*/ 330200 w 2149475"/>
              <a:gd name="connsiteY4" fmla="*/ 1165225 h 1206500"/>
              <a:gd name="connsiteX5" fmla="*/ 552450 w 2149475"/>
              <a:gd name="connsiteY5" fmla="*/ 1111250 h 1206500"/>
              <a:gd name="connsiteX6" fmla="*/ 682625 w 2149475"/>
              <a:gd name="connsiteY6" fmla="*/ 1025525 h 1206500"/>
              <a:gd name="connsiteX7" fmla="*/ 815975 w 2149475"/>
              <a:gd name="connsiteY7" fmla="*/ 866775 h 1206500"/>
              <a:gd name="connsiteX8" fmla="*/ 968375 w 2149475"/>
              <a:gd name="connsiteY8" fmla="*/ 584200 h 1206500"/>
              <a:gd name="connsiteX9" fmla="*/ 1155700 w 2149475"/>
              <a:gd name="connsiteY9" fmla="*/ 215900 h 1206500"/>
              <a:gd name="connsiteX10" fmla="*/ 1260475 w 2149475"/>
              <a:gd name="connsiteY10" fmla="*/ 69850 h 1206500"/>
              <a:gd name="connsiteX11" fmla="*/ 1352550 w 2149475"/>
              <a:gd name="connsiteY11" fmla="*/ 0 h 1206500"/>
              <a:gd name="connsiteX12" fmla="*/ 1447800 w 2149475"/>
              <a:gd name="connsiteY12" fmla="*/ 25400 h 1206500"/>
              <a:gd name="connsiteX13" fmla="*/ 1587500 w 2149475"/>
              <a:gd name="connsiteY13" fmla="*/ 200025 h 1206500"/>
              <a:gd name="connsiteX14" fmla="*/ 1762125 w 2149475"/>
              <a:gd name="connsiteY14" fmla="*/ 530225 h 1206500"/>
              <a:gd name="connsiteX15" fmla="*/ 1911350 w 2149475"/>
              <a:gd name="connsiteY15" fmla="*/ 825500 h 1206500"/>
              <a:gd name="connsiteX16" fmla="*/ 2012950 w 2149475"/>
              <a:gd name="connsiteY16" fmla="*/ 977900 h 1206500"/>
              <a:gd name="connsiteX17" fmla="*/ 2149475 w 2149475"/>
              <a:gd name="connsiteY17" fmla="*/ 1082675 h 1206500"/>
              <a:gd name="connsiteX18" fmla="*/ 2139950 w 2149475"/>
              <a:gd name="connsiteY18" fmla="*/ 1203325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9475" h="1206500">
                <a:moveTo>
                  <a:pt x="2139950" y="1203325"/>
                </a:moveTo>
                <a:lnTo>
                  <a:pt x="0" y="1206500"/>
                </a:lnTo>
                <a:lnTo>
                  <a:pt x="6350" y="1174750"/>
                </a:lnTo>
                <a:lnTo>
                  <a:pt x="111125" y="1174750"/>
                </a:lnTo>
                <a:lnTo>
                  <a:pt x="330200" y="1165225"/>
                </a:lnTo>
                <a:lnTo>
                  <a:pt x="552450" y="1111250"/>
                </a:lnTo>
                <a:lnTo>
                  <a:pt x="682625" y="1025525"/>
                </a:lnTo>
                <a:lnTo>
                  <a:pt x="815975" y="866775"/>
                </a:lnTo>
                <a:lnTo>
                  <a:pt x="968375" y="584200"/>
                </a:lnTo>
                <a:lnTo>
                  <a:pt x="1155700" y="215900"/>
                </a:lnTo>
                <a:lnTo>
                  <a:pt x="1260475" y="69850"/>
                </a:lnTo>
                <a:lnTo>
                  <a:pt x="1352550" y="0"/>
                </a:lnTo>
                <a:lnTo>
                  <a:pt x="1447800" y="25400"/>
                </a:lnTo>
                <a:lnTo>
                  <a:pt x="1587500" y="200025"/>
                </a:lnTo>
                <a:lnTo>
                  <a:pt x="1762125" y="530225"/>
                </a:lnTo>
                <a:lnTo>
                  <a:pt x="1911350" y="825500"/>
                </a:lnTo>
                <a:lnTo>
                  <a:pt x="2012950" y="977900"/>
                </a:lnTo>
                <a:lnTo>
                  <a:pt x="2149475" y="1082675"/>
                </a:lnTo>
                <a:lnTo>
                  <a:pt x="2139950" y="1203325"/>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17410" name="Rectangle 2"/>
          <p:cNvSpPr>
            <a:spLocks noGrp="1" noChangeArrowheads="1"/>
          </p:cNvSpPr>
          <p:nvPr>
            <p:ph type="title"/>
          </p:nvPr>
        </p:nvSpPr>
        <p:spPr>
          <a:xfrm>
            <a:off x="838200" y="311995"/>
            <a:ext cx="9401269" cy="937444"/>
          </a:xfrm>
        </p:spPr>
        <p:txBody>
          <a:bodyPr/>
          <a:lstStyle/>
          <a:p>
            <a:r>
              <a:rPr lang="en-CA" dirty="0"/>
              <a:t>Tests and Errors</a:t>
            </a:r>
          </a:p>
        </p:txBody>
      </p:sp>
      <p:sp>
        <p:nvSpPr>
          <p:cNvPr id="5" name="Content Placeholder 4">
            <a:extLst>
              <a:ext uri="{FF2B5EF4-FFF2-40B4-BE49-F238E27FC236}">
                <a16:creationId xmlns:a16="http://schemas.microsoft.com/office/drawing/2014/main" id="{B2A4B8C9-BD2F-43CE-BCCF-FBBAD29FD3F7}"/>
              </a:ext>
            </a:extLst>
          </p:cNvPr>
          <p:cNvSpPr>
            <a:spLocks noGrp="1"/>
          </p:cNvSpPr>
          <p:nvPr>
            <p:ph idx="1"/>
          </p:nvPr>
        </p:nvSpPr>
        <p:spPr>
          <a:xfrm>
            <a:off x="838201" y="1862659"/>
            <a:ext cx="2079614" cy="3889208"/>
          </a:xfrm>
        </p:spPr>
        <p:txBody>
          <a:bodyPr/>
          <a:lstStyle/>
          <a:p>
            <a:pPr marL="0" indent="0">
              <a:buNone/>
            </a:pPr>
            <a:r>
              <a:rPr lang="en-CA" sz="2400" b="0" dirty="0">
                <a:solidFill>
                  <a:schemeClr val="tx1"/>
                </a:solidFill>
                <a:cs typeface="Times New Roman" pitchFamily="18" charset="0"/>
              </a:rPr>
              <a:t>The more willing we are to risk a type I error, the less risk of a type II error.</a:t>
            </a:r>
          </a:p>
          <a:p>
            <a:endParaRPr lang="en-US" sz="2400" dirty="0"/>
          </a:p>
        </p:txBody>
      </p:sp>
      <p:cxnSp>
        <p:nvCxnSpPr>
          <p:cNvPr id="8" name="Straight Connector 7"/>
          <p:cNvCxnSpPr/>
          <p:nvPr/>
        </p:nvCxnSpPr>
        <p:spPr bwMode="auto">
          <a:xfrm>
            <a:off x="3501151" y="3304113"/>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rot="5400000">
            <a:off x="5222691" y="3330193"/>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p:nvPr/>
        </p:nvSpPr>
        <p:spPr>
          <a:xfrm>
            <a:off x="5012539" y="3234750"/>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11" name="Freeform 10"/>
          <p:cNvSpPr>
            <a:spLocks/>
          </p:cNvSpPr>
          <p:nvPr/>
        </p:nvSpPr>
        <p:spPr bwMode="auto">
          <a:xfrm>
            <a:off x="3882791" y="4128460"/>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12" name="Straight Connector 11"/>
          <p:cNvCxnSpPr/>
          <p:nvPr/>
        </p:nvCxnSpPr>
        <p:spPr bwMode="auto">
          <a:xfrm>
            <a:off x="3501791" y="5354010"/>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rot="5400000">
            <a:off x="5838715" y="5345319"/>
            <a:ext cx="401320" cy="508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rot="5400000">
            <a:off x="5223331" y="5380090"/>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5" name="Rectangle 14"/>
          <p:cNvSpPr/>
          <p:nvPr/>
        </p:nvSpPr>
        <p:spPr>
          <a:xfrm>
            <a:off x="5013179" y="5349227"/>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16" name="Freeform 10"/>
          <p:cNvSpPr>
            <a:spLocks/>
          </p:cNvSpPr>
          <p:nvPr/>
        </p:nvSpPr>
        <p:spPr bwMode="auto">
          <a:xfrm>
            <a:off x="4384987" y="4128460"/>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17" name="Straight Connector 16"/>
          <p:cNvCxnSpPr/>
          <p:nvPr/>
        </p:nvCxnSpPr>
        <p:spPr>
          <a:xfrm flipH="1">
            <a:off x="6043082" y="2003824"/>
            <a:ext cx="12427" cy="330614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Freeform 10"/>
          <p:cNvSpPr>
            <a:spLocks/>
          </p:cNvSpPr>
          <p:nvPr/>
        </p:nvSpPr>
        <p:spPr bwMode="auto">
          <a:xfrm>
            <a:off x="3882841" y="2087741"/>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20" name="Straight Connector 19"/>
          <p:cNvCxnSpPr/>
          <p:nvPr/>
        </p:nvCxnSpPr>
        <p:spPr bwMode="auto">
          <a:xfrm>
            <a:off x="7749623" y="3304113"/>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rot="5400000">
            <a:off x="9471163" y="3330193"/>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 name="Rectangle 21"/>
          <p:cNvSpPr/>
          <p:nvPr/>
        </p:nvSpPr>
        <p:spPr>
          <a:xfrm>
            <a:off x="9261011" y="3234750"/>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23" name="Freeform 10"/>
          <p:cNvSpPr>
            <a:spLocks/>
          </p:cNvSpPr>
          <p:nvPr/>
        </p:nvSpPr>
        <p:spPr bwMode="auto">
          <a:xfrm>
            <a:off x="8131263" y="4128460"/>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24" name="Straight Connector 23"/>
          <p:cNvCxnSpPr/>
          <p:nvPr/>
        </p:nvCxnSpPr>
        <p:spPr bwMode="auto">
          <a:xfrm>
            <a:off x="7750263" y="5354010"/>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rot="5400000">
            <a:off x="9471803" y="5380090"/>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Rectangle 26"/>
          <p:cNvSpPr/>
          <p:nvPr/>
        </p:nvSpPr>
        <p:spPr>
          <a:xfrm>
            <a:off x="9261651" y="5349227"/>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28" name="Freeform 10"/>
          <p:cNvSpPr>
            <a:spLocks/>
          </p:cNvSpPr>
          <p:nvPr/>
        </p:nvSpPr>
        <p:spPr bwMode="auto">
          <a:xfrm>
            <a:off x="8633459" y="4128460"/>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sp>
        <p:nvSpPr>
          <p:cNvPr id="30" name="Freeform 10"/>
          <p:cNvSpPr>
            <a:spLocks/>
          </p:cNvSpPr>
          <p:nvPr/>
        </p:nvSpPr>
        <p:spPr bwMode="auto">
          <a:xfrm>
            <a:off x="8131313" y="2087741"/>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31" name="Straight Connector 30"/>
          <p:cNvCxnSpPr/>
          <p:nvPr/>
        </p:nvCxnSpPr>
        <p:spPr>
          <a:xfrm>
            <a:off x="10075059" y="2003824"/>
            <a:ext cx="471" cy="323413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75245" y="1620219"/>
            <a:ext cx="1976438" cy="1200329"/>
          </a:xfrm>
          <a:prstGeom prst="rect">
            <a:avLst/>
          </a:prstGeom>
          <a:noFill/>
        </p:spPr>
        <p:txBody>
          <a:bodyPr wrap="square" rtlCol="0">
            <a:spAutoFit/>
          </a:bodyPr>
          <a:lstStyle/>
          <a:p>
            <a:r>
              <a:rPr lang="en-CA" sz="2400" i="1" dirty="0">
                <a:solidFill>
                  <a:schemeClr val="tx1"/>
                </a:solidFill>
                <a:latin typeface="+mj-lt"/>
                <a:cs typeface="Times New Roman" pitchFamily="18" charset="0"/>
              </a:rPr>
              <a:t>Type I error (</a:t>
            </a:r>
            <a:r>
              <a:rPr lang="el-GR" sz="2400" i="1" dirty="0">
                <a:solidFill>
                  <a:schemeClr val="tx1"/>
                </a:solidFill>
                <a:latin typeface="+mj-lt"/>
                <a:cs typeface="Times New Roman" pitchFamily="18" charset="0"/>
              </a:rPr>
              <a:t>α</a:t>
            </a:r>
            <a:r>
              <a:rPr lang="en-CA" sz="2400" i="1" dirty="0">
                <a:solidFill>
                  <a:schemeClr val="tx1"/>
                </a:solidFill>
                <a:latin typeface="+mj-lt"/>
                <a:cs typeface="Times New Roman" pitchFamily="18" charset="0"/>
              </a:rPr>
              <a:t>) (area in red)</a:t>
            </a:r>
            <a:endParaRPr lang="en-GB" sz="2400" i="1" dirty="0">
              <a:solidFill>
                <a:schemeClr val="tx1"/>
              </a:solidFill>
              <a:latin typeface="+mj-lt"/>
              <a:cs typeface="Times New Roman" pitchFamily="18" charset="0"/>
            </a:endParaRPr>
          </a:p>
        </p:txBody>
      </p:sp>
      <p:sp>
        <p:nvSpPr>
          <p:cNvPr id="46" name="TextBox 45"/>
          <p:cNvSpPr txBox="1"/>
          <p:nvPr/>
        </p:nvSpPr>
        <p:spPr>
          <a:xfrm>
            <a:off x="3069547" y="3933274"/>
            <a:ext cx="1976438" cy="1200329"/>
          </a:xfrm>
          <a:prstGeom prst="rect">
            <a:avLst/>
          </a:prstGeom>
          <a:noFill/>
        </p:spPr>
        <p:txBody>
          <a:bodyPr wrap="square" rtlCol="0">
            <a:spAutoFit/>
          </a:bodyPr>
          <a:lstStyle/>
          <a:p>
            <a:r>
              <a:rPr lang="en-CA" sz="2400" i="1" dirty="0">
                <a:solidFill>
                  <a:schemeClr val="tx1"/>
                </a:solidFill>
                <a:latin typeface="+mj-lt"/>
                <a:cs typeface="Times New Roman" pitchFamily="18" charset="0"/>
              </a:rPr>
              <a:t>Type II error (</a:t>
            </a:r>
            <a:r>
              <a:rPr lang="el-GR" sz="2400" dirty="0">
                <a:solidFill>
                  <a:schemeClr val="tx1"/>
                </a:solidFill>
                <a:latin typeface="+mj-lt"/>
                <a:cs typeface="Times New Roman" pitchFamily="18" charset="0"/>
              </a:rPr>
              <a:t>β</a:t>
            </a:r>
            <a:r>
              <a:rPr lang="en-CA" sz="2400" i="1" dirty="0">
                <a:solidFill>
                  <a:schemeClr val="tx1"/>
                </a:solidFill>
                <a:latin typeface="+mj-lt"/>
                <a:cs typeface="Times New Roman" pitchFamily="18" charset="0"/>
              </a:rPr>
              <a:t>)</a:t>
            </a:r>
            <a:r>
              <a:rPr lang="en-GB" sz="2400" i="1" dirty="0">
                <a:solidFill>
                  <a:schemeClr val="tx1"/>
                </a:solidFill>
                <a:latin typeface="+mj-lt"/>
                <a:cs typeface="Times New Roman" pitchFamily="18" charset="0"/>
              </a:rPr>
              <a:t> area in blue</a:t>
            </a:r>
            <a:endParaRPr lang="en-CA" sz="2400" i="1" dirty="0">
              <a:solidFill>
                <a:schemeClr val="tx1"/>
              </a:solidFill>
              <a:latin typeface="+mj-lt"/>
              <a:cs typeface="Times New Roman" pitchFamily="18" charset="0"/>
            </a:endParaRPr>
          </a:p>
        </p:txBody>
      </p:sp>
      <p:grpSp>
        <p:nvGrpSpPr>
          <p:cNvPr id="50" name="Group 49"/>
          <p:cNvGrpSpPr/>
          <p:nvPr/>
        </p:nvGrpSpPr>
        <p:grpSpPr>
          <a:xfrm>
            <a:off x="5959608" y="1943383"/>
            <a:ext cx="1372412" cy="946250"/>
            <a:chOff x="4610957" y="2254920"/>
            <a:chExt cx="1372412" cy="946250"/>
          </a:xfrm>
        </p:grpSpPr>
        <p:sp>
          <p:nvSpPr>
            <p:cNvPr id="19" name="TextBox 18"/>
            <p:cNvSpPr txBox="1"/>
            <p:nvPr/>
          </p:nvSpPr>
          <p:spPr>
            <a:xfrm>
              <a:off x="4610957" y="2435657"/>
              <a:ext cx="1280242" cy="584775"/>
            </a:xfrm>
            <a:prstGeom prst="rect">
              <a:avLst/>
            </a:prstGeom>
            <a:noFill/>
          </p:spPr>
          <p:txBody>
            <a:bodyPr wrap="square" rtlCol="0">
              <a:spAutoFit/>
            </a:bodyPr>
            <a:lstStyle/>
            <a:p>
              <a:pPr algn="ctr"/>
              <a:r>
                <a:rPr lang="en-CA" sz="1600" dirty="0">
                  <a:solidFill>
                    <a:schemeClr val="tx1"/>
                  </a:solidFill>
                  <a:latin typeface="+mj-lt"/>
                  <a:cs typeface="Times New Roman" pitchFamily="18" charset="0"/>
                </a:rPr>
                <a:t>Rejection Region (</a:t>
              </a:r>
              <a:r>
                <a:rPr lang="el-GR" sz="1600" dirty="0">
                  <a:solidFill>
                    <a:schemeClr val="tx1"/>
                  </a:solidFill>
                  <a:latin typeface="+mj-lt"/>
                  <a:cs typeface="Times New Roman" pitchFamily="18" charset="0"/>
                </a:rPr>
                <a:t>α</a:t>
              </a:r>
              <a:r>
                <a:rPr lang="en-CA" sz="1600" dirty="0">
                  <a:solidFill>
                    <a:schemeClr val="tx1"/>
                  </a:solidFill>
                  <a:latin typeface="+mj-lt"/>
                  <a:cs typeface="Times New Roman" pitchFamily="18" charset="0"/>
                </a:rPr>
                <a:t>)</a:t>
              </a:r>
              <a:endParaRPr lang="en-GB" sz="1600" dirty="0">
                <a:solidFill>
                  <a:schemeClr val="tx1"/>
                </a:solidFill>
                <a:latin typeface="+mj-lt"/>
                <a:cs typeface="Times New Roman" pitchFamily="18" charset="0"/>
              </a:endParaRPr>
            </a:p>
          </p:txBody>
        </p:sp>
        <p:sp>
          <p:nvSpPr>
            <p:cNvPr id="34" name="Right Arrow 33"/>
            <p:cNvSpPr/>
            <p:nvPr/>
          </p:nvSpPr>
          <p:spPr>
            <a:xfrm>
              <a:off x="4703681" y="2254920"/>
              <a:ext cx="1279688" cy="946250"/>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grpSp>
      <p:sp>
        <p:nvSpPr>
          <p:cNvPr id="3" name="Rectangle 2"/>
          <p:cNvSpPr/>
          <p:nvPr/>
        </p:nvSpPr>
        <p:spPr>
          <a:xfrm>
            <a:off x="3069547" y="1633666"/>
            <a:ext cx="8627966" cy="2013894"/>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useBgFill="1">
        <p:nvSpPr>
          <p:cNvPr id="25" name="Rectangle 24"/>
          <p:cNvSpPr/>
          <p:nvPr/>
        </p:nvSpPr>
        <p:spPr>
          <a:xfrm>
            <a:off x="6186302" y="1448999"/>
            <a:ext cx="2453429" cy="400110"/>
          </a:xfrm>
          <a:prstGeom prst="rect">
            <a:avLst/>
          </a:prstGeom>
          <a:ln>
            <a:solidFill>
              <a:schemeClr val="tx1"/>
            </a:solidFill>
          </a:ln>
        </p:spPr>
        <p:txBody>
          <a:bodyPr wrap="none">
            <a:spAutoFit/>
          </a:bodyPr>
          <a:lstStyle/>
          <a:p>
            <a:r>
              <a:rPr lang="en-CA" sz="2000" dirty="0">
                <a:solidFill>
                  <a:schemeClr val="tx1"/>
                </a:solidFill>
                <a:latin typeface="+mj-lt"/>
                <a:cs typeface="Times New Roman" pitchFamily="18" charset="0"/>
              </a:rPr>
              <a:t>Given the Null is True</a:t>
            </a:r>
            <a:endParaRPr lang="en-US" sz="2000" dirty="0">
              <a:solidFill>
                <a:schemeClr val="tx1"/>
              </a:solidFill>
              <a:latin typeface="+mj-lt"/>
            </a:endParaRPr>
          </a:p>
        </p:txBody>
      </p:sp>
      <p:sp>
        <p:nvSpPr>
          <p:cNvPr id="51" name="Rectangle 50"/>
          <p:cNvSpPr/>
          <p:nvPr/>
        </p:nvSpPr>
        <p:spPr>
          <a:xfrm>
            <a:off x="3066648" y="3919666"/>
            <a:ext cx="8627966" cy="1846260"/>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grpSp>
        <p:nvGrpSpPr>
          <p:cNvPr id="54" name="Group 53"/>
          <p:cNvGrpSpPr/>
          <p:nvPr/>
        </p:nvGrpSpPr>
        <p:grpSpPr>
          <a:xfrm>
            <a:off x="9987279" y="1943382"/>
            <a:ext cx="1710234" cy="946250"/>
            <a:chOff x="4610957" y="2254920"/>
            <a:chExt cx="1372412" cy="946250"/>
          </a:xfrm>
        </p:grpSpPr>
        <p:sp>
          <p:nvSpPr>
            <p:cNvPr id="55" name="TextBox 54"/>
            <p:cNvSpPr txBox="1"/>
            <p:nvPr/>
          </p:nvSpPr>
          <p:spPr>
            <a:xfrm>
              <a:off x="4610957" y="2435657"/>
              <a:ext cx="1280242" cy="584775"/>
            </a:xfrm>
            <a:prstGeom prst="rect">
              <a:avLst/>
            </a:prstGeom>
            <a:noFill/>
          </p:spPr>
          <p:txBody>
            <a:bodyPr wrap="square" rtlCol="0">
              <a:spAutoFit/>
            </a:bodyPr>
            <a:lstStyle/>
            <a:p>
              <a:pPr algn="ctr"/>
              <a:r>
                <a:rPr lang="en-CA" sz="1600" dirty="0">
                  <a:solidFill>
                    <a:schemeClr val="tx1"/>
                  </a:solidFill>
                  <a:latin typeface="+mj-lt"/>
                  <a:cs typeface="Times New Roman" pitchFamily="18" charset="0"/>
                </a:rPr>
                <a:t>Rejection Region</a:t>
              </a:r>
              <a:r>
                <a:rPr lang="en-CA" sz="100" dirty="0">
                  <a:solidFill>
                    <a:schemeClr val="tx1"/>
                  </a:solidFill>
                  <a:latin typeface="+mj-lt"/>
                  <a:cs typeface="Times New Roman" pitchFamily="18" charset="0"/>
                </a:rPr>
                <a:t> </a:t>
              </a:r>
              <a:r>
                <a:rPr lang="en-CA" sz="1600" dirty="0">
                  <a:solidFill>
                    <a:schemeClr val="tx1"/>
                  </a:solidFill>
                  <a:latin typeface="+mj-lt"/>
                  <a:cs typeface="Times New Roman" pitchFamily="18" charset="0"/>
                </a:rPr>
                <a:t>(larger</a:t>
              </a:r>
              <a:r>
                <a:rPr lang="en-CA" sz="800" dirty="0">
                  <a:solidFill>
                    <a:schemeClr val="tx1"/>
                  </a:solidFill>
                  <a:latin typeface="+mj-lt"/>
                  <a:cs typeface="Times New Roman" pitchFamily="18" charset="0"/>
                </a:rPr>
                <a:t> </a:t>
              </a:r>
              <a:r>
                <a:rPr lang="el-GR" sz="1600" dirty="0">
                  <a:solidFill>
                    <a:schemeClr val="tx1"/>
                  </a:solidFill>
                  <a:latin typeface="+mj-lt"/>
                  <a:cs typeface="Times New Roman" pitchFamily="18" charset="0"/>
                </a:rPr>
                <a:t>α</a:t>
              </a:r>
              <a:r>
                <a:rPr lang="en-CA" sz="1600" dirty="0">
                  <a:solidFill>
                    <a:schemeClr val="tx1"/>
                  </a:solidFill>
                  <a:latin typeface="+mj-lt"/>
                  <a:cs typeface="Times New Roman" pitchFamily="18" charset="0"/>
                </a:rPr>
                <a:t>)</a:t>
              </a:r>
              <a:endParaRPr lang="en-GB" sz="1600" dirty="0">
                <a:solidFill>
                  <a:schemeClr val="tx1"/>
                </a:solidFill>
                <a:latin typeface="+mj-lt"/>
                <a:cs typeface="Times New Roman" pitchFamily="18" charset="0"/>
              </a:endParaRPr>
            </a:p>
          </p:txBody>
        </p:sp>
        <p:sp>
          <p:nvSpPr>
            <p:cNvPr id="56" name="Right Arrow 55"/>
            <p:cNvSpPr/>
            <p:nvPr/>
          </p:nvSpPr>
          <p:spPr>
            <a:xfrm>
              <a:off x="4703681" y="2254920"/>
              <a:ext cx="1279688" cy="946250"/>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grpSp>
      <p:sp useBgFill="1">
        <p:nvSpPr>
          <p:cNvPr id="52" name="Rectangle 51"/>
          <p:cNvSpPr/>
          <p:nvPr/>
        </p:nvSpPr>
        <p:spPr>
          <a:xfrm>
            <a:off x="6341920" y="3705731"/>
            <a:ext cx="2098908" cy="400110"/>
          </a:xfrm>
          <a:prstGeom prst="rect">
            <a:avLst/>
          </a:prstGeom>
          <a:ln>
            <a:solidFill>
              <a:schemeClr val="tx1"/>
            </a:solidFill>
          </a:ln>
        </p:spPr>
        <p:txBody>
          <a:bodyPr wrap="none">
            <a:spAutoFit/>
          </a:bodyPr>
          <a:lstStyle/>
          <a:p>
            <a:r>
              <a:rPr lang="en-CA" sz="2000" dirty="0">
                <a:solidFill>
                  <a:schemeClr val="tx1"/>
                </a:solidFill>
                <a:latin typeface="+mj-lt"/>
                <a:cs typeface="Times New Roman" pitchFamily="18" charset="0"/>
              </a:rPr>
              <a:t>Given Null is False</a:t>
            </a:r>
            <a:endParaRPr lang="en-US" sz="2000" dirty="0">
              <a:solidFill>
                <a:schemeClr val="tx1"/>
              </a:solidFill>
              <a:latin typeface="+mj-lt"/>
              <a:cs typeface="Times New Roman" pitchFamily="18" charset="0"/>
            </a:endParaRPr>
          </a:p>
        </p:txBody>
      </p:sp>
    </p:spTree>
    <p:extLst>
      <p:ext uri="{BB962C8B-B14F-4D97-AF65-F5344CB8AC3E}">
        <p14:creationId xmlns:p14="http://schemas.microsoft.com/office/powerpoint/2010/main" val="1941824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Freeform 30"/>
          <p:cNvSpPr/>
          <p:nvPr/>
        </p:nvSpPr>
        <p:spPr>
          <a:xfrm>
            <a:off x="6901680" y="4911933"/>
            <a:ext cx="1914525" cy="917619"/>
          </a:xfrm>
          <a:custGeom>
            <a:avLst/>
            <a:gdLst>
              <a:gd name="connsiteX0" fmla="*/ 1914525 w 1914525"/>
              <a:gd name="connsiteY0" fmla="*/ 1190625 h 1190625"/>
              <a:gd name="connsiteX1" fmla="*/ 2381 w 1914525"/>
              <a:gd name="connsiteY1" fmla="*/ 1190625 h 1190625"/>
              <a:gd name="connsiteX2" fmla="*/ 0 w 1914525"/>
              <a:gd name="connsiteY2" fmla="*/ 1026319 h 1190625"/>
              <a:gd name="connsiteX3" fmla="*/ 102394 w 1914525"/>
              <a:gd name="connsiteY3" fmla="*/ 933450 h 1190625"/>
              <a:gd name="connsiteX4" fmla="*/ 216694 w 1914525"/>
              <a:gd name="connsiteY4" fmla="*/ 762000 h 1190625"/>
              <a:gd name="connsiteX5" fmla="*/ 290512 w 1914525"/>
              <a:gd name="connsiteY5" fmla="*/ 616744 h 1190625"/>
              <a:gd name="connsiteX6" fmla="*/ 383381 w 1914525"/>
              <a:gd name="connsiteY6" fmla="*/ 423863 h 1190625"/>
              <a:gd name="connsiteX7" fmla="*/ 461962 w 1914525"/>
              <a:gd name="connsiteY7" fmla="*/ 276225 h 1190625"/>
              <a:gd name="connsiteX8" fmla="*/ 545306 w 1914525"/>
              <a:gd name="connsiteY8" fmla="*/ 130969 h 1190625"/>
              <a:gd name="connsiteX9" fmla="*/ 628650 w 1914525"/>
              <a:gd name="connsiteY9" fmla="*/ 33338 h 1190625"/>
              <a:gd name="connsiteX10" fmla="*/ 707231 w 1914525"/>
              <a:gd name="connsiteY10" fmla="*/ 0 h 1190625"/>
              <a:gd name="connsiteX11" fmla="*/ 766762 w 1914525"/>
              <a:gd name="connsiteY11" fmla="*/ 16669 h 1190625"/>
              <a:gd name="connsiteX12" fmla="*/ 845344 w 1914525"/>
              <a:gd name="connsiteY12" fmla="*/ 95250 h 1190625"/>
              <a:gd name="connsiteX13" fmla="*/ 923925 w 1914525"/>
              <a:gd name="connsiteY13" fmla="*/ 209550 h 1190625"/>
              <a:gd name="connsiteX14" fmla="*/ 1012031 w 1914525"/>
              <a:gd name="connsiteY14" fmla="*/ 392907 h 1190625"/>
              <a:gd name="connsiteX15" fmla="*/ 1104900 w 1914525"/>
              <a:gd name="connsiteY15" fmla="*/ 581025 h 1190625"/>
              <a:gd name="connsiteX16" fmla="*/ 1235869 w 1914525"/>
              <a:gd name="connsiteY16" fmla="*/ 819150 h 1190625"/>
              <a:gd name="connsiteX17" fmla="*/ 1369219 w 1914525"/>
              <a:gd name="connsiteY17" fmla="*/ 1000125 h 1190625"/>
              <a:gd name="connsiteX18" fmla="*/ 1493044 w 1914525"/>
              <a:gd name="connsiteY18" fmla="*/ 1102519 h 1190625"/>
              <a:gd name="connsiteX19" fmla="*/ 1681162 w 1914525"/>
              <a:gd name="connsiteY19" fmla="*/ 1157288 h 1190625"/>
              <a:gd name="connsiteX20" fmla="*/ 1914525 w 1914525"/>
              <a:gd name="connsiteY20" fmla="*/ 1190625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14525" h="1190625">
                <a:moveTo>
                  <a:pt x="1914525" y="1190625"/>
                </a:moveTo>
                <a:lnTo>
                  <a:pt x="2381" y="1190625"/>
                </a:lnTo>
                <a:cubicBezTo>
                  <a:pt x="1587" y="1135856"/>
                  <a:pt x="794" y="1081088"/>
                  <a:pt x="0" y="1026319"/>
                </a:cubicBezTo>
                <a:lnTo>
                  <a:pt x="102394" y="933450"/>
                </a:lnTo>
                <a:lnTo>
                  <a:pt x="216694" y="762000"/>
                </a:lnTo>
                <a:lnTo>
                  <a:pt x="290512" y="616744"/>
                </a:lnTo>
                <a:lnTo>
                  <a:pt x="383381" y="423863"/>
                </a:lnTo>
                <a:lnTo>
                  <a:pt x="461962" y="276225"/>
                </a:lnTo>
                <a:lnTo>
                  <a:pt x="545306" y="130969"/>
                </a:lnTo>
                <a:lnTo>
                  <a:pt x="628650" y="33338"/>
                </a:lnTo>
                <a:lnTo>
                  <a:pt x="707231" y="0"/>
                </a:lnTo>
                <a:lnTo>
                  <a:pt x="766762" y="16669"/>
                </a:lnTo>
                <a:lnTo>
                  <a:pt x="845344" y="95250"/>
                </a:lnTo>
                <a:lnTo>
                  <a:pt x="923925" y="209550"/>
                </a:lnTo>
                <a:lnTo>
                  <a:pt x="1012031" y="392907"/>
                </a:lnTo>
                <a:lnTo>
                  <a:pt x="1104900" y="581025"/>
                </a:lnTo>
                <a:lnTo>
                  <a:pt x="1235869" y="819150"/>
                </a:lnTo>
                <a:lnTo>
                  <a:pt x="1369219" y="1000125"/>
                </a:lnTo>
                <a:lnTo>
                  <a:pt x="1493044" y="1102519"/>
                </a:lnTo>
                <a:lnTo>
                  <a:pt x="1681162" y="1157288"/>
                </a:lnTo>
                <a:lnTo>
                  <a:pt x="1914525" y="1190625"/>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3" name="Freeform 32"/>
          <p:cNvSpPr/>
          <p:nvPr/>
        </p:nvSpPr>
        <p:spPr>
          <a:xfrm>
            <a:off x="6434290" y="5716839"/>
            <a:ext cx="466725" cy="124796"/>
          </a:xfrm>
          <a:custGeom>
            <a:avLst/>
            <a:gdLst>
              <a:gd name="connsiteX0" fmla="*/ 466725 w 466725"/>
              <a:gd name="connsiteY0" fmla="*/ 161925 h 161925"/>
              <a:gd name="connsiteX1" fmla="*/ 466725 w 466725"/>
              <a:gd name="connsiteY1" fmla="*/ 0 h 161925"/>
              <a:gd name="connsiteX2" fmla="*/ 330200 w 466725"/>
              <a:gd name="connsiteY2" fmla="*/ 98425 h 161925"/>
              <a:gd name="connsiteX3" fmla="*/ 200025 w 466725"/>
              <a:gd name="connsiteY3" fmla="*/ 127000 h 161925"/>
              <a:gd name="connsiteX4" fmla="*/ 0 w 466725"/>
              <a:gd name="connsiteY4" fmla="*/ 133350 h 161925"/>
              <a:gd name="connsiteX5" fmla="*/ 9525 w 466725"/>
              <a:gd name="connsiteY5" fmla="*/ 149225 h 161925"/>
              <a:gd name="connsiteX6" fmla="*/ 466725 w 466725"/>
              <a:gd name="connsiteY6" fmla="*/ 1619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725" h="161925">
                <a:moveTo>
                  <a:pt x="466725" y="161925"/>
                </a:moveTo>
                <a:lnTo>
                  <a:pt x="466725" y="0"/>
                </a:lnTo>
                <a:lnTo>
                  <a:pt x="330200" y="98425"/>
                </a:lnTo>
                <a:lnTo>
                  <a:pt x="200025" y="127000"/>
                </a:lnTo>
                <a:lnTo>
                  <a:pt x="0" y="133350"/>
                </a:lnTo>
                <a:lnTo>
                  <a:pt x="9525" y="149225"/>
                </a:lnTo>
                <a:lnTo>
                  <a:pt x="466725" y="161925"/>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2" name="Freeform 31"/>
          <p:cNvSpPr/>
          <p:nvPr/>
        </p:nvSpPr>
        <p:spPr>
          <a:xfrm>
            <a:off x="5262715" y="3403175"/>
            <a:ext cx="1641475" cy="977900"/>
          </a:xfrm>
          <a:custGeom>
            <a:avLst/>
            <a:gdLst>
              <a:gd name="connsiteX0" fmla="*/ 0 w 1641475"/>
              <a:gd name="connsiteY0" fmla="*/ 1206500 h 1206500"/>
              <a:gd name="connsiteX1" fmla="*/ 1641475 w 1641475"/>
              <a:gd name="connsiteY1" fmla="*/ 1206500 h 1206500"/>
              <a:gd name="connsiteX2" fmla="*/ 1638300 w 1641475"/>
              <a:gd name="connsiteY2" fmla="*/ 288925 h 1206500"/>
              <a:gd name="connsiteX3" fmla="*/ 1568450 w 1641475"/>
              <a:gd name="connsiteY3" fmla="*/ 165100 h 1206500"/>
              <a:gd name="connsiteX4" fmla="*/ 1485900 w 1641475"/>
              <a:gd name="connsiteY4" fmla="*/ 57150 h 1206500"/>
              <a:gd name="connsiteX5" fmla="*/ 1428750 w 1641475"/>
              <a:gd name="connsiteY5" fmla="*/ 12700 h 1206500"/>
              <a:gd name="connsiteX6" fmla="*/ 1362075 w 1641475"/>
              <a:gd name="connsiteY6" fmla="*/ 0 h 1206500"/>
              <a:gd name="connsiteX7" fmla="*/ 1273175 w 1641475"/>
              <a:gd name="connsiteY7" fmla="*/ 53975 h 1206500"/>
              <a:gd name="connsiteX8" fmla="*/ 1196975 w 1641475"/>
              <a:gd name="connsiteY8" fmla="*/ 171450 h 1206500"/>
              <a:gd name="connsiteX9" fmla="*/ 1101725 w 1641475"/>
              <a:gd name="connsiteY9" fmla="*/ 352425 h 1206500"/>
              <a:gd name="connsiteX10" fmla="*/ 984250 w 1641475"/>
              <a:gd name="connsiteY10" fmla="*/ 600075 h 1206500"/>
              <a:gd name="connsiteX11" fmla="*/ 860425 w 1641475"/>
              <a:gd name="connsiteY11" fmla="*/ 819150 h 1206500"/>
              <a:gd name="connsiteX12" fmla="*/ 711200 w 1641475"/>
              <a:gd name="connsiteY12" fmla="*/ 1016000 h 1206500"/>
              <a:gd name="connsiteX13" fmla="*/ 549275 w 1641475"/>
              <a:gd name="connsiteY13" fmla="*/ 1123950 h 1206500"/>
              <a:gd name="connsiteX14" fmla="*/ 368300 w 1641475"/>
              <a:gd name="connsiteY14" fmla="*/ 1168400 h 1206500"/>
              <a:gd name="connsiteX15" fmla="*/ 155575 w 1641475"/>
              <a:gd name="connsiteY15" fmla="*/ 1177925 h 1206500"/>
              <a:gd name="connsiteX16" fmla="*/ 0 w 1641475"/>
              <a:gd name="connsiteY16" fmla="*/ 12065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41475" h="1206500">
                <a:moveTo>
                  <a:pt x="0" y="1206500"/>
                </a:moveTo>
                <a:lnTo>
                  <a:pt x="1641475" y="1206500"/>
                </a:lnTo>
                <a:cubicBezTo>
                  <a:pt x="1640417" y="900642"/>
                  <a:pt x="1639358" y="594783"/>
                  <a:pt x="1638300" y="288925"/>
                </a:cubicBezTo>
                <a:lnTo>
                  <a:pt x="1568450" y="165100"/>
                </a:lnTo>
                <a:lnTo>
                  <a:pt x="1485900" y="57150"/>
                </a:lnTo>
                <a:lnTo>
                  <a:pt x="1428750" y="12700"/>
                </a:lnTo>
                <a:lnTo>
                  <a:pt x="1362075" y="0"/>
                </a:lnTo>
                <a:lnTo>
                  <a:pt x="1273175" y="53975"/>
                </a:lnTo>
                <a:lnTo>
                  <a:pt x="1196975" y="171450"/>
                </a:lnTo>
                <a:lnTo>
                  <a:pt x="1101725" y="352425"/>
                </a:lnTo>
                <a:lnTo>
                  <a:pt x="984250" y="600075"/>
                </a:lnTo>
                <a:lnTo>
                  <a:pt x="860425" y="819150"/>
                </a:lnTo>
                <a:lnTo>
                  <a:pt x="711200" y="1016000"/>
                </a:lnTo>
                <a:lnTo>
                  <a:pt x="549275" y="1123950"/>
                </a:lnTo>
                <a:lnTo>
                  <a:pt x="368300" y="1168400"/>
                </a:lnTo>
                <a:lnTo>
                  <a:pt x="155575" y="1177925"/>
                </a:lnTo>
                <a:lnTo>
                  <a:pt x="0" y="1206500"/>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35" name="Freeform 34"/>
          <p:cNvSpPr/>
          <p:nvPr/>
        </p:nvSpPr>
        <p:spPr>
          <a:xfrm>
            <a:off x="4811071" y="1769000"/>
            <a:ext cx="2093119" cy="1045370"/>
          </a:xfrm>
          <a:custGeom>
            <a:avLst/>
            <a:gdLst>
              <a:gd name="connsiteX0" fmla="*/ 0 w 2093119"/>
              <a:gd name="connsiteY0" fmla="*/ 1209675 h 1209675"/>
              <a:gd name="connsiteX1" fmla="*/ 2090738 w 2093119"/>
              <a:gd name="connsiteY1" fmla="*/ 1209675 h 1209675"/>
              <a:gd name="connsiteX2" fmla="*/ 2093119 w 2093119"/>
              <a:gd name="connsiteY2" fmla="*/ 1078706 h 1209675"/>
              <a:gd name="connsiteX3" fmla="*/ 1964532 w 2093119"/>
              <a:gd name="connsiteY3" fmla="*/ 964406 h 1209675"/>
              <a:gd name="connsiteX4" fmla="*/ 1850232 w 2093119"/>
              <a:gd name="connsiteY4" fmla="*/ 790575 h 1209675"/>
              <a:gd name="connsiteX5" fmla="*/ 1724025 w 2093119"/>
              <a:gd name="connsiteY5" fmla="*/ 545306 h 1209675"/>
              <a:gd name="connsiteX6" fmla="*/ 1609725 w 2093119"/>
              <a:gd name="connsiteY6" fmla="*/ 340519 h 1209675"/>
              <a:gd name="connsiteX7" fmla="*/ 1490663 w 2093119"/>
              <a:gd name="connsiteY7" fmla="*/ 123825 h 1209675"/>
              <a:gd name="connsiteX8" fmla="*/ 1376363 w 2093119"/>
              <a:gd name="connsiteY8" fmla="*/ 9525 h 1209675"/>
              <a:gd name="connsiteX9" fmla="*/ 1309688 w 2093119"/>
              <a:gd name="connsiteY9" fmla="*/ 0 h 1209675"/>
              <a:gd name="connsiteX10" fmla="*/ 1221582 w 2093119"/>
              <a:gd name="connsiteY10" fmla="*/ 54769 h 1209675"/>
              <a:gd name="connsiteX11" fmla="*/ 1116807 w 2093119"/>
              <a:gd name="connsiteY11" fmla="*/ 204787 h 1209675"/>
              <a:gd name="connsiteX12" fmla="*/ 1026319 w 2093119"/>
              <a:gd name="connsiteY12" fmla="*/ 397669 h 1209675"/>
              <a:gd name="connsiteX13" fmla="*/ 850107 w 2093119"/>
              <a:gd name="connsiteY13" fmla="*/ 745331 h 1209675"/>
              <a:gd name="connsiteX14" fmla="*/ 652463 w 2093119"/>
              <a:gd name="connsiteY14" fmla="*/ 1012031 h 1209675"/>
              <a:gd name="connsiteX15" fmla="*/ 511969 w 2093119"/>
              <a:gd name="connsiteY15" fmla="*/ 1121569 h 1209675"/>
              <a:gd name="connsiteX16" fmla="*/ 257175 w 2093119"/>
              <a:gd name="connsiteY16" fmla="*/ 1178719 h 1209675"/>
              <a:gd name="connsiteX17" fmla="*/ 0 w 2093119"/>
              <a:gd name="connsiteY17" fmla="*/ 1209675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93119" h="1209675">
                <a:moveTo>
                  <a:pt x="0" y="1209675"/>
                </a:moveTo>
                <a:lnTo>
                  <a:pt x="2090738" y="1209675"/>
                </a:lnTo>
                <a:cubicBezTo>
                  <a:pt x="2091532" y="1166019"/>
                  <a:pt x="2092325" y="1122362"/>
                  <a:pt x="2093119" y="1078706"/>
                </a:cubicBezTo>
                <a:lnTo>
                  <a:pt x="1964532" y="964406"/>
                </a:lnTo>
                <a:lnTo>
                  <a:pt x="1850232" y="790575"/>
                </a:lnTo>
                <a:lnTo>
                  <a:pt x="1724025" y="545306"/>
                </a:lnTo>
                <a:lnTo>
                  <a:pt x="1609725" y="340519"/>
                </a:lnTo>
                <a:lnTo>
                  <a:pt x="1490663" y="123825"/>
                </a:lnTo>
                <a:lnTo>
                  <a:pt x="1376363" y="9525"/>
                </a:lnTo>
                <a:lnTo>
                  <a:pt x="1309688" y="0"/>
                </a:lnTo>
                <a:lnTo>
                  <a:pt x="1221582" y="54769"/>
                </a:lnTo>
                <a:lnTo>
                  <a:pt x="1116807" y="204787"/>
                </a:lnTo>
                <a:lnTo>
                  <a:pt x="1026319" y="397669"/>
                </a:lnTo>
                <a:lnTo>
                  <a:pt x="850107" y="745331"/>
                </a:lnTo>
                <a:lnTo>
                  <a:pt x="652463" y="1012031"/>
                </a:lnTo>
                <a:lnTo>
                  <a:pt x="511969" y="1121569"/>
                </a:lnTo>
                <a:lnTo>
                  <a:pt x="257175" y="1178719"/>
                </a:lnTo>
                <a:lnTo>
                  <a:pt x="0" y="1209675"/>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17410" name="Rectangle 2"/>
          <p:cNvSpPr>
            <a:spLocks noGrp="1" noChangeArrowheads="1"/>
          </p:cNvSpPr>
          <p:nvPr>
            <p:ph type="title"/>
          </p:nvPr>
        </p:nvSpPr>
        <p:spPr>
          <a:xfrm>
            <a:off x="838200" y="311995"/>
            <a:ext cx="9401269" cy="937444"/>
          </a:xfrm>
        </p:spPr>
        <p:txBody>
          <a:bodyPr/>
          <a:lstStyle/>
          <a:p>
            <a:r>
              <a:rPr lang="en-CA" dirty="0"/>
              <a:t>Tests and Errors</a:t>
            </a:r>
          </a:p>
        </p:txBody>
      </p:sp>
      <p:sp>
        <p:nvSpPr>
          <p:cNvPr id="3" name="Content Placeholder 2">
            <a:extLst>
              <a:ext uri="{FF2B5EF4-FFF2-40B4-BE49-F238E27FC236}">
                <a16:creationId xmlns:a16="http://schemas.microsoft.com/office/drawing/2014/main" id="{46DD209D-E0C1-4CA1-BF2F-B60A6673F675}"/>
              </a:ext>
            </a:extLst>
          </p:cNvPr>
          <p:cNvSpPr>
            <a:spLocks noGrp="1"/>
          </p:cNvSpPr>
          <p:nvPr>
            <p:ph idx="1"/>
          </p:nvPr>
        </p:nvSpPr>
        <p:spPr>
          <a:xfrm>
            <a:off x="838201" y="1862659"/>
            <a:ext cx="2945768" cy="3889208"/>
          </a:xfrm>
        </p:spPr>
        <p:txBody>
          <a:bodyPr/>
          <a:lstStyle/>
          <a:p>
            <a:pPr marL="0" indent="0">
              <a:buNone/>
            </a:pPr>
            <a:r>
              <a:rPr lang="en-CA" sz="2400" b="0" dirty="0">
                <a:solidFill>
                  <a:schemeClr val="tx1"/>
                </a:solidFill>
                <a:cs typeface="Times New Roman" pitchFamily="18" charset="0"/>
              </a:rPr>
              <a:t>The further the true parameter value is from that assumed by the null, the smaller the probability of a type II error.</a:t>
            </a:r>
          </a:p>
          <a:p>
            <a:endParaRPr lang="en-US" sz="2400" dirty="0"/>
          </a:p>
        </p:txBody>
      </p:sp>
      <p:sp>
        <p:nvSpPr>
          <p:cNvPr id="8" name="Freeform 7"/>
          <p:cNvSpPr/>
          <p:nvPr/>
        </p:nvSpPr>
        <p:spPr>
          <a:xfrm>
            <a:off x="6912469" y="3707975"/>
            <a:ext cx="1081088" cy="678206"/>
          </a:xfrm>
          <a:custGeom>
            <a:avLst/>
            <a:gdLst>
              <a:gd name="connsiteX0" fmla="*/ 0 w 1081088"/>
              <a:gd name="connsiteY0" fmla="*/ 0 h 888206"/>
              <a:gd name="connsiteX1" fmla="*/ 0 w 1081088"/>
              <a:gd name="connsiteY1" fmla="*/ 881062 h 888206"/>
              <a:gd name="connsiteX2" fmla="*/ 1081088 w 1081088"/>
              <a:gd name="connsiteY2" fmla="*/ 888206 h 888206"/>
              <a:gd name="connsiteX3" fmla="*/ 1073944 w 1081088"/>
              <a:gd name="connsiteY3" fmla="*/ 852487 h 888206"/>
              <a:gd name="connsiteX4" fmla="*/ 895350 w 1081088"/>
              <a:gd name="connsiteY4" fmla="*/ 854869 h 888206"/>
              <a:gd name="connsiteX5" fmla="*/ 792956 w 1081088"/>
              <a:gd name="connsiteY5" fmla="*/ 850106 h 888206"/>
              <a:gd name="connsiteX6" fmla="*/ 647700 w 1081088"/>
              <a:gd name="connsiteY6" fmla="*/ 821531 h 888206"/>
              <a:gd name="connsiteX7" fmla="*/ 521494 w 1081088"/>
              <a:gd name="connsiteY7" fmla="*/ 776287 h 888206"/>
              <a:gd name="connsiteX8" fmla="*/ 383381 w 1081088"/>
              <a:gd name="connsiteY8" fmla="*/ 654844 h 888206"/>
              <a:gd name="connsiteX9" fmla="*/ 230981 w 1081088"/>
              <a:gd name="connsiteY9" fmla="*/ 431006 h 888206"/>
              <a:gd name="connsiteX10" fmla="*/ 83344 w 1081088"/>
              <a:gd name="connsiteY10" fmla="*/ 130969 h 888206"/>
              <a:gd name="connsiteX11" fmla="*/ 0 w 1081088"/>
              <a:gd name="connsiteY11" fmla="*/ 0 h 8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1088" h="888206">
                <a:moveTo>
                  <a:pt x="0" y="0"/>
                </a:moveTo>
                <a:lnTo>
                  <a:pt x="0" y="881062"/>
                </a:lnTo>
                <a:lnTo>
                  <a:pt x="1081088" y="888206"/>
                </a:lnTo>
                <a:lnTo>
                  <a:pt x="1073944" y="852487"/>
                </a:lnTo>
                <a:lnTo>
                  <a:pt x="895350" y="854869"/>
                </a:lnTo>
                <a:lnTo>
                  <a:pt x="792956" y="850106"/>
                </a:lnTo>
                <a:lnTo>
                  <a:pt x="647700" y="821531"/>
                </a:lnTo>
                <a:lnTo>
                  <a:pt x="521494" y="776287"/>
                </a:lnTo>
                <a:lnTo>
                  <a:pt x="383381" y="654844"/>
                </a:lnTo>
                <a:lnTo>
                  <a:pt x="230981" y="431006"/>
                </a:lnTo>
                <a:lnTo>
                  <a:pt x="83344" y="130969"/>
                </a:lnTo>
                <a:lnTo>
                  <a:pt x="0"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9" name="Freeform 8"/>
          <p:cNvSpPr/>
          <p:nvPr/>
        </p:nvSpPr>
        <p:spPr>
          <a:xfrm>
            <a:off x="6912256" y="2701325"/>
            <a:ext cx="621506" cy="117774"/>
          </a:xfrm>
          <a:custGeom>
            <a:avLst/>
            <a:gdLst>
              <a:gd name="connsiteX0" fmla="*/ 2381 w 621506"/>
              <a:gd name="connsiteY0" fmla="*/ 0 h 138112"/>
              <a:gd name="connsiteX1" fmla="*/ 0 w 621506"/>
              <a:gd name="connsiteY1" fmla="*/ 138112 h 138112"/>
              <a:gd name="connsiteX2" fmla="*/ 621506 w 621506"/>
              <a:gd name="connsiteY2" fmla="*/ 138112 h 138112"/>
              <a:gd name="connsiteX3" fmla="*/ 619125 w 621506"/>
              <a:gd name="connsiteY3" fmla="*/ 97631 h 138112"/>
              <a:gd name="connsiteX4" fmla="*/ 361950 w 621506"/>
              <a:gd name="connsiteY4" fmla="*/ 92869 h 138112"/>
              <a:gd name="connsiteX5" fmla="*/ 197643 w 621506"/>
              <a:gd name="connsiteY5" fmla="*/ 78581 h 138112"/>
              <a:gd name="connsiteX6" fmla="*/ 90487 w 621506"/>
              <a:gd name="connsiteY6" fmla="*/ 40481 h 138112"/>
              <a:gd name="connsiteX7" fmla="*/ 2381 w 621506"/>
              <a:gd name="connsiteY7" fmla="*/ 0 h 1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1506" h="138112">
                <a:moveTo>
                  <a:pt x="2381" y="0"/>
                </a:moveTo>
                <a:cubicBezTo>
                  <a:pt x="1587" y="46037"/>
                  <a:pt x="794" y="92075"/>
                  <a:pt x="0" y="138112"/>
                </a:cubicBezTo>
                <a:lnTo>
                  <a:pt x="621506" y="138112"/>
                </a:lnTo>
                <a:lnTo>
                  <a:pt x="619125" y="97631"/>
                </a:lnTo>
                <a:lnTo>
                  <a:pt x="361950" y="92869"/>
                </a:lnTo>
                <a:lnTo>
                  <a:pt x="197643" y="78581"/>
                </a:lnTo>
                <a:lnTo>
                  <a:pt x="90487" y="40481"/>
                </a:lnTo>
                <a:lnTo>
                  <a:pt x="2381"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cs typeface="Times New Roman" pitchFamily="18" charset="0"/>
            </a:endParaRPr>
          </a:p>
        </p:txBody>
      </p:sp>
      <p:sp>
        <p:nvSpPr>
          <p:cNvPr id="10" name="Freeform 10"/>
          <p:cNvSpPr>
            <a:spLocks/>
          </p:cNvSpPr>
          <p:nvPr/>
        </p:nvSpPr>
        <p:spPr bwMode="auto">
          <a:xfrm>
            <a:off x="4751539" y="1769001"/>
            <a:ext cx="2781300" cy="1018001"/>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11" name="Straight Connector 10"/>
          <p:cNvCxnSpPr/>
          <p:nvPr/>
        </p:nvCxnSpPr>
        <p:spPr bwMode="auto">
          <a:xfrm>
            <a:off x="4370539" y="2818752"/>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rot="5400000">
            <a:off x="6707463" y="2877296"/>
            <a:ext cx="401320" cy="508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rot="5400000">
            <a:off x="6092079" y="2844832"/>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Rectangle 13"/>
          <p:cNvSpPr/>
          <p:nvPr/>
        </p:nvSpPr>
        <p:spPr>
          <a:xfrm>
            <a:off x="5881927" y="2747914"/>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cxnSp>
        <p:nvCxnSpPr>
          <p:cNvPr id="16" name="Straight Connector 15"/>
          <p:cNvCxnSpPr/>
          <p:nvPr/>
        </p:nvCxnSpPr>
        <p:spPr bwMode="auto">
          <a:xfrm>
            <a:off x="4371179" y="4386057"/>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rot="5400000">
            <a:off x="6708103" y="4444601"/>
            <a:ext cx="401320" cy="508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rot="5400000">
            <a:off x="6092719" y="4412137"/>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Rectangle 18"/>
          <p:cNvSpPr/>
          <p:nvPr/>
        </p:nvSpPr>
        <p:spPr>
          <a:xfrm>
            <a:off x="5882567" y="4393775"/>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20" name="Freeform 10"/>
          <p:cNvSpPr>
            <a:spLocks/>
          </p:cNvSpPr>
          <p:nvPr/>
        </p:nvSpPr>
        <p:spPr bwMode="auto">
          <a:xfrm>
            <a:off x="5254375" y="3403175"/>
            <a:ext cx="2781300" cy="951132"/>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cxnSp>
        <p:nvCxnSpPr>
          <p:cNvPr id="23" name="Straight Connector 22"/>
          <p:cNvCxnSpPr/>
          <p:nvPr/>
        </p:nvCxnSpPr>
        <p:spPr>
          <a:xfrm rot="5400000">
            <a:off x="5064830" y="3990943"/>
            <a:ext cx="3672410"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4462287" y="5831337"/>
            <a:ext cx="4680520" cy="0"/>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rot="5400000">
            <a:off x="6234825" y="5881403"/>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Rectangle 26"/>
          <p:cNvSpPr/>
          <p:nvPr/>
        </p:nvSpPr>
        <p:spPr>
          <a:xfrm>
            <a:off x="6024673" y="5841575"/>
            <a:ext cx="52289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H0</a:t>
            </a:r>
            <a:endParaRPr lang="en-US" sz="2000" baseline="-25000" dirty="0">
              <a:solidFill>
                <a:schemeClr val="tx1"/>
              </a:solidFill>
              <a:latin typeface="+mj-lt"/>
              <a:cs typeface="Times New Roman" pitchFamily="18" charset="0"/>
            </a:endParaRPr>
          </a:p>
        </p:txBody>
      </p:sp>
      <p:sp>
        <p:nvSpPr>
          <p:cNvPr id="28" name="Freeform 10"/>
          <p:cNvSpPr>
            <a:spLocks/>
          </p:cNvSpPr>
          <p:nvPr/>
        </p:nvSpPr>
        <p:spPr bwMode="auto">
          <a:xfrm>
            <a:off x="6217491" y="4903507"/>
            <a:ext cx="2781300" cy="920066"/>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sp>
        <p:nvSpPr>
          <p:cNvPr id="15" name="Freeform 10"/>
          <p:cNvSpPr>
            <a:spLocks/>
          </p:cNvSpPr>
          <p:nvPr/>
        </p:nvSpPr>
        <p:spPr bwMode="auto">
          <a:xfrm>
            <a:off x="4752179" y="3403175"/>
            <a:ext cx="2781300" cy="951132"/>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sp>
        <p:nvSpPr>
          <p:cNvPr id="24" name="Freeform 10"/>
          <p:cNvSpPr>
            <a:spLocks/>
          </p:cNvSpPr>
          <p:nvPr/>
        </p:nvSpPr>
        <p:spPr bwMode="auto">
          <a:xfrm>
            <a:off x="4894285" y="4903507"/>
            <a:ext cx="2781300" cy="920066"/>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cs typeface="Times New Roman" pitchFamily="18" charset="0"/>
            </a:endParaRPr>
          </a:p>
        </p:txBody>
      </p:sp>
      <p:sp>
        <p:nvSpPr>
          <p:cNvPr id="29" name="Rectangle 28"/>
          <p:cNvSpPr/>
          <p:nvPr/>
        </p:nvSpPr>
        <p:spPr>
          <a:xfrm>
            <a:off x="6405977" y="4393775"/>
            <a:ext cx="64395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True</a:t>
            </a:r>
            <a:endParaRPr lang="en-US" sz="2000" baseline="-25000" dirty="0">
              <a:solidFill>
                <a:schemeClr val="tx1"/>
              </a:solidFill>
              <a:latin typeface="+mj-lt"/>
              <a:cs typeface="Times New Roman" pitchFamily="18" charset="0"/>
            </a:endParaRPr>
          </a:p>
        </p:txBody>
      </p:sp>
      <p:cxnSp>
        <p:nvCxnSpPr>
          <p:cNvPr id="34" name="Straight Connector 33"/>
          <p:cNvCxnSpPr/>
          <p:nvPr/>
        </p:nvCxnSpPr>
        <p:spPr bwMode="auto">
          <a:xfrm rot="5400000">
            <a:off x="6568924" y="4397816"/>
            <a:ext cx="161925" cy="144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Straight Connector 35"/>
          <p:cNvCxnSpPr/>
          <p:nvPr/>
        </p:nvCxnSpPr>
        <p:spPr bwMode="auto">
          <a:xfrm flipH="1">
            <a:off x="7620100" y="5755296"/>
            <a:ext cx="1444" cy="1619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7" name="Rectangle 36"/>
          <p:cNvSpPr/>
          <p:nvPr/>
        </p:nvSpPr>
        <p:spPr>
          <a:xfrm>
            <a:off x="7259905" y="5801234"/>
            <a:ext cx="643959" cy="400110"/>
          </a:xfrm>
          <a:prstGeom prst="rect">
            <a:avLst/>
          </a:prstGeom>
        </p:spPr>
        <p:txBody>
          <a:bodyPr wrap="none">
            <a:spAutoFit/>
          </a:bodyPr>
          <a:lstStyle/>
          <a:p>
            <a:r>
              <a:rPr lang="el-GR" sz="2000" dirty="0">
                <a:solidFill>
                  <a:schemeClr val="tx1"/>
                </a:solidFill>
                <a:latin typeface="+mj-lt"/>
                <a:cs typeface="Times New Roman" pitchFamily="18" charset="0"/>
              </a:rPr>
              <a:t>μ</a:t>
            </a:r>
            <a:r>
              <a:rPr lang="en-CA" sz="2000" baseline="-25000" dirty="0">
                <a:solidFill>
                  <a:schemeClr val="tx1"/>
                </a:solidFill>
                <a:latin typeface="+mj-lt"/>
                <a:cs typeface="Times New Roman" pitchFamily="18" charset="0"/>
              </a:rPr>
              <a:t>True</a:t>
            </a:r>
            <a:endParaRPr lang="en-US" sz="2000" baseline="-25000" dirty="0">
              <a:solidFill>
                <a:schemeClr val="tx1"/>
              </a:solidFill>
              <a:latin typeface="+mj-lt"/>
              <a:cs typeface="Times New Roman" pitchFamily="18" charset="0"/>
            </a:endParaRPr>
          </a:p>
        </p:txBody>
      </p:sp>
      <p:sp>
        <p:nvSpPr>
          <p:cNvPr id="22" name="Right Arrow 21"/>
          <p:cNvSpPr/>
          <p:nvPr/>
        </p:nvSpPr>
        <p:spPr>
          <a:xfrm>
            <a:off x="6203410" y="4276633"/>
            <a:ext cx="427534" cy="45719"/>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sp>
        <p:nvSpPr>
          <p:cNvPr id="40" name="Right Arrow 39"/>
          <p:cNvSpPr/>
          <p:nvPr/>
        </p:nvSpPr>
        <p:spPr>
          <a:xfrm>
            <a:off x="6326678" y="5732436"/>
            <a:ext cx="1281462" cy="45719"/>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sp>
        <p:nvSpPr>
          <p:cNvPr id="41" name="Rectangle 40"/>
          <p:cNvSpPr/>
          <p:nvPr/>
        </p:nvSpPr>
        <p:spPr>
          <a:xfrm>
            <a:off x="4218139" y="1488740"/>
            <a:ext cx="5126046" cy="1659284"/>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43" name="Rectangle 42"/>
          <p:cNvSpPr/>
          <p:nvPr/>
        </p:nvSpPr>
        <p:spPr>
          <a:xfrm>
            <a:off x="4218139" y="3280100"/>
            <a:ext cx="5126046" cy="2961585"/>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44" name="Rectangle 43"/>
          <p:cNvSpPr/>
          <p:nvPr/>
        </p:nvSpPr>
        <p:spPr>
          <a:xfrm>
            <a:off x="7799540" y="1488740"/>
            <a:ext cx="1544645" cy="707886"/>
          </a:xfrm>
          <a:prstGeom prst="rect">
            <a:avLst/>
          </a:prstGeom>
          <a:noFill/>
          <a:ln>
            <a:noFill/>
          </a:ln>
        </p:spPr>
        <p:txBody>
          <a:bodyPr wrap="square">
            <a:spAutoFit/>
          </a:bodyPr>
          <a:lstStyle/>
          <a:p>
            <a:pPr algn="ctr"/>
            <a:r>
              <a:rPr lang="en-CA" sz="2000" dirty="0">
                <a:solidFill>
                  <a:schemeClr val="tx1"/>
                </a:solidFill>
                <a:latin typeface="+mj-lt"/>
                <a:cs typeface="Times New Roman" pitchFamily="18" charset="0"/>
              </a:rPr>
              <a:t>Given the Null is True</a:t>
            </a:r>
            <a:endParaRPr lang="en-US" sz="2000" dirty="0">
              <a:solidFill>
                <a:schemeClr val="tx1"/>
              </a:solidFill>
              <a:latin typeface="+mj-lt"/>
            </a:endParaRPr>
          </a:p>
        </p:txBody>
      </p:sp>
      <p:sp>
        <p:nvSpPr>
          <p:cNvPr id="45" name="Rectangle 44"/>
          <p:cNvSpPr/>
          <p:nvPr/>
        </p:nvSpPr>
        <p:spPr>
          <a:xfrm>
            <a:off x="7799541" y="3280099"/>
            <a:ext cx="1544645" cy="707886"/>
          </a:xfrm>
          <a:prstGeom prst="rect">
            <a:avLst/>
          </a:prstGeom>
          <a:noFill/>
          <a:ln>
            <a:noFill/>
          </a:ln>
        </p:spPr>
        <p:txBody>
          <a:bodyPr wrap="square">
            <a:spAutoFit/>
          </a:bodyPr>
          <a:lstStyle/>
          <a:p>
            <a:pPr algn="ctr"/>
            <a:r>
              <a:rPr lang="en-CA" sz="2000" dirty="0">
                <a:solidFill>
                  <a:schemeClr val="tx1"/>
                </a:solidFill>
                <a:latin typeface="+mj-lt"/>
                <a:cs typeface="Times New Roman" pitchFamily="18" charset="0"/>
              </a:rPr>
              <a:t>Given the Null is False</a:t>
            </a:r>
            <a:endParaRPr lang="en-US" sz="2000" dirty="0">
              <a:solidFill>
                <a:schemeClr val="tx1"/>
              </a:solidFill>
              <a:latin typeface="+mj-lt"/>
            </a:endParaRPr>
          </a:p>
        </p:txBody>
      </p:sp>
    </p:spTree>
    <p:extLst>
      <p:ext uri="{BB962C8B-B14F-4D97-AF65-F5344CB8AC3E}">
        <p14:creationId xmlns:p14="http://schemas.microsoft.com/office/powerpoint/2010/main" val="13431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Freeform 30"/>
          <p:cNvSpPr/>
          <p:nvPr/>
        </p:nvSpPr>
        <p:spPr>
          <a:xfrm>
            <a:off x="4442435" y="4099717"/>
            <a:ext cx="1628775" cy="1212850"/>
          </a:xfrm>
          <a:custGeom>
            <a:avLst/>
            <a:gdLst>
              <a:gd name="connsiteX0" fmla="*/ 1628775 w 1628775"/>
              <a:gd name="connsiteY0" fmla="*/ 1209675 h 1212850"/>
              <a:gd name="connsiteX1" fmla="*/ 0 w 1628775"/>
              <a:gd name="connsiteY1" fmla="*/ 1212850 h 1212850"/>
              <a:gd name="connsiteX2" fmla="*/ 6350 w 1628775"/>
              <a:gd name="connsiteY2" fmla="*/ 1181100 h 1212850"/>
              <a:gd name="connsiteX3" fmla="*/ 263525 w 1628775"/>
              <a:gd name="connsiteY3" fmla="*/ 1174750 h 1212850"/>
              <a:gd name="connsiteX4" fmla="*/ 571500 w 1628775"/>
              <a:gd name="connsiteY4" fmla="*/ 1104900 h 1212850"/>
              <a:gd name="connsiteX5" fmla="*/ 752475 w 1628775"/>
              <a:gd name="connsiteY5" fmla="*/ 952500 h 1212850"/>
              <a:gd name="connsiteX6" fmla="*/ 889000 w 1628775"/>
              <a:gd name="connsiteY6" fmla="*/ 730250 h 1212850"/>
              <a:gd name="connsiteX7" fmla="*/ 1025525 w 1628775"/>
              <a:gd name="connsiteY7" fmla="*/ 466725 h 1212850"/>
              <a:gd name="connsiteX8" fmla="*/ 1130300 w 1628775"/>
              <a:gd name="connsiteY8" fmla="*/ 257175 h 1212850"/>
              <a:gd name="connsiteX9" fmla="*/ 1247775 w 1628775"/>
              <a:gd name="connsiteY9" fmla="*/ 73025 h 1212850"/>
              <a:gd name="connsiteX10" fmla="*/ 1349375 w 1628775"/>
              <a:gd name="connsiteY10" fmla="*/ 0 h 1212850"/>
              <a:gd name="connsiteX11" fmla="*/ 1412875 w 1628775"/>
              <a:gd name="connsiteY11" fmla="*/ 12700 h 1212850"/>
              <a:gd name="connsiteX12" fmla="*/ 1498600 w 1628775"/>
              <a:gd name="connsiteY12" fmla="*/ 76200 h 1212850"/>
              <a:gd name="connsiteX13" fmla="*/ 1597025 w 1628775"/>
              <a:gd name="connsiteY13" fmla="*/ 250825 h 1212850"/>
              <a:gd name="connsiteX14" fmla="*/ 1628775 w 1628775"/>
              <a:gd name="connsiteY14" fmla="*/ 317500 h 1212850"/>
              <a:gd name="connsiteX15" fmla="*/ 1628775 w 1628775"/>
              <a:gd name="connsiteY15" fmla="*/ 1209675 h 12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28775" h="1212850">
                <a:moveTo>
                  <a:pt x="1628775" y="1209675"/>
                </a:moveTo>
                <a:lnTo>
                  <a:pt x="0" y="1212850"/>
                </a:lnTo>
                <a:lnTo>
                  <a:pt x="6350" y="1181100"/>
                </a:lnTo>
                <a:lnTo>
                  <a:pt x="263525" y="1174750"/>
                </a:lnTo>
                <a:lnTo>
                  <a:pt x="571500" y="1104900"/>
                </a:lnTo>
                <a:lnTo>
                  <a:pt x="752475" y="952500"/>
                </a:lnTo>
                <a:lnTo>
                  <a:pt x="889000" y="730250"/>
                </a:lnTo>
                <a:lnTo>
                  <a:pt x="1025525" y="466725"/>
                </a:lnTo>
                <a:lnTo>
                  <a:pt x="1130300" y="257175"/>
                </a:lnTo>
                <a:lnTo>
                  <a:pt x="1247775" y="73025"/>
                </a:lnTo>
                <a:lnTo>
                  <a:pt x="1349375" y="0"/>
                </a:lnTo>
                <a:lnTo>
                  <a:pt x="1412875" y="12700"/>
                </a:lnTo>
                <a:lnTo>
                  <a:pt x="1498600" y="76200"/>
                </a:lnTo>
                <a:lnTo>
                  <a:pt x="1597025" y="250825"/>
                </a:lnTo>
                <a:lnTo>
                  <a:pt x="1628775" y="317500"/>
                </a:lnTo>
                <a:cubicBezTo>
                  <a:pt x="1627717" y="615950"/>
                  <a:pt x="1626658" y="914400"/>
                  <a:pt x="1628775" y="1209675"/>
                </a:cubicBez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30" name="Freeform 29"/>
          <p:cNvSpPr/>
          <p:nvPr/>
        </p:nvSpPr>
        <p:spPr>
          <a:xfrm>
            <a:off x="3994760" y="1818580"/>
            <a:ext cx="2085975" cy="1216025"/>
          </a:xfrm>
          <a:custGeom>
            <a:avLst/>
            <a:gdLst>
              <a:gd name="connsiteX0" fmla="*/ 2079625 w 2085975"/>
              <a:gd name="connsiteY0" fmla="*/ 1216025 h 1216025"/>
              <a:gd name="connsiteX1" fmla="*/ 0 w 2085975"/>
              <a:gd name="connsiteY1" fmla="*/ 1209675 h 1216025"/>
              <a:gd name="connsiteX2" fmla="*/ 0 w 2085975"/>
              <a:gd name="connsiteY2" fmla="*/ 1193800 h 1216025"/>
              <a:gd name="connsiteX3" fmla="*/ 142875 w 2085975"/>
              <a:gd name="connsiteY3" fmla="*/ 1184275 h 1216025"/>
              <a:gd name="connsiteX4" fmla="*/ 381000 w 2085975"/>
              <a:gd name="connsiteY4" fmla="*/ 1162050 h 1216025"/>
              <a:gd name="connsiteX5" fmla="*/ 571500 w 2085975"/>
              <a:gd name="connsiteY5" fmla="*/ 1089025 h 1216025"/>
              <a:gd name="connsiteX6" fmla="*/ 768350 w 2085975"/>
              <a:gd name="connsiteY6" fmla="*/ 863600 h 1216025"/>
              <a:gd name="connsiteX7" fmla="*/ 958850 w 2085975"/>
              <a:gd name="connsiteY7" fmla="*/ 495300 h 1216025"/>
              <a:gd name="connsiteX8" fmla="*/ 1108075 w 2085975"/>
              <a:gd name="connsiteY8" fmla="*/ 200025 h 1216025"/>
              <a:gd name="connsiteX9" fmla="*/ 1247775 w 2085975"/>
              <a:gd name="connsiteY9" fmla="*/ 38100 h 1216025"/>
              <a:gd name="connsiteX10" fmla="*/ 1320800 w 2085975"/>
              <a:gd name="connsiteY10" fmla="*/ 0 h 1216025"/>
              <a:gd name="connsiteX11" fmla="*/ 1384300 w 2085975"/>
              <a:gd name="connsiteY11" fmla="*/ 25400 h 1216025"/>
              <a:gd name="connsiteX12" fmla="*/ 1450975 w 2085975"/>
              <a:gd name="connsiteY12" fmla="*/ 88900 h 1216025"/>
              <a:gd name="connsiteX13" fmla="*/ 1587500 w 2085975"/>
              <a:gd name="connsiteY13" fmla="*/ 336550 h 1216025"/>
              <a:gd name="connsiteX14" fmla="*/ 1689100 w 2085975"/>
              <a:gd name="connsiteY14" fmla="*/ 565150 h 1216025"/>
              <a:gd name="connsiteX15" fmla="*/ 1812925 w 2085975"/>
              <a:gd name="connsiteY15" fmla="*/ 793750 h 1216025"/>
              <a:gd name="connsiteX16" fmla="*/ 1901825 w 2085975"/>
              <a:gd name="connsiteY16" fmla="*/ 939800 h 1216025"/>
              <a:gd name="connsiteX17" fmla="*/ 2085975 w 2085975"/>
              <a:gd name="connsiteY17" fmla="*/ 1101725 h 1216025"/>
              <a:gd name="connsiteX18" fmla="*/ 2079625 w 2085975"/>
              <a:gd name="connsiteY18" fmla="*/ 1216025 h 121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85975" h="1216025">
                <a:moveTo>
                  <a:pt x="2079625" y="1216025"/>
                </a:moveTo>
                <a:lnTo>
                  <a:pt x="0" y="1209675"/>
                </a:lnTo>
                <a:lnTo>
                  <a:pt x="0" y="1193800"/>
                </a:lnTo>
                <a:lnTo>
                  <a:pt x="142875" y="1184275"/>
                </a:lnTo>
                <a:lnTo>
                  <a:pt x="381000" y="1162050"/>
                </a:lnTo>
                <a:lnTo>
                  <a:pt x="571500" y="1089025"/>
                </a:lnTo>
                <a:lnTo>
                  <a:pt x="768350" y="863600"/>
                </a:lnTo>
                <a:lnTo>
                  <a:pt x="958850" y="495300"/>
                </a:lnTo>
                <a:lnTo>
                  <a:pt x="1108075" y="200025"/>
                </a:lnTo>
                <a:lnTo>
                  <a:pt x="1247775" y="38100"/>
                </a:lnTo>
                <a:lnTo>
                  <a:pt x="1320800" y="0"/>
                </a:lnTo>
                <a:lnTo>
                  <a:pt x="1384300" y="25400"/>
                </a:lnTo>
                <a:lnTo>
                  <a:pt x="1450975" y="88900"/>
                </a:lnTo>
                <a:lnTo>
                  <a:pt x="1587500" y="336550"/>
                </a:lnTo>
                <a:lnTo>
                  <a:pt x="1689100" y="565150"/>
                </a:lnTo>
                <a:lnTo>
                  <a:pt x="1812925" y="793750"/>
                </a:lnTo>
                <a:lnTo>
                  <a:pt x="1901825" y="939800"/>
                </a:lnTo>
                <a:lnTo>
                  <a:pt x="2085975" y="1101725"/>
                </a:lnTo>
                <a:lnTo>
                  <a:pt x="2079625" y="1216025"/>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35" name="Freeform 34"/>
          <p:cNvSpPr/>
          <p:nvPr/>
        </p:nvSpPr>
        <p:spPr>
          <a:xfrm>
            <a:off x="8440553" y="1421704"/>
            <a:ext cx="1014412" cy="1614488"/>
          </a:xfrm>
          <a:custGeom>
            <a:avLst/>
            <a:gdLst>
              <a:gd name="connsiteX0" fmla="*/ 1014412 w 1014412"/>
              <a:gd name="connsiteY0" fmla="*/ 1202532 h 1202532"/>
              <a:gd name="connsiteX1" fmla="*/ 0 w 1014412"/>
              <a:gd name="connsiteY1" fmla="*/ 1195388 h 1202532"/>
              <a:gd name="connsiteX2" fmla="*/ 35719 w 1014412"/>
              <a:gd name="connsiteY2" fmla="*/ 1164432 h 1202532"/>
              <a:gd name="connsiteX3" fmla="*/ 123825 w 1014412"/>
              <a:gd name="connsiteY3" fmla="*/ 1157288 h 1202532"/>
              <a:gd name="connsiteX4" fmla="*/ 226219 w 1014412"/>
              <a:gd name="connsiteY4" fmla="*/ 1095375 h 1202532"/>
              <a:gd name="connsiteX5" fmla="*/ 292894 w 1014412"/>
              <a:gd name="connsiteY5" fmla="*/ 954882 h 1202532"/>
              <a:gd name="connsiteX6" fmla="*/ 361950 w 1014412"/>
              <a:gd name="connsiteY6" fmla="*/ 759619 h 1202532"/>
              <a:gd name="connsiteX7" fmla="*/ 416719 w 1014412"/>
              <a:gd name="connsiteY7" fmla="*/ 497682 h 1202532"/>
              <a:gd name="connsiteX8" fmla="*/ 488156 w 1014412"/>
              <a:gd name="connsiteY8" fmla="*/ 195263 h 1202532"/>
              <a:gd name="connsiteX9" fmla="*/ 552450 w 1014412"/>
              <a:gd name="connsiteY9" fmla="*/ 19050 h 1202532"/>
              <a:gd name="connsiteX10" fmla="*/ 581025 w 1014412"/>
              <a:gd name="connsiteY10" fmla="*/ 4763 h 1202532"/>
              <a:gd name="connsiteX11" fmla="*/ 600075 w 1014412"/>
              <a:gd name="connsiteY11" fmla="*/ 0 h 1202532"/>
              <a:gd name="connsiteX12" fmla="*/ 635794 w 1014412"/>
              <a:gd name="connsiteY12" fmla="*/ 57150 h 1202532"/>
              <a:gd name="connsiteX13" fmla="*/ 695325 w 1014412"/>
              <a:gd name="connsiteY13" fmla="*/ 254794 h 1202532"/>
              <a:gd name="connsiteX14" fmla="*/ 757237 w 1014412"/>
              <a:gd name="connsiteY14" fmla="*/ 523875 h 1202532"/>
              <a:gd name="connsiteX15" fmla="*/ 840581 w 1014412"/>
              <a:gd name="connsiteY15" fmla="*/ 828675 h 1202532"/>
              <a:gd name="connsiteX16" fmla="*/ 928687 w 1014412"/>
              <a:gd name="connsiteY16" fmla="*/ 1069182 h 1202532"/>
              <a:gd name="connsiteX17" fmla="*/ 1002506 w 1014412"/>
              <a:gd name="connsiteY17" fmla="*/ 1143000 h 1202532"/>
              <a:gd name="connsiteX18" fmla="*/ 1014412 w 1014412"/>
              <a:gd name="connsiteY18" fmla="*/ 1202532 h 120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4412" h="1202532">
                <a:moveTo>
                  <a:pt x="1014412" y="1202532"/>
                </a:moveTo>
                <a:lnTo>
                  <a:pt x="0" y="1195388"/>
                </a:lnTo>
                <a:lnTo>
                  <a:pt x="35719" y="1164432"/>
                </a:lnTo>
                <a:lnTo>
                  <a:pt x="123825" y="1157288"/>
                </a:lnTo>
                <a:lnTo>
                  <a:pt x="226219" y="1095375"/>
                </a:lnTo>
                <a:lnTo>
                  <a:pt x="292894" y="954882"/>
                </a:lnTo>
                <a:lnTo>
                  <a:pt x="361950" y="759619"/>
                </a:lnTo>
                <a:lnTo>
                  <a:pt x="416719" y="497682"/>
                </a:lnTo>
                <a:lnTo>
                  <a:pt x="488156" y="195263"/>
                </a:lnTo>
                <a:lnTo>
                  <a:pt x="552450" y="19050"/>
                </a:lnTo>
                <a:lnTo>
                  <a:pt x="581025" y="4763"/>
                </a:lnTo>
                <a:lnTo>
                  <a:pt x="600075" y="0"/>
                </a:lnTo>
                <a:lnTo>
                  <a:pt x="635794" y="57150"/>
                </a:lnTo>
                <a:lnTo>
                  <a:pt x="695325" y="254794"/>
                </a:lnTo>
                <a:lnTo>
                  <a:pt x="757237" y="523875"/>
                </a:lnTo>
                <a:lnTo>
                  <a:pt x="840581" y="828675"/>
                </a:lnTo>
                <a:lnTo>
                  <a:pt x="928687" y="1069182"/>
                </a:lnTo>
                <a:lnTo>
                  <a:pt x="1002506" y="1143000"/>
                </a:lnTo>
                <a:lnTo>
                  <a:pt x="1014412" y="1202532"/>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17410" name="Rectangle 2"/>
          <p:cNvSpPr>
            <a:spLocks noGrp="1" noChangeArrowheads="1"/>
          </p:cNvSpPr>
          <p:nvPr>
            <p:ph type="title"/>
          </p:nvPr>
        </p:nvSpPr>
        <p:spPr>
          <a:xfrm>
            <a:off x="838200" y="311995"/>
            <a:ext cx="9401269" cy="937444"/>
          </a:xfrm>
        </p:spPr>
        <p:txBody>
          <a:bodyPr/>
          <a:lstStyle/>
          <a:p>
            <a:r>
              <a:rPr lang="en-CA" dirty="0"/>
              <a:t>Tests and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6A18AB-DF87-49EA-BAFE-C71DCF5F8DC5}"/>
                  </a:ext>
                </a:extLst>
              </p:cNvPr>
              <p:cNvSpPr>
                <a:spLocks noGrp="1"/>
              </p:cNvSpPr>
              <p:nvPr>
                <p:ph idx="1"/>
              </p:nvPr>
            </p:nvSpPr>
            <p:spPr>
              <a:xfrm>
                <a:off x="838201" y="1862659"/>
                <a:ext cx="2055925" cy="3889208"/>
              </a:xfrm>
            </p:spPr>
            <p:txBody>
              <a:bodyPr/>
              <a:lstStyle/>
              <a:p>
                <a:pPr marL="0" indent="0">
                  <a:buNone/>
                </a:pPr>
                <a:r>
                  <a:rPr lang="en-CA" sz="2400" dirty="0">
                    <a:solidFill>
                      <a:schemeClr val="tx1"/>
                    </a:solidFill>
                    <a:cs typeface="Times New Roman" pitchFamily="18" charset="0"/>
                  </a:rPr>
                  <a:t>The larger n, the </a:t>
                </a:r>
                <a:r>
                  <a:rPr lang="en-US" sz="2400" dirty="0">
                    <a:solidFill>
                      <a:schemeClr val="tx1"/>
                    </a:solidFill>
                    <a:cs typeface="Times New Roman" pitchFamily="18" charset="0"/>
                  </a:rPr>
                  <a:t>smaller</a:t>
                </a:r>
                <a14:m>
                  <m:oMath xmlns:m="http://schemas.openxmlformats.org/officeDocument/2006/math">
                    <m:r>
                      <a:rPr lang="en-US" sz="2400" b="0">
                        <a:solidFill>
                          <a:schemeClr val="tx1"/>
                        </a:solidFill>
                        <a:latin typeface="Cambria Math" panose="02040503050406030204" pitchFamily="18" charset="0"/>
                        <a:ea typeface="Cambria Math"/>
                        <a:cs typeface="Times New Roman" pitchFamily="18" charset="0"/>
                      </a:rPr>
                      <m:t> </m:t>
                    </m:r>
                    <m:sSub>
                      <m:sSubPr>
                        <m:ctrlPr>
                          <a:rPr lang="en-US" sz="2400" i="1">
                            <a:solidFill>
                              <a:schemeClr val="tx1"/>
                            </a:solidFill>
                            <a:latin typeface="Cambria Math" panose="02040503050406030204" pitchFamily="18" charset="0"/>
                            <a:ea typeface="Cambria Math"/>
                            <a:cs typeface="Times New Roman" pitchFamily="18" charset="0"/>
                          </a:rPr>
                        </m:ctrlPr>
                      </m:sSubPr>
                      <m:e>
                        <m:r>
                          <a:rPr lang="en-US" sz="2400" i="1">
                            <a:solidFill>
                              <a:schemeClr val="tx1"/>
                            </a:solidFill>
                            <a:latin typeface="Cambria Math"/>
                            <a:ea typeface="Cambria Math"/>
                            <a:cs typeface="Times New Roman" pitchFamily="18" charset="0"/>
                          </a:rPr>
                          <m:t>𝜎</m:t>
                        </m:r>
                      </m:e>
                      <m:sub>
                        <m:acc>
                          <m:accPr>
                            <m:chr m:val="̅"/>
                            <m:ctrlPr>
                              <a:rPr lang="en-US" sz="2400" i="1">
                                <a:solidFill>
                                  <a:schemeClr val="tx1"/>
                                </a:solidFill>
                                <a:latin typeface="Cambria Math" panose="02040503050406030204" pitchFamily="18" charset="0"/>
                                <a:ea typeface="Cambria Math"/>
                                <a:cs typeface="Times New Roman" pitchFamily="18" charset="0"/>
                              </a:rPr>
                            </m:ctrlPr>
                          </m:accPr>
                          <m:e>
                            <m:r>
                              <a:rPr lang="en-US" sz="2400" i="1">
                                <a:solidFill>
                                  <a:schemeClr val="tx1"/>
                                </a:solidFill>
                                <a:latin typeface="Cambria Math"/>
                                <a:ea typeface="Cambria Math"/>
                                <a:cs typeface="Times New Roman" pitchFamily="18" charset="0"/>
                              </a:rPr>
                              <m:t>𝑥</m:t>
                            </m:r>
                          </m:e>
                        </m:acc>
                      </m:sub>
                    </m:sSub>
                  </m:oMath>
                </a14:m>
                <a:r>
                  <a:rPr lang="en-CA" sz="2400" dirty="0">
                    <a:solidFill>
                      <a:schemeClr val="tx1"/>
                    </a:solidFill>
                    <a:cs typeface="Times New Roman" pitchFamily="18" charset="0"/>
                  </a:rPr>
                  <a:t>,</a:t>
                </a:r>
                <a:r>
                  <a:rPr lang="en-CA" sz="2400" dirty="0">
                    <a:solidFill>
                      <a:schemeClr val="tx1"/>
                    </a:solidFill>
                    <a:latin typeface="+mj-lt"/>
                    <a:cs typeface="Times New Roman" pitchFamily="18" charset="0"/>
                  </a:rPr>
                  <a:t> </a:t>
                </a:r>
                <a:r>
                  <a:rPr lang="en-CA" sz="2400" dirty="0">
                    <a:solidFill>
                      <a:schemeClr val="tx1"/>
                    </a:solidFill>
                    <a:cs typeface="Times New Roman" pitchFamily="18" charset="0"/>
                  </a:rPr>
                  <a:t>the lower the probability of a type II error.</a:t>
                </a:r>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4E6A18AB-DF87-49EA-BAFE-C71DCF5F8DC5}"/>
                  </a:ext>
                </a:extLst>
              </p:cNvPr>
              <p:cNvSpPr>
                <a:spLocks noGrp="1" noRot="1" noChangeAspect="1" noMove="1" noResize="1" noEditPoints="1" noAdjustHandles="1" noChangeArrowheads="1" noChangeShapeType="1" noTextEdit="1"/>
              </p:cNvSpPr>
              <p:nvPr>
                <p:ph idx="1"/>
              </p:nvPr>
            </p:nvSpPr>
            <p:spPr>
              <a:xfrm>
                <a:off x="838201" y="1862659"/>
                <a:ext cx="2055925" cy="3889208"/>
              </a:xfrm>
              <a:blipFill>
                <a:blip r:embed="rId3"/>
                <a:stretch>
                  <a:fillRect l="-9199" t="-2508" r="-10979"/>
                </a:stretch>
              </a:blipFill>
            </p:spPr>
            <p:txBody>
              <a:bodyPr/>
              <a:lstStyle/>
              <a:p>
                <a:r>
                  <a:rPr lang="en-US">
                    <a:noFill/>
                  </a:rPr>
                  <a:t> </a:t>
                </a:r>
              </a:p>
            </p:txBody>
          </p:sp>
        </mc:Fallback>
      </mc:AlternateContent>
      <p:sp>
        <p:nvSpPr>
          <p:cNvPr id="6" name="Freeform 5"/>
          <p:cNvSpPr/>
          <p:nvPr/>
        </p:nvSpPr>
        <p:spPr>
          <a:xfrm>
            <a:off x="9463053" y="3670698"/>
            <a:ext cx="1127125" cy="1664095"/>
          </a:xfrm>
          <a:custGeom>
            <a:avLst/>
            <a:gdLst>
              <a:gd name="connsiteX0" fmla="*/ 1127125 w 1127125"/>
              <a:gd name="connsiteY0" fmla="*/ 1190625 h 1206500"/>
              <a:gd name="connsiteX1" fmla="*/ 9525 w 1127125"/>
              <a:gd name="connsiteY1" fmla="*/ 1206500 h 1206500"/>
              <a:gd name="connsiteX2" fmla="*/ 0 w 1127125"/>
              <a:gd name="connsiteY2" fmla="*/ 1101725 h 1206500"/>
              <a:gd name="connsiteX3" fmla="*/ 85725 w 1127125"/>
              <a:gd name="connsiteY3" fmla="*/ 1016000 h 1206500"/>
              <a:gd name="connsiteX4" fmla="*/ 139700 w 1127125"/>
              <a:gd name="connsiteY4" fmla="*/ 860425 h 1206500"/>
              <a:gd name="connsiteX5" fmla="*/ 184150 w 1127125"/>
              <a:gd name="connsiteY5" fmla="*/ 698500 h 1206500"/>
              <a:gd name="connsiteX6" fmla="*/ 244475 w 1127125"/>
              <a:gd name="connsiteY6" fmla="*/ 504825 h 1206500"/>
              <a:gd name="connsiteX7" fmla="*/ 292100 w 1127125"/>
              <a:gd name="connsiteY7" fmla="*/ 304800 h 1206500"/>
              <a:gd name="connsiteX8" fmla="*/ 346075 w 1127125"/>
              <a:gd name="connsiteY8" fmla="*/ 127000 h 1206500"/>
              <a:gd name="connsiteX9" fmla="*/ 396875 w 1127125"/>
              <a:gd name="connsiteY9" fmla="*/ 25400 h 1206500"/>
              <a:gd name="connsiteX10" fmla="*/ 419100 w 1127125"/>
              <a:gd name="connsiteY10" fmla="*/ 0 h 1206500"/>
              <a:gd name="connsiteX11" fmla="*/ 444500 w 1127125"/>
              <a:gd name="connsiteY11" fmla="*/ 0 h 1206500"/>
              <a:gd name="connsiteX12" fmla="*/ 488950 w 1127125"/>
              <a:gd name="connsiteY12" fmla="*/ 66675 h 1206500"/>
              <a:gd name="connsiteX13" fmla="*/ 539750 w 1127125"/>
              <a:gd name="connsiteY13" fmla="*/ 219075 h 1206500"/>
              <a:gd name="connsiteX14" fmla="*/ 590550 w 1127125"/>
              <a:gd name="connsiteY14" fmla="*/ 406400 h 1206500"/>
              <a:gd name="connsiteX15" fmla="*/ 669925 w 1127125"/>
              <a:gd name="connsiteY15" fmla="*/ 698500 h 1206500"/>
              <a:gd name="connsiteX16" fmla="*/ 730250 w 1127125"/>
              <a:gd name="connsiteY16" fmla="*/ 898525 h 1206500"/>
              <a:gd name="connsiteX17" fmla="*/ 819150 w 1127125"/>
              <a:gd name="connsiteY17" fmla="*/ 1082675 h 1206500"/>
              <a:gd name="connsiteX18" fmla="*/ 901700 w 1127125"/>
              <a:gd name="connsiteY18" fmla="*/ 1149350 h 1206500"/>
              <a:gd name="connsiteX19" fmla="*/ 1035050 w 1127125"/>
              <a:gd name="connsiteY19" fmla="*/ 1177925 h 1206500"/>
              <a:gd name="connsiteX20" fmla="*/ 1127125 w 1127125"/>
              <a:gd name="connsiteY20" fmla="*/ 1190625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27125" h="1206500">
                <a:moveTo>
                  <a:pt x="1127125" y="1190625"/>
                </a:moveTo>
                <a:lnTo>
                  <a:pt x="9525" y="1206500"/>
                </a:lnTo>
                <a:lnTo>
                  <a:pt x="0" y="1101725"/>
                </a:lnTo>
                <a:lnTo>
                  <a:pt x="85725" y="1016000"/>
                </a:lnTo>
                <a:lnTo>
                  <a:pt x="139700" y="860425"/>
                </a:lnTo>
                <a:lnTo>
                  <a:pt x="184150" y="698500"/>
                </a:lnTo>
                <a:lnTo>
                  <a:pt x="244475" y="504825"/>
                </a:lnTo>
                <a:lnTo>
                  <a:pt x="292100" y="304800"/>
                </a:lnTo>
                <a:lnTo>
                  <a:pt x="346075" y="127000"/>
                </a:lnTo>
                <a:lnTo>
                  <a:pt x="396875" y="25400"/>
                </a:lnTo>
                <a:lnTo>
                  <a:pt x="419100" y="0"/>
                </a:lnTo>
                <a:lnTo>
                  <a:pt x="444500" y="0"/>
                </a:lnTo>
                <a:lnTo>
                  <a:pt x="488950" y="66675"/>
                </a:lnTo>
                <a:lnTo>
                  <a:pt x="539750" y="219075"/>
                </a:lnTo>
                <a:lnTo>
                  <a:pt x="590550" y="406400"/>
                </a:lnTo>
                <a:lnTo>
                  <a:pt x="669925" y="698500"/>
                </a:lnTo>
                <a:lnTo>
                  <a:pt x="730250" y="898525"/>
                </a:lnTo>
                <a:lnTo>
                  <a:pt x="819150" y="1082675"/>
                </a:lnTo>
                <a:lnTo>
                  <a:pt x="901700" y="1149350"/>
                </a:lnTo>
                <a:lnTo>
                  <a:pt x="1035050" y="1177925"/>
                </a:lnTo>
                <a:lnTo>
                  <a:pt x="1127125" y="1190625"/>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7" name="Freeform 10"/>
          <p:cNvSpPr>
            <a:spLocks/>
          </p:cNvSpPr>
          <p:nvPr/>
        </p:nvSpPr>
        <p:spPr bwMode="auto">
          <a:xfrm>
            <a:off x="8375991" y="1421704"/>
            <a:ext cx="1296834" cy="1595438"/>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cxnSp>
        <p:nvCxnSpPr>
          <p:cNvPr id="8" name="Straight Connector 7"/>
          <p:cNvCxnSpPr/>
          <p:nvPr/>
        </p:nvCxnSpPr>
        <p:spPr bwMode="auto">
          <a:xfrm>
            <a:off x="7346919" y="3030410"/>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rot="5400000">
            <a:off x="9068459" y="3056490"/>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p:nvPr/>
        </p:nvSpPr>
        <p:spPr>
          <a:xfrm>
            <a:off x="8851895" y="3092862"/>
            <a:ext cx="522899" cy="400110"/>
          </a:xfrm>
          <a:prstGeom prst="rect">
            <a:avLst/>
          </a:prstGeom>
        </p:spPr>
        <p:txBody>
          <a:bodyPr wrap="none">
            <a:spAutoFit/>
          </a:bodyPr>
          <a:lstStyle/>
          <a:p>
            <a:r>
              <a:rPr lang="el-GR" sz="2000" dirty="0">
                <a:solidFill>
                  <a:schemeClr val="tx1"/>
                </a:solidFill>
                <a:latin typeface="+mj-lt"/>
              </a:rPr>
              <a:t>μ</a:t>
            </a:r>
            <a:r>
              <a:rPr lang="en-CA" sz="2000" baseline="-25000" dirty="0">
                <a:solidFill>
                  <a:schemeClr val="tx1"/>
                </a:solidFill>
                <a:latin typeface="+mj-lt"/>
              </a:rPr>
              <a:t>H0</a:t>
            </a:r>
            <a:endParaRPr lang="en-US" sz="2000" baseline="-25000" dirty="0">
              <a:solidFill>
                <a:schemeClr val="tx1"/>
              </a:solidFill>
              <a:latin typeface="+mj-lt"/>
            </a:endParaRPr>
          </a:p>
        </p:txBody>
      </p:sp>
      <p:sp>
        <p:nvSpPr>
          <p:cNvPr id="11" name="Freeform 10"/>
          <p:cNvSpPr>
            <a:spLocks/>
          </p:cNvSpPr>
          <p:nvPr/>
        </p:nvSpPr>
        <p:spPr bwMode="auto">
          <a:xfrm>
            <a:off x="8448689" y="3746897"/>
            <a:ext cx="1296144" cy="1563884"/>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cxnSp>
        <p:nvCxnSpPr>
          <p:cNvPr id="12" name="Straight Connector 11"/>
          <p:cNvCxnSpPr/>
          <p:nvPr/>
        </p:nvCxnSpPr>
        <p:spPr bwMode="auto">
          <a:xfrm>
            <a:off x="7347559" y="5328417"/>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rot="5400000">
            <a:off x="9069099" y="5342192"/>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Rectangle 13"/>
          <p:cNvSpPr/>
          <p:nvPr/>
        </p:nvSpPr>
        <p:spPr>
          <a:xfrm>
            <a:off x="8852535" y="5290882"/>
            <a:ext cx="522899" cy="400110"/>
          </a:xfrm>
          <a:prstGeom prst="rect">
            <a:avLst/>
          </a:prstGeom>
        </p:spPr>
        <p:txBody>
          <a:bodyPr wrap="none">
            <a:spAutoFit/>
          </a:bodyPr>
          <a:lstStyle/>
          <a:p>
            <a:r>
              <a:rPr lang="el-GR" sz="2000" dirty="0">
                <a:solidFill>
                  <a:schemeClr val="tx1"/>
                </a:solidFill>
                <a:latin typeface="+mj-lt"/>
              </a:rPr>
              <a:t>μ</a:t>
            </a:r>
            <a:r>
              <a:rPr lang="en-CA" sz="2000" baseline="-25000" dirty="0">
                <a:solidFill>
                  <a:schemeClr val="tx1"/>
                </a:solidFill>
                <a:latin typeface="+mj-lt"/>
              </a:rPr>
              <a:t>H0</a:t>
            </a:r>
            <a:endParaRPr lang="en-US" sz="2000" baseline="-25000" dirty="0">
              <a:solidFill>
                <a:schemeClr val="tx1"/>
              </a:solidFill>
              <a:latin typeface="+mj-lt"/>
            </a:endParaRPr>
          </a:p>
        </p:txBody>
      </p:sp>
      <p:cxnSp>
        <p:nvCxnSpPr>
          <p:cNvPr id="15" name="Straight Connector 14"/>
          <p:cNvCxnSpPr/>
          <p:nvPr/>
        </p:nvCxnSpPr>
        <p:spPr>
          <a:xfrm>
            <a:off x="9454966" y="1942562"/>
            <a:ext cx="12625" cy="344154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6072425" y="4428030"/>
            <a:ext cx="1081088" cy="888206"/>
          </a:xfrm>
          <a:custGeom>
            <a:avLst/>
            <a:gdLst>
              <a:gd name="connsiteX0" fmla="*/ 0 w 1081088"/>
              <a:gd name="connsiteY0" fmla="*/ 0 h 888206"/>
              <a:gd name="connsiteX1" fmla="*/ 0 w 1081088"/>
              <a:gd name="connsiteY1" fmla="*/ 881062 h 888206"/>
              <a:gd name="connsiteX2" fmla="*/ 1081088 w 1081088"/>
              <a:gd name="connsiteY2" fmla="*/ 888206 h 888206"/>
              <a:gd name="connsiteX3" fmla="*/ 1073944 w 1081088"/>
              <a:gd name="connsiteY3" fmla="*/ 852487 h 888206"/>
              <a:gd name="connsiteX4" fmla="*/ 895350 w 1081088"/>
              <a:gd name="connsiteY4" fmla="*/ 854869 h 888206"/>
              <a:gd name="connsiteX5" fmla="*/ 792956 w 1081088"/>
              <a:gd name="connsiteY5" fmla="*/ 850106 h 888206"/>
              <a:gd name="connsiteX6" fmla="*/ 647700 w 1081088"/>
              <a:gd name="connsiteY6" fmla="*/ 821531 h 888206"/>
              <a:gd name="connsiteX7" fmla="*/ 521494 w 1081088"/>
              <a:gd name="connsiteY7" fmla="*/ 776287 h 888206"/>
              <a:gd name="connsiteX8" fmla="*/ 383381 w 1081088"/>
              <a:gd name="connsiteY8" fmla="*/ 654844 h 888206"/>
              <a:gd name="connsiteX9" fmla="*/ 230981 w 1081088"/>
              <a:gd name="connsiteY9" fmla="*/ 431006 h 888206"/>
              <a:gd name="connsiteX10" fmla="*/ 83344 w 1081088"/>
              <a:gd name="connsiteY10" fmla="*/ 130969 h 888206"/>
              <a:gd name="connsiteX11" fmla="*/ 0 w 1081088"/>
              <a:gd name="connsiteY11" fmla="*/ 0 h 8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1088" h="888206">
                <a:moveTo>
                  <a:pt x="0" y="0"/>
                </a:moveTo>
                <a:lnTo>
                  <a:pt x="0" y="881062"/>
                </a:lnTo>
                <a:lnTo>
                  <a:pt x="1081088" y="888206"/>
                </a:lnTo>
                <a:lnTo>
                  <a:pt x="1073944" y="852487"/>
                </a:lnTo>
                <a:lnTo>
                  <a:pt x="895350" y="854869"/>
                </a:lnTo>
                <a:lnTo>
                  <a:pt x="792956" y="850106"/>
                </a:lnTo>
                <a:lnTo>
                  <a:pt x="647700" y="821531"/>
                </a:lnTo>
                <a:lnTo>
                  <a:pt x="521494" y="776287"/>
                </a:lnTo>
                <a:lnTo>
                  <a:pt x="383381" y="654844"/>
                </a:lnTo>
                <a:lnTo>
                  <a:pt x="230981" y="431006"/>
                </a:lnTo>
                <a:lnTo>
                  <a:pt x="83344" y="130969"/>
                </a:lnTo>
                <a:lnTo>
                  <a:pt x="0"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cxnSp>
        <p:nvCxnSpPr>
          <p:cNvPr id="17" name="Straight Connector 16"/>
          <p:cNvCxnSpPr/>
          <p:nvPr/>
        </p:nvCxnSpPr>
        <p:spPr bwMode="auto">
          <a:xfrm>
            <a:off x="3530495" y="3030410"/>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rot="5400000">
            <a:off x="5252035" y="3056490"/>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Rectangle 18"/>
          <p:cNvSpPr/>
          <p:nvPr/>
        </p:nvSpPr>
        <p:spPr>
          <a:xfrm>
            <a:off x="5035471" y="3092862"/>
            <a:ext cx="522899" cy="400110"/>
          </a:xfrm>
          <a:prstGeom prst="rect">
            <a:avLst/>
          </a:prstGeom>
        </p:spPr>
        <p:txBody>
          <a:bodyPr wrap="none">
            <a:spAutoFit/>
          </a:bodyPr>
          <a:lstStyle/>
          <a:p>
            <a:r>
              <a:rPr lang="el-GR" sz="2000" dirty="0">
                <a:solidFill>
                  <a:schemeClr val="tx1"/>
                </a:solidFill>
                <a:latin typeface="+mj-lt"/>
              </a:rPr>
              <a:t>μ</a:t>
            </a:r>
            <a:r>
              <a:rPr lang="en-CA" sz="2000" baseline="-25000" dirty="0">
                <a:solidFill>
                  <a:schemeClr val="tx1"/>
                </a:solidFill>
                <a:latin typeface="+mj-lt"/>
              </a:rPr>
              <a:t>H0</a:t>
            </a:r>
            <a:endParaRPr lang="en-US" sz="2000" baseline="-25000" dirty="0">
              <a:solidFill>
                <a:schemeClr val="tx1"/>
              </a:solidFill>
              <a:latin typeface="+mj-lt"/>
            </a:endParaRPr>
          </a:p>
        </p:txBody>
      </p:sp>
      <p:sp>
        <p:nvSpPr>
          <p:cNvPr id="20" name="Freeform 10"/>
          <p:cNvSpPr>
            <a:spLocks/>
          </p:cNvSpPr>
          <p:nvPr/>
        </p:nvSpPr>
        <p:spPr bwMode="auto">
          <a:xfrm>
            <a:off x="3912135" y="4102867"/>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noFill/>
          <a:ln w="4" cap="flat">
            <a:solidFill>
              <a:schemeClr val="tx1"/>
            </a:solidFill>
            <a:prstDash val="sysDot"/>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cxnSp>
        <p:nvCxnSpPr>
          <p:cNvPr id="21" name="Straight Connector 20"/>
          <p:cNvCxnSpPr/>
          <p:nvPr/>
        </p:nvCxnSpPr>
        <p:spPr bwMode="auto">
          <a:xfrm>
            <a:off x="3531135" y="5328417"/>
            <a:ext cx="3619500" cy="158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rot="5400000">
            <a:off x="5868059" y="5374656"/>
            <a:ext cx="401320" cy="508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rot="5400000">
            <a:off x="5252675" y="5342192"/>
            <a:ext cx="161925"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Rectangle 23"/>
          <p:cNvSpPr/>
          <p:nvPr/>
        </p:nvSpPr>
        <p:spPr>
          <a:xfrm>
            <a:off x="5036111" y="5290882"/>
            <a:ext cx="522899" cy="400110"/>
          </a:xfrm>
          <a:prstGeom prst="rect">
            <a:avLst/>
          </a:prstGeom>
        </p:spPr>
        <p:txBody>
          <a:bodyPr wrap="none">
            <a:spAutoFit/>
          </a:bodyPr>
          <a:lstStyle/>
          <a:p>
            <a:r>
              <a:rPr lang="el-GR" sz="2000" dirty="0">
                <a:solidFill>
                  <a:schemeClr val="tx1"/>
                </a:solidFill>
                <a:latin typeface="+mj-lt"/>
              </a:rPr>
              <a:t>μ</a:t>
            </a:r>
            <a:r>
              <a:rPr lang="en-CA" sz="2000" baseline="-25000" dirty="0">
                <a:solidFill>
                  <a:schemeClr val="tx1"/>
                </a:solidFill>
                <a:latin typeface="+mj-lt"/>
              </a:rPr>
              <a:t>H0</a:t>
            </a:r>
            <a:endParaRPr lang="en-US" sz="2000" baseline="-25000" dirty="0">
              <a:solidFill>
                <a:schemeClr val="tx1"/>
              </a:solidFill>
              <a:latin typeface="+mj-lt"/>
            </a:endParaRPr>
          </a:p>
        </p:txBody>
      </p:sp>
      <p:sp>
        <p:nvSpPr>
          <p:cNvPr id="25" name="Freeform 10"/>
          <p:cNvSpPr>
            <a:spLocks/>
          </p:cNvSpPr>
          <p:nvPr/>
        </p:nvSpPr>
        <p:spPr bwMode="auto">
          <a:xfrm>
            <a:off x="4414331" y="4102867"/>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cxnSp>
        <p:nvCxnSpPr>
          <p:cNvPr id="26" name="Straight Connector 25"/>
          <p:cNvCxnSpPr/>
          <p:nvPr/>
        </p:nvCxnSpPr>
        <p:spPr>
          <a:xfrm>
            <a:off x="6064859" y="1942562"/>
            <a:ext cx="7567" cy="3225517"/>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7" name="Freeform 10"/>
          <p:cNvSpPr>
            <a:spLocks/>
          </p:cNvSpPr>
          <p:nvPr/>
        </p:nvSpPr>
        <p:spPr bwMode="auto">
          <a:xfrm>
            <a:off x="3912185" y="1814038"/>
            <a:ext cx="2781300" cy="1193800"/>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sp>
        <p:nvSpPr>
          <p:cNvPr id="28" name="Freeform 10"/>
          <p:cNvSpPr>
            <a:spLocks/>
          </p:cNvSpPr>
          <p:nvPr/>
        </p:nvSpPr>
        <p:spPr bwMode="auto">
          <a:xfrm>
            <a:off x="9168769" y="3658393"/>
            <a:ext cx="1440160" cy="1643259"/>
          </a:xfrm>
          <a:custGeom>
            <a:avLst/>
            <a:gdLst/>
            <a:ahLst/>
            <a:cxnLst>
              <a:cxn ang="0">
                <a:pos x="264" y="2944"/>
              </a:cxn>
              <a:cxn ang="0">
                <a:pos x="500" y="2929"/>
              </a:cxn>
              <a:cxn ang="0">
                <a:pos x="744" y="2928"/>
              </a:cxn>
              <a:cxn ang="0">
                <a:pos x="996" y="2881"/>
              </a:cxn>
              <a:cxn ang="0">
                <a:pos x="1232" y="2818"/>
              </a:cxn>
              <a:cxn ang="0">
                <a:pos x="1468" y="2692"/>
              </a:cxn>
              <a:cxn ang="0">
                <a:pos x="1782" y="2377"/>
              </a:cxn>
              <a:cxn ang="0">
                <a:pos x="2099" y="1853"/>
              </a:cxn>
              <a:cxn ang="0">
                <a:pos x="2418" y="1167"/>
              </a:cxn>
              <a:cxn ang="0">
                <a:pos x="2755" y="494"/>
              </a:cxn>
              <a:cxn ang="0">
                <a:pos x="3001" y="134"/>
              </a:cxn>
              <a:cxn ang="0">
                <a:pos x="3252" y="1"/>
              </a:cxn>
              <a:cxn ang="0">
                <a:pos x="3429" y="68"/>
              </a:cxn>
              <a:cxn ang="0">
                <a:pos x="3677" y="364"/>
              </a:cxn>
              <a:cxn ang="0">
                <a:pos x="3998" y="991"/>
              </a:cxn>
              <a:cxn ang="0">
                <a:pos x="4334" y="1695"/>
              </a:cxn>
              <a:cxn ang="0">
                <a:pos x="4653" y="2268"/>
              </a:cxn>
              <a:cxn ang="0">
                <a:pos x="4969" y="2631"/>
              </a:cxn>
              <a:cxn ang="0">
                <a:pos x="5201" y="2786"/>
              </a:cxn>
              <a:cxn ang="0">
                <a:pos x="5437" y="2865"/>
              </a:cxn>
              <a:cxn ang="0">
                <a:pos x="5773" y="2929"/>
              </a:cxn>
              <a:cxn ang="0">
                <a:pos x="6008" y="2928"/>
              </a:cxn>
              <a:cxn ang="0">
                <a:pos x="6168" y="2944"/>
              </a:cxn>
              <a:cxn ang="0">
                <a:pos x="6488" y="2944"/>
              </a:cxn>
              <a:cxn ang="0">
                <a:pos x="6328" y="2992"/>
              </a:cxn>
              <a:cxn ang="0">
                <a:pos x="6084" y="2992"/>
              </a:cxn>
              <a:cxn ang="0">
                <a:pos x="5848" y="2976"/>
              </a:cxn>
              <a:cxn ang="0">
                <a:pos x="5588" y="2944"/>
              </a:cxn>
              <a:cxn ang="0">
                <a:pos x="5344" y="2895"/>
              </a:cxn>
              <a:cxn ang="0">
                <a:pos x="5100" y="2781"/>
              </a:cxn>
              <a:cxn ang="0">
                <a:pos x="4774" y="2504"/>
              </a:cxn>
              <a:cxn ang="0">
                <a:pos x="4451" y="2020"/>
              </a:cxn>
              <a:cxn ang="0">
                <a:pos x="4130" y="1378"/>
              </a:cxn>
              <a:cxn ang="0">
                <a:pos x="3795" y="675"/>
              </a:cxn>
              <a:cxn ang="0">
                <a:pos x="3478" y="168"/>
              </a:cxn>
              <a:cxn ang="0">
                <a:pos x="3332" y="64"/>
              </a:cxn>
              <a:cxn ang="0">
                <a:pos x="3189" y="61"/>
              </a:cxn>
              <a:cxn ang="0">
                <a:pos x="2957" y="261"/>
              </a:cxn>
              <a:cxn ang="0">
                <a:pos x="2638" y="834"/>
              </a:cxn>
              <a:cxn ang="0">
                <a:pos x="2302" y="1538"/>
              </a:cxn>
              <a:cxn ang="0">
                <a:pos x="1981" y="2165"/>
              </a:cxn>
              <a:cxn ang="0">
                <a:pos x="1657" y="2585"/>
              </a:cxn>
              <a:cxn ang="0">
                <a:pos x="1333" y="2829"/>
              </a:cxn>
              <a:cxn ang="0">
                <a:pos x="1165" y="2896"/>
              </a:cxn>
              <a:cxn ang="0">
                <a:pos x="829" y="2960"/>
              </a:cxn>
              <a:cxn ang="0">
                <a:pos x="584" y="2976"/>
              </a:cxn>
              <a:cxn ang="0">
                <a:pos x="424" y="2992"/>
              </a:cxn>
              <a:cxn ang="0">
                <a:pos x="104" y="2992"/>
              </a:cxn>
            </a:cxnLst>
            <a:rect l="0" t="0" r="r" b="b"/>
            <a:pathLst>
              <a:path w="6512" h="2992">
                <a:moveTo>
                  <a:pt x="24" y="2944"/>
                </a:moveTo>
                <a:lnTo>
                  <a:pt x="104" y="2944"/>
                </a:lnTo>
                <a:lnTo>
                  <a:pt x="184" y="2944"/>
                </a:lnTo>
                <a:lnTo>
                  <a:pt x="264" y="2944"/>
                </a:lnTo>
                <a:lnTo>
                  <a:pt x="344" y="2944"/>
                </a:lnTo>
                <a:lnTo>
                  <a:pt x="424" y="2944"/>
                </a:lnTo>
                <a:lnTo>
                  <a:pt x="420" y="2945"/>
                </a:lnTo>
                <a:lnTo>
                  <a:pt x="500" y="2929"/>
                </a:lnTo>
                <a:cubicBezTo>
                  <a:pt x="501" y="2929"/>
                  <a:pt x="503" y="2928"/>
                  <a:pt x="504" y="2928"/>
                </a:cubicBezTo>
                <a:lnTo>
                  <a:pt x="584" y="2928"/>
                </a:lnTo>
                <a:lnTo>
                  <a:pt x="664" y="2928"/>
                </a:lnTo>
                <a:lnTo>
                  <a:pt x="744" y="2928"/>
                </a:lnTo>
                <a:lnTo>
                  <a:pt x="740" y="2929"/>
                </a:lnTo>
                <a:lnTo>
                  <a:pt x="820" y="2913"/>
                </a:lnTo>
                <a:lnTo>
                  <a:pt x="917" y="2897"/>
                </a:lnTo>
                <a:lnTo>
                  <a:pt x="996" y="2881"/>
                </a:lnTo>
                <a:lnTo>
                  <a:pt x="1076" y="2865"/>
                </a:lnTo>
                <a:lnTo>
                  <a:pt x="1156" y="2849"/>
                </a:lnTo>
                <a:lnTo>
                  <a:pt x="1152" y="2850"/>
                </a:lnTo>
                <a:lnTo>
                  <a:pt x="1232" y="2818"/>
                </a:lnTo>
                <a:lnTo>
                  <a:pt x="1312" y="2786"/>
                </a:lnTo>
                <a:lnTo>
                  <a:pt x="1308" y="2788"/>
                </a:lnTo>
                <a:lnTo>
                  <a:pt x="1388" y="2740"/>
                </a:lnTo>
                <a:lnTo>
                  <a:pt x="1468" y="2692"/>
                </a:lnTo>
                <a:lnTo>
                  <a:pt x="1545" y="2630"/>
                </a:lnTo>
                <a:lnTo>
                  <a:pt x="1623" y="2551"/>
                </a:lnTo>
                <a:lnTo>
                  <a:pt x="1703" y="2471"/>
                </a:lnTo>
                <a:lnTo>
                  <a:pt x="1782" y="2377"/>
                </a:lnTo>
                <a:lnTo>
                  <a:pt x="1861" y="2267"/>
                </a:lnTo>
                <a:lnTo>
                  <a:pt x="1940" y="2140"/>
                </a:lnTo>
                <a:lnTo>
                  <a:pt x="2019" y="1997"/>
                </a:lnTo>
                <a:lnTo>
                  <a:pt x="2099" y="1853"/>
                </a:lnTo>
                <a:lnTo>
                  <a:pt x="2179" y="1694"/>
                </a:lnTo>
                <a:lnTo>
                  <a:pt x="2259" y="1519"/>
                </a:lnTo>
                <a:lnTo>
                  <a:pt x="2339" y="1358"/>
                </a:lnTo>
                <a:lnTo>
                  <a:pt x="2418" y="1167"/>
                </a:lnTo>
                <a:lnTo>
                  <a:pt x="2515" y="989"/>
                </a:lnTo>
                <a:lnTo>
                  <a:pt x="2595" y="815"/>
                </a:lnTo>
                <a:lnTo>
                  <a:pt x="2675" y="654"/>
                </a:lnTo>
                <a:lnTo>
                  <a:pt x="2755" y="494"/>
                </a:lnTo>
                <a:lnTo>
                  <a:pt x="2836" y="364"/>
                </a:lnTo>
                <a:lnTo>
                  <a:pt x="2916" y="236"/>
                </a:lnTo>
                <a:lnTo>
                  <a:pt x="2998" y="137"/>
                </a:lnTo>
                <a:cubicBezTo>
                  <a:pt x="2999" y="136"/>
                  <a:pt x="3000" y="135"/>
                  <a:pt x="3001" y="134"/>
                </a:cubicBezTo>
                <a:lnTo>
                  <a:pt x="3081" y="70"/>
                </a:lnTo>
                <a:lnTo>
                  <a:pt x="3164" y="20"/>
                </a:lnTo>
                <a:cubicBezTo>
                  <a:pt x="3166" y="18"/>
                  <a:pt x="3169" y="17"/>
                  <a:pt x="3172" y="17"/>
                </a:cubicBezTo>
                <a:lnTo>
                  <a:pt x="3252" y="1"/>
                </a:lnTo>
                <a:cubicBezTo>
                  <a:pt x="3255" y="0"/>
                  <a:pt x="3258" y="0"/>
                  <a:pt x="3261" y="1"/>
                </a:cubicBezTo>
                <a:lnTo>
                  <a:pt x="3341" y="17"/>
                </a:lnTo>
                <a:cubicBezTo>
                  <a:pt x="3344" y="17"/>
                  <a:pt x="3346" y="18"/>
                  <a:pt x="3349" y="20"/>
                </a:cubicBezTo>
                <a:lnTo>
                  <a:pt x="3429" y="68"/>
                </a:lnTo>
                <a:lnTo>
                  <a:pt x="3511" y="134"/>
                </a:lnTo>
                <a:cubicBezTo>
                  <a:pt x="3513" y="135"/>
                  <a:pt x="3514" y="136"/>
                  <a:pt x="3515" y="137"/>
                </a:cubicBezTo>
                <a:lnTo>
                  <a:pt x="3595" y="233"/>
                </a:lnTo>
                <a:lnTo>
                  <a:pt x="3677" y="364"/>
                </a:lnTo>
                <a:lnTo>
                  <a:pt x="3757" y="492"/>
                </a:lnTo>
                <a:lnTo>
                  <a:pt x="3838" y="654"/>
                </a:lnTo>
                <a:lnTo>
                  <a:pt x="3918" y="814"/>
                </a:lnTo>
                <a:lnTo>
                  <a:pt x="3998" y="991"/>
                </a:lnTo>
                <a:lnTo>
                  <a:pt x="4094" y="1165"/>
                </a:lnTo>
                <a:lnTo>
                  <a:pt x="4175" y="1359"/>
                </a:lnTo>
                <a:lnTo>
                  <a:pt x="4254" y="1518"/>
                </a:lnTo>
                <a:lnTo>
                  <a:pt x="4334" y="1695"/>
                </a:lnTo>
                <a:lnTo>
                  <a:pt x="4414" y="1854"/>
                </a:lnTo>
                <a:lnTo>
                  <a:pt x="4493" y="1997"/>
                </a:lnTo>
                <a:lnTo>
                  <a:pt x="4573" y="2141"/>
                </a:lnTo>
                <a:lnTo>
                  <a:pt x="4653" y="2268"/>
                </a:lnTo>
                <a:lnTo>
                  <a:pt x="4732" y="2379"/>
                </a:lnTo>
                <a:lnTo>
                  <a:pt x="4811" y="2473"/>
                </a:lnTo>
                <a:lnTo>
                  <a:pt x="4889" y="2551"/>
                </a:lnTo>
                <a:lnTo>
                  <a:pt x="4969" y="2631"/>
                </a:lnTo>
                <a:lnTo>
                  <a:pt x="5047" y="2694"/>
                </a:lnTo>
                <a:lnTo>
                  <a:pt x="5125" y="2740"/>
                </a:lnTo>
                <a:lnTo>
                  <a:pt x="5205" y="2788"/>
                </a:lnTo>
                <a:lnTo>
                  <a:pt x="5201" y="2786"/>
                </a:lnTo>
                <a:lnTo>
                  <a:pt x="5281" y="2818"/>
                </a:lnTo>
                <a:lnTo>
                  <a:pt x="5361" y="2850"/>
                </a:lnTo>
                <a:lnTo>
                  <a:pt x="5357" y="2849"/>
                </a:lnTo>
                <a:lnTo>
                  <a:pt x="5437" y="2865"/>
                </a:lnTo>
                <a:lnTo>
                  <a:pt x="5517" y="2881"/>
                </a:lnTo>
                <a:lnTo>
                  <a:pt x="5597" y="2897"/>
                </a:lnTo>
                <a:lnTo>
                  <a:pt x="5692" y="2913"/>
                </a:lnTo>
                <a:lnTo>
                  <a:pt x="5773" y="2929"/>
                </a:lnTo>
                <a:lnTo>
                  <a:pt x="5768" y="2928"/>
                </a:lnTo>
                <a:lnTo>
                  <a:pt x="5848" y="2928"/>
                </a:lnTo>
                <a:lnTo>
                  <a:pt x="5928" y="2928"/>
                </a:lnTo>
                <a:lnTo>
                  <a:pt x="6008" y="2928"/>
                </a:lnTo>
                <a:cubicBezTo>
                  <a:pt x="6010" y="2928"/>
                  <a:pt x="6012" y="2929"/>
                  <a:pt x="6013" y="2929"/>
                </a:cubicBezTo>
                <a:lnTo>
                  <a:pt x="6093" y="2945"/>
                </a:lnTo>
                <a:lnTo>
                  <a:pt x="6088" y="2944"/>
                </a:lnTo>
                <a:lnTo>
                  <a:pt x="6168" y="2944"/>
                </a:lnTo>
                <a:lnTo>
                  <a:pt x="6248" y="2944"/>
                </a:lnTo>
                <a:lnTo>
                  <a:pt x="6328" y="2944"/>
                </a:lnTo>
                <a:lnTo>
                  <a:pt x="6408" y="2944"/>
                </a:lnTo>
                <a:lnTo>
                  <a:pt x="6488" y="2944"/>
                </a:lnTo>
                <a:cubicBezTo>
                  <a:pt x="6502" y="2944"/>
                  <a:pt x="6512" y="2955"/>
                  <a:pt x="6512" y="2968"/>
                </a:cubicBezTo>
                <a:cubicBezTo>
                  <a:pt x="6512" y="2982"/>
                  <a:pt x="6502" y="2992"/>
                  <a:pt x="6488" y="2992"/>
                </a:cubicBezTo>
                <a:lnTo>
                  <a:pt x="6408" y="2992"/>
                </a:lnTo>
                <a:lnTo>
                  <a:pt x="6328" y="2992"/>
                </a:lnTo>
                <a:lnTo>
                  <a:pt x="6248" y="2992"/>
                </a:lnTo>
                <a:lnTo>
                  <a:pt x="6168" y="2992"/>
                </a:lnTo>
                <a:lnTo>
                  <a:pt x="6088" y="2992"/>
                </a:lnTo>
                <a:cubicBezTo>
                  <a:pt x="6087" y="2992"/>
                  <a:pt x="6085" y="2992"/>
                  <a:pt x="6084" y="2992"/>
                </a:cubicBezTo>
                <a:lnTo>
                  <a:pt x="6004" y="2976"/>
                </a:lnTo>
                <a:lnTo>
                  <a:pt x="6008" y="2976"/>
                </a:lnTo>
                <a:lnTo>
                  <a:pt x="5928" y="2976"/>
                </a:lnTo>
                <a:lnTo>
                  <a:pt x="5848" y="2976"/>
                </a:lnTo>
                <a:lnTo>
                  <a:pt x="5768" y="2976"/>
                </a:lnTo>
                <a:cubicBezTo>
                  <a:pt x="5767" y="2976"/>
                  <a:pt x="5765" y="2976"/>
                  <a:pt x="5764" y="2976"/>
                </a:cubicBezTo>
                <a:lnTo>
                  <a:pt x="5685" y="2960"/>
                </a:lnTo>
                <a:lnTo>
                  <a:pt x="5588" y="2944"/>
                </a:lnTo>
                <a:lnTo>
                  <a:pt x="5508" y="2928"/>
                </a:lnTo>
                <a:lnTo>
                  <a:pt x="5428" y="2912"/>
                </a:lnTo>
                <a:lnTo>
                  <a:pt x="5348" y="2896"/>
                </a:lnTo>
                <a:cubicBezTo>
                  <a:pt x="5346" y="2896"/>
                  <a:pt x="5345" y="2895"/>
                  <a:pt x="5344" y="2895"/>
                </a:cubicBezTo>
                <a:lnTo>
                  <a:pt x="5264" y="2863"/>
                </a:lnTo>
                <a:lnTo>
                  <a:pt x="5184" y="2831"/>
                </a:lnTo>
                <a:cubicBezTo>
                  <a:pt x="5182" y="2830"/>
                  <a:pt x="5181" y="2830"/>
                  <a:pt x="5180" y="2829"/>
                </a:cubicBezTo>
                <a:lnTo>
                  <a:pt x="5100" y="2781"/>
                </a:lnTo>
                <a:lnTo>
                  <a:pt x="5017" y="2731"/>
                </a:lnTo>
                <a:lnTo>
                  <a:pt x="4935" y="2665"/>
                </a:lnTo>
                <a:lnTo>
                  <a:pt x="4855" y="2585"/>
                </a:lnTo>
                <a:lnTo>
                  <a:pt x="4774" y="2504"/>
                </a:lnTo>
                <a:lnTo>
                  <a:pt x="4693" y="2406"/>
                </a:lnTo>
                <a:lnTo>
                  <a:pt x="4612" y="2293"/>
                </a:lnTo>
                <a:lnTo>
                  <a:pt x="4531" y="2164"/>
                </a:lnTo>
                <a:lnTo>
                  <a:pt x="4451" y="2020"/>
                </a:lnTo>
                <a:lnTo>
                  <a:pt x="4371" y="1875"/>
                </a:lnTo>
                <a:lnTo>
                  <a:pt x="4291" y="1714"/>
                </a:lnTo>
                <a:lnTo>
                  <a:pt x="4211" y="1539"/>
                </a:lnTo>
                <a:lnTo>
                  <a:pt x="4130" y="1378"/>
                </a:lnTo>
                <a:lnTo>
                  <a:pt x="4051" y="1188"/>
                </a:lnTo>
                <a:lnTo>
                  <a:pt x="3955" y="1010"/>
                </a:lnTo>
                <a:lnTo>
                  <a:pt x="3875" y="835"/>
                </a:lnTo>
                <a:lnTo>
                  <a:pt x="3795" y="675"/>
                </a:lnTo>
                <a:lnTo>
                  <a:pt x="3716" y="517"/>
                </a:lnTo>
                <a:lnTo>
                  <a:pt x="3636" y="389"/>
                </a:lnTo>
                <a:lnTo>
                  <a:pt x="3558" y="264"/>
                </a:lnTo>
                <a:lnTo>
                  <a:pt x="3478" y="168"/>
                </a:lnTo>
                <a:lnTo>
                  <a:pt x="3481" y="171"/>
                </a:lnTo>
                <a:lnTo>
                  <a:pt x="3404" y="109"/>
                </a:lnTo>
                <a:lnTo>
                  <a:pt x="3324" y="61"/>
                </a:lnTo>
                <a:lnTo>
                  <a:pt x="3332" y="64"/>
                </a:lnTo>
                <a:lnTo>
                  <a:pt x="3252" y="48"/>
                </a:lnTo>
                <a:lnTo>
                  <a:pt x="3261" y="48"/>
                </a:lnTo>
                <a:lnTo>
                  <a:pt x="3181" y="64"/>
                </a:lnTo>
                <a:lnTo>
                  <a:pt x="3189" y="61"/>
                </a:lnTo>
                <a:lnTo>
                  <a:pt x="3111" y="107"/>
                </a:lnTo>
                <a:lnTo>
                  <a:pt x="3031" y="171"/>
                </a:lnTo>
                <a:lnTo>
                  <a:pt x="3035" y="168"/>
                </a:lnTo>
                <a:lnTo>
                  <a:pt x="2957" y="261"/>
                </a:lnTo>
                <a:lnTo>
                  <a:pt x="2877" y="389"/>
                </a:lnTo>
                <a:lnTo>
                  <a:pt x="2798" y="515"/>
                </a:lnTo>
                <a:lnTo>
                  <a:pt x="2718" y="675"/>
                </a:lnTo>
                <a:lnTo>
                  <a:pt x="2638" y="834"/>
                </a:lnTo>
                <a:lnTo>
                  <a:pt x="2558" y="1012"/>
                </a:lnTo>
                <a:lnTo>
                  <a:pt x="2463" y="1186"/>
                </a:lnTo>
                <a:lnTo>
                  <a:pt x="2382" y="1379"/>
                </a:lnTo>
                <a:lnTo>
                  <a:pt x="2302" y="1538"/>
                </a:lnTo>
                <a:lnTo>
                  <a:pt x="2222" y="1715"/>
                </a:lnTo>
                <a:lnTo>
                  <a:pt x="2141" y="1876"/>
                </a:lnTo>
                <a:lnTo>
                  <a:pt x="2061" y="2020"/>
                </a:lnTo>
                <a:lnTo>
                  <a:pt x="1981" y="2165"/>
                </a:lnTo>
                <a:lnTo>
                  <a:pt x="1900" y="2294"/>
                </a:lnTo>
                <a:lnTo>
                  <a:pt x="1819" y="2408"/>
                </a:lnTo>
                <a:lnTo>
                  <a:pt x="1737" y="2505"/>
                </a:lnTo>
                <a:lnTo>
                  <a:pt x="1657" y="2585"/>
                </a:lnTo>
                <a:lnTo>
                  <a:pt x="1575" y="2667"/>
                </a:lnTo>
                <a:lnTo>
                  <a:pt x="1493" y="2733"/>
                </a:lnTo>
                <a:lnTo>
                  <a:pt x="1413" y="2781"/>
                </a:lnTo>
                <a:lnTo>
                  <a:pt x="1333" y="2829"/>
                </a:lnTo>
                <a:cubicBezTo>
                  <a:pt x="1332" y="2830"/>
                  <a:pt x="1331" y="2830"/>
                  <a:pt x="1329" y="2831"/>
                </a:cubicBezTo>
                <a:lnTo>
                  <a:pt x="1249" y="2863"/>
                </a:lnTo>
                <a:lnTo>
                  <a:pt x="1169" y="2895"/>
                </a:lnTo>
                <a:cubicBezTo>
                  <a:pt x="1168" y="2895"/>
                  <a:pt x="1167" y="2896"/>
                  <a:pt x="1165" y="2896"/>
                </a:cubicBezTo>
                <a:lnTo>
                  <a:pt x="1085" y="2912"/>
                </a:lnTo>
                <a:lnTo>
                  <a:pt x="1005" y="2928"/>
                </a:lnTo>
                <a:lnTo>
                  <a:pt x="924" y="2944"/>
                </a:lnTo>
                <a:lnTo>
                  <a:pt x="829" y="2960"/>
                </a:lnTo>
                <a:lnTo>
                  <a:pt x="749" y="2976"/>
                </a:lnTo>
                <a:cubicBezTo>
                  <a:pt x="748" y="2976"/>
                  <a:pt x="746" y="2976"/>
                  <a:pt x="744" y="2976"/>
                </a:cubicBezTo>
                <a:lnTo>
                  <a:pt x="664" y="2976"/>
                </a:lnTo>
                <a:lnTo>
                  <a:pt x="584" y="2976"/>
                </a:lnTo>
                <a:lnTo>
                  <a:pt x="504" y="2976"/>
                </a:lnTo>
                <a:lnTo>
                  <a:pt x="509" y="2976"/>
                </a:lnTo>
                <a:lnTo>
                  <a:pt x="429" y="2992"/>
                </a:lnTo>
                <a:cubicBezTo>
                  <a:pt x="428" y="2992"/>
                  <a:pt x="426" y="2992"/>
                  <a:pt x="424" y="2992"/>
                </a:cubicBezTo>
                <a:lnTo>
                  <a:pt x="344" y="2992"/>
                </a:lnTo>
                <a:lnTo>
                  <a:pt x="264" y="2992"/>
                </a:lnTo>
                <a:lnTo>
                  <a:pt x="184" y="2992"/>
                </a:lnTo>
                <a:lnTo>
                  <a:pt x="104" y="2992"/>
                </a:lnTo>
                <a:lnTo>
                  <a:pt x="24" y="2992"/>
                </a:lnTo>
                <a:cubicBezTo>
                  <a:pt x="11" y="2992"/>
                  <a:pt x="0" y="2982"/>
                  <a:pt x="0" y="2968"/>
                </a:cubicBezTo>
                <a:cubicBezTo>
                  <a:pt x="0" y="2955"/>
                  <a:pt x="11" y="2944"/>
                  <a:pt x="24" y="2944"/>
                </a:cubicBezTo>
                <a:close/>
              </a:path>
            </a:pathLst>
          </a:custGeom>
          <a:solidFill>
            <a:schemeClr val="tx1"/>
          </a:solidFill>
          <a:ln w="4" cap="flat">
            <a:solidFill>
              <a:schemeClr val="tx1"/>
            </a:solidFill>
            <a:prstDash val="solid"/>
            <a:bevel/>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mj-lt"/>
            </a:endParaRPr>
          </a:p>
        </p:txBody>
      </p:sp>
      <p:sp>
        <p:nvSpPr>
          <p:cNvPr id="29" name="Freeform 28"/>
          <p:cNvSpPr/>
          <p:nvPr/>
        </p:nvSpPr>
        <p:spPr>
          <a:xfrm>
            <a:off x="6071210" y="2910780"/>
            <a:ext cx="593725" cy="123825"/>
          </a:xfrm>
          <a:custGeom>
            <a:avLst/>
            <a:gdLst>
              <a:gd name="connsiteX0" fmla="*/ 3175 w 593725"/>
              <a:gd name="connsiteY0" fmla="*/ 0 h 123825"/>
              <a:gd name="connsiteX1" fmla="*/ 0 w 593725"/>
              <a:gd name="connsiteY1" fmla="*/ 123825 h 123825"/>
              <a:gd name="connsiteX2" fmla="*/ 593725 w 593725"/>
              <a:gd name="connsiteY2" fmla="*/ 114300 h 123825"/>
              <a:gd name="connsiteX3" fmla="*/ 584200 w 593725"/>
              <a:gd name="connsiteY3" fmla="*/ 98425 h 123825"/>
              <a:gd name="connsiteX4" fmla="*/ 425450 w 593725"/>
              <a:gd name="connsiteY4" fmla="*/ 88900 h 123825"/>
              <a:gd name="connsiteX5" fmla="*/ 266700 w 593725"/>
              <a:gd name="connsiteY5" fmla="*/ 88900 h 123825"/>
              <a:gd name="connsiteX6" fmla="*/ 127000 w 593725"/>
              <a:gd name="connsiteY6" fmla="*/ 50800 h 123825"/>
              <a:gd name="connsiteX7" fmla="*/ 3175 w 593725"/>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3725" h="123825">
                <a:moveTo>
                  <a:pt x="3175" y="0"/>
                </a:moveTo>
                <a:cubicBezTo>
                  <a:pt x="2117" y="41275"/>
                  <a:pt x="1058" y="82550"/>
                  <a:pt x="0" y="123825"/>
                </a:cubicBezTo>
                <a:lnTo>
                  <a:pt x="593725" y="114300"/>
                </a:lnTo>
                <a:lnTo>
                  <a:pt x="584200" y="98425"/>
                </a:lnTo>
                <a:lnTo>
                  <a:pt x="425450" y="88900"/>
                </a:lnTo>
                <a:lnTo>
                  <a:pt x="266700" y="88900"/>
                </a:lnTo>
                <a:lnTo>
                  <a:pt x="127000" y="50800"/>
                </a:lnTo>
                <a:lnTo>
                  <a:pt x="3175" y="0"/>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33" name="Freeform 32"/>
          <p:cNvSpPr/>
          <p:nvPr/>
        </p:nvSpPr>
        <p:spPr>
          <a:xfrm>
            <a:off x="9183504" y="5234781"/>
            <a:ext cx="280987" cy="78581"/>
          </a:xfrm>
          <a:custGeom>
            <a:avLst/>
            <a:gdLst>
              <a:gd name="connsiteX0" fmla="*/ 276225 w 280987"/>
              <a:gd name="connsiteY0" fmla="*/ 73818 h 78581"/>
              <a:gd name="connsiteX1" fmla="*/ 280987 w 280987"/>
              <a:gd name="connsiteY1" fmla="*/ 0 h 78581"/>
              <a:gd name="connsiteX2" fmla="*/ 235744 w 280987"/>
              <a:gd name="connsiteY2" fmla="*/ 23812 h 78581"/>
              <a:gd name="connsiteX3" fmla="*/ 121444 w 280987"/>
              <a:gd name="connsiteY3" fmla="*/ 59531 h 78581"/>
              <a:gd name="connsiteX4" fmla="*/ 30956 w 280987"/>
              <a:gd name="connsiteY4" fmla="*/ 66675 h 78581"/>
              <a:gd name="connsiteX5" fmla="*/ 0 w 280987"/>
              <a:gd name="connsiteY5" fmla="*/ 78581 h 78581"/>
              <a:gd name="connsiteX6" fmla="*/ 276225 w 280987"/>
              <a:gd name="connsiteY6" fmla="*/ 73818 h 7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987" h="78581">
                <a:moveTo>
                  <a:pt x="276225" y="73818"/>
                </a:moveTo>
                <a:lnTo>
                  <a:pt x="280987" y="0"/>
                </a:lnTo>
                <a:lnTo>
                  <a:pt x="235744" y="23812"/>
                </a:lnTo>
                <a:lnTo>
                  <a:pt x="121444" y="59531"/>
                </a:lnTo>
                <a:lnTo>
                  <a:pt x="30956" y="66675"/>
                </a:lnTo>
                <a:lnTo>
                  <a:pt x="0" y="78581"/>
                </a:lnTo>
                <a:lnTo>
                  <a:pt x="276225" y="73818"/>
                </a:lnTo>
                <a:close/>
              </a:path>
            </a:pathLst>
          </a:cu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34" name="Freeform 33"/>
          <p:cNvSpPr/>
          <p:nvPr/>
        </p:nvSpPr>
        <p:spPr>
          <a:xfrm>
            <a:off x="9457348" y="2971898"/>
            <a:ext cx="185737" cy="61912"/>
          </a:xfrm>
          <a:custGeom>
            <a:avLst/>
            <a:gdLst>
              <a:gd name="connsiteX0" fmla="*/ 9525 w 185737"/>
              <a:gd name="connsiteY0" fmla="*/ 0 h 61912"/>
              <a:gd name="connsiteX1" fmla="*/ 61912 w 185737"/>
              <a:gd name="connsiteY1" fmla="*/ 38100 h 61912"/>
              <a:gd name="connsiteX2" fmla="*/ 176212 w 185737"/>
              <a:gd name="connsiteY2" fmla="*/ 40481 h 61912"/>
              <a:gd name="connsiteX3" fmla="*/ 185737 w 185737"/>
              <a:gd name="connsiteY3" fmla="*/ 59531 h 61912"/>
              <a:gd name="connsiteX4" fmla="*/ 0 w 185737"/>
              <a:gd name="connsiteY4" fmla="*/ 61912 h 61912"/>
              <a:gd name="connsiteX5" fmla="*/ 9525 w 185737"/>
              <a:gd name="connsiteY5" fmla="*/ 0 h 6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737" h="61912">
                <a:moveTo>
                  <a:pt x="9525" y="0"/>
                </a:moveTo>
                <a:lnTo>
                  <a:pt x="61912" y="38100"/>
                </a:lnTo>
                <a:lnTo>
                  <a:pt x="176212" y="40481"/>
                </a:lnTo>
                <a:lnTo>
                  <a:pt x="185737" y="59531"/>
                </a:lnTo>
                <a:lnTo>
                  <a:pt x="0" y="61912"/>
                </a:lnTo>
                <a:lnTo>
                  <a:pt x="9525" y="0"/>
                </a:lnTo>
                <a:close/>
              </a:path>
            </a:pathLst>
          </a:cu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mj-lt"/>
            </a:endParaRPr>
          </a:p>
        </p:txBody>
      </p:sp>
      <p:sp>
        <p:nvSpPr>
          <p:cNvPr id="54" name="TextBox 53"/>
          <p:cNvSpPr txBox="1"/>
          <p:nvPr/>
        </p:nvSpPr>
        <p:spPr>
          <a:xfrm>
            <a:off x="3087771" y="1619397"/>
            <a:ext cx="1976438" cy="1200329"/>
          </a:xfrm>
          <a:prstGeom prst="rect">
            <a:avLst/>
          </a:prstGeom>
          <a:noFill/>
        </p:spPr>
        <p:txBody>
          <a:bodyPr wrap="square" rtlCol="0">
            <a:spAutoFit/>
          </a:bodyPr>
          <a:lstStyle/>
          <a:p>
            <a:r>
              <a:rPr lang="en-CA" sz="2400" i="1" dirty="0">
                <a:solidFill>
                  <a:schemeClr val="tx1"/>
                </a:solidFill>
                <a:latin typeface="+mj-lt"/>
                <a:cs typeface="Times New Roman" pitchFamily="18" charset="0"/>
              </a:rPr>
              <a:t>Type I error (</a:t>
            </a:r>
            <a:r>
              <a:rPr lang="el-GR" sz="2400" i="1" dirty="0">
                <a:solidFill>
                  <a:schemeClr val="tx1"/>
                </a:solidFill>
                <a:latin typeface="+mj-lt"/>
                <a:cs typeface="Times New Roman" pitchFamily="18" charset="0"/>
              </a:rPr>
              <a:t>α</a:t>
            </a:r>
            <a:r>
              <a:rPr lang="en-CA" sz="2400" i="1" dirty="0">
                <a:solidFill>
                  <a:schemeClr val="tx1"/>
                </a:solidFill>
                <a:latin typeface="+mj-lt"/>
                <a:cs typeface="Times New Roman" pitchFamily="18" charset="0"/>
              </a:rPr>
              <a:t>) (area in red)</a:t>
            </a:r>
            <a:endParaRPr lang="en-GB" sz="2400" i="1" dirty="0">
              <a:solidFill>
                <a:schemeClr val="tx1"/>
              </a:solidFill>
              <a:latin typeface="+mj-lt"/>
              <a:cs typeface="Times New Roman" pitchFamily="18" charset="0"/>
            </a:endParaRPr>
          </a:p>
        </p:txBody>
      </p:sp>
      <p:grpSp>
        <p:nvGrpSpPr>
          <p:cNvPr id="55" name="Group 54"/>
          <p:cNvGrpSpPr/>
          <p:nvPr/>
        </p:nvGrpSpPr>
        <p:grpSpPr>
          <a:xfrm>
            <a:off x="5972134" y="1942561"/>
            <a:ext cx="1372412" cy="946250"/>
            <a:chOff x="4610957" y="2254920"/>
            <a:chExt cx="1372412" cy="946250"/>
          </a:xfrm>
        </p:grpSpPr>
        <p:sp>
          <p:nvSpPr>
            <p:cNvPr id="56" name="TextBox 55"/>
            <p:cNvSpPr txBox="1"/>
            <p:nvPr/>
          </p:nvSpPr>
          <p:spPr>
            <a:xfrm>
              <a:off x="4610957" y="2435657"/>
              <a:ext cx="1280242" cy="584775"/>
            </a:xfrm>
            <a:prstGeom prst="rect">
              <a:avLst/>
            </a:prstGeom>
            <a:noFill/>
          </p:spPr>
          <p:txBody>
            <a:bodyPr wrap="square" rtlCol="0">
              <a:spAutoFit/>
            </a:bodyPr>
            <a:lstStyle/>
            <a:p>
              <a:pPr algn="ctr"/>
              <a:r>
                <a:rPr lang="en-CA" sz="1600" dirty="0">
                  <a:solidFill>
                    <a:schemeClr val="tx1"/>
                  </a:solidFill>
                  <a:latin typeface="+mj-lt"/>
                  <a:cs typeface="Times New Roman" pitchFamily="18" charset="0"/>
                </a:rPr>
                <a:t>Rejection Region (</a:t>
              </a:r>
              <a:r>
                <a:rPr lang="el-GR" sz="1600" dirty="0">
                  <a:solidFill>
                    <a:schemeClr val="tx1"/>
                  </a:solidFill>
                  <a:latin typeface="+mj-lt"/>
                  <a:cs typeface="Times New Roman" pitchFamily="18" charset="0"/>
                </a:rPr>
                <a:t>α</a:t>
              </a:r>
              <a:r>
                <a:rPr lang="en-CA" sz="1600" dirty="0">
                  <a:solidFill>
                    <a:schemeClr val="tx1"/>
                  </a:solidFill>
                  <a:latin typeface="+mj-lt"/>
                  <a:cs typeface="Times New Roman" pitchFamily="18" charset="0"/>
                </a:rPr>
                <a:t>)</a:t>
              </a:r>
              <a:endParaRPr lang="en-GB" sz="1600" dirty="0">
                <a:solidFill>
                  <a:schemeClr val="tx1"/>
                </a:solidFill>
                <a:latin typeface="+mj-lt"/>
                <a:cs typeface="Times New Roman" pitchFamily="18" charset="0"/>
              </a:endParaRPr>
            </a:p>
          </p:txBody>
        </p:sp>
        <p:sp>
          <p:nvSpPr>
            <p:cNvPr id="57" name="Right Arrow 56"/>
            <p:cNvSpPr/>
            <p:nvPr/>
          </p:nvSpPr>
          <p:spPr>
            <a:xfrm>
              <a:off x="4703681" y="2254920"/>
              <a:ext cx="1279688" cy="946250"/>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grpSp>
      <p:sp>
        <p:nvSpPr>
          <p:cNvPr id="58" name="Rectangle 57"/>
          <p:cNvSpPr/>
          <p:nvPr/>
        </p:nvSpPr>
        <p:spPr>
          <a:xfrm>
            <a:off x="3082073" y="1632844"/>
            <a:ext cx="8627966" cy="1846260"/>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useBgFill="1">
        <p:nvSpPr>
          <p:cNvPr id="59" name="Rectangle 58"/>
          <p:cNvSpPr/>
          <p:nvPr/>
        </p:nvSpPr>
        <p:spPr>
          <a:xfrm>
            <a:off x="6198828" y="1448177"/>
            <a:ext cx="2453429" cy="400110"/>
          </a:xfrm>
          <a:prstGeom prst="rect">
            <a:avLst/>
          </a:prstGeom>
          <a:ln>
            <a:solidFill>
              <a:schemeClr val="tx1"/>
            </a:solidFill>
          </a:ln>
        </p:spPr>
        <p:txBody>
          <a:bodyPr wrap="none">
            <a:spAutoFit/>
          </a:bodyPr>
          <a:lstStyle/>
          <a:p>
            <a:r>
              <a:rPr lang="en-CA" sz="2000" dirty="0">
                <a:solidFill>
                  <a:schemeClr val="tx1"/>
                </a:solidFill>
                <a:latin typeface="+mj-lt"/>
                <a:cs typeface="Times New Roman" pitchFamily="18" charset="0"/>
              </a:rPr>
              <a:t>Given the Null is True</a:t>
            </a:r>
            <a:endParaRPr lang="en-US" sz="2000" dirty="0">
              <a:solidFill>
                <a:schemeClr val="tx1"/>
              </a:solidFill>
              <a:latin typeface="+mj-lt"/>
            </a:endParaRPr>
          </a:p>
        </p:txBody>
      </p:sp>
      <p:grpSp>
        <p:nvGrpSpPr>
          <p:cNvPr id="60" name="Group 59"/>
          <p:cNvGrpSpPr/>
          <p:nvPr/>
        </p:nvGrpSpPr>
        <p:grpSpPr>
          <a:xfrm>
            <a:off x="9378719" y="1889329"/>
            <a:ext cx="1263162" cy="946250"/>
            <a:chOff x="4610957" y="2254920"/>
            <a:chExt cx="1372412" cy="946250"/>
          </a:xfrm>
        </p:grpSpPr>
        <p:sp>
          <p:nvSpPr>
            <p:cNvPr id="61" name="TextBox 60"/>
            <p:cNvSpPr txBox="1"/>
            <p:nvPr/>
          </p:nvSpPr>
          <p:spPr>
            <a:xfrm>
              <a:off x="4610957" y="2435657"/>
              <a:ext cx="1280242" cy="584775"/>
            </a:xfrm>
            <a:prstGeom prst="rect">
              <a:avLst/>
            </a:prstGeom>
            <a:noFill/>
          </p:spPr>
          <p:txBody>
            <a:bodyPr wrap="square" rtlCol="0">
              <a:spAutoFit/>
            </a:bodyPr>
            <a:lstStyle/>
            <a:p>
              <a:pPr algn="ctr"/>
              <a:r>
                <a:rPr lang="en-CA" sz="1600" dirty="0">
                  <a:solidFill>
                    <a:schemeClr val="tx1"/>
                  </a:solidFill>
                  <a:latin typeface="+mj-lt"/>
                  <a:cs typeface="Times New Roman" pitchFamily="18" charset="0"/>
                </a:rPr>
                <a:t>Rejection Region</a:t>
              </a:r>
              <a:r>
                <a:rPr lang="en-CA" sz="100" dirty="0">
                  <a:solidFill>
                    <a:schemeClr val="tx1"/>
                  </a:solidFill>
                  <a:latin typeface="+mj-lt"/>
                  <a:cs typeface="Times New Roman" pitchFamily="18" charset="0"/>
                </a:rPr>
                <a:t> </a:t>
              </a:r>
              <a:r>
                <a:rPr lang="en-CA" sz="1600" dirty="0">
                  <a:solidFill>
                    <a:schemeClr val="tx1"/>
                  </a:solidFill>
                  <a:latin typeface="+mj-lt"/>
                  <a:cs typeface="Times New Roman" pitchFamily="18" charset="0"/>
                </a:rPr>
                <a:t>(</a:t>
              </a:r>
              <a:r>
                <a:rPr lang="el-GR" sz="1600" dirty="0">
                  <a:solidFill>
                    <a:schemeClr val="tx1"/>
                  </a:solidFill>
                  <a:latin typeface="+mj-lt"/>
                  <a:cs typeface="Times New Roman" pitchFamily="18" charset="0"/>
                </a:rPr>
                <a:t>α</a:t>
              </a:r>
              <a:r>
                <a:rPr lang="en-CA" sz="1600" dirty="0">
                  <a:solidFill>
                    <a:schemeClr val="tx1"/>
                  </a:solidFill>
                  <a:latin typeface="+mj-lt"/>
                  <a:cs typeface="Times New Roman" pitchFamily="18" charset="0"/>
                </a:rPr>
                <a:t>)</a:t>
              </a:r>
              <a:endParaRPr lang="en-GB" sz="1600" dirty="0">
                <a:solidFill>
                  <a:schemeClr val="tx1"/>
                </a:solidFill>
                <a:latin typeface="+mj-lt"/>
                <a:cs typeface="Times New Roman" pitchFamily="18" charset="0"/>
              </a:endParaRPr>
            </a:p>
          </p:txBody>
        </p:sp>
        <p:sp>
          <p:nvSpPr>
            <p:cNvPr id="62" name="Right Arrow 61"/>
            <p:cNvSpPr/>
            <p:nvPr/>
          </p:nvSpPr>
          <p:spPr>
            <a:xfrm>
              <a:off x="4703681" y="2254920"/>
              <a:ext cx="1279688" cy="946250"/>
            </a:xfrm>
            <a:prstGeom prst="rightArrow">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mj-lt"/>
                <a:cs typeface="Times New Roman" pitchFamily="18" charset="0"/>
              </a:endParaRPr>
            </a:p>
          </p:txBody>
        </p:sp>
      </p:grpSp>
      <p:sp>
        <p:nvSpPr>
          <p:cNvPr id="63" name="TextBox 62"/>
          <p:cNvSpPr txBox="1"/>
          <p:nvPr/>
        </p:nvSpPr>
        <p:spPr>
          <a:xfrm>
            <a:off x="3082073" y="3869822"/>
            <a:ext cx="1976438" cy="1200329"/>
          </a:xfrm>
          <a:prstGeom prst="rect">
            <a:avLst/>
          </a:prstGeom>
          <a:noFill/>
        </p:spPr>
        <p:txBody>
          <a:bodyPr wrap="square" rtlCol="0">
            <a:spAutoFit/>
          </a:bodyPr>
          <a:lstStyle/>
          <a:p>
            <a:r>
              <a:rPr lang="en-CA" sz="2400" i="1" dirty="0">
                <a:solidFill>
                  <a:schemeClr val="tx1"/>
                </a:solidFill>
                <a:latin typeface="+mj-lt"/>
                <a:cs typeface="Times New Roman" pitchFamily="18" charset="0"/>
              </a:rPr>
              <a:t>Type II error (</a:t>
            </a:r>
            <a:r>
              <a:rPr lang="el-GR" sz="2400" dirty="0">
                <a:solidFill>
                  <a:schemeClr val="tx1"/>
                </a:solidFill>
                <a:latin typeface="+mj-lt"/>
                <a:cs typeface="Times New Roman" pitchFamily="18" charset="0"/>
              </a:rPr>
              <a:t>β</a:t>
            </a:r>
            <a:r>
              <a:rPr lang="en-CA" sz="2400" i="1" dirty="0">
                <a:solidFill>
                  <a:schemeClr val="tx1"/>
                </a:solidFill>
                <a:latin typeface="+mj-lt"/>
                <a:cs typeface="Times New Roman" pitchFamily="18" charset="0"/>
              </a:rPr>
              <a:t>)</a:t>
            </a:r>
            <a:r>
              <a:rPr lang="en-GB" sz="2400" i="1" dirty="0">
                <a:solidFill>
                  <a:schemeClr val="tx1"/>
                </a:solidFill>
                <a:latin typeface="+mj-lt"/>
                <a:cs typeface="Times New Roman" pitchFamily="18" charset="0"/>
              </a:rPr>
              <a:t> area in blue</a:t>
            </a:r>
            <a:endParaRPr lang="en-CA" sz="2400" i="1" dirty="0">
              <a:solidFill>
                <a:schemeClr val="tx1"/>
              </a:solidFill>
              <a:latin typeface="+mj-lt"/>
              <a:cs typeface="Times New Roman" pitchFamily="18" charset="0"/>
            </a:endParaRPr>
          </a:p>
        </p:txBody>
      </p:sp>
      <p:sp>
        <p:nvSpPr>
          <p:cNvPr id="64" name="Rectangle 63"/>
          <p:cNvSpPr/>
          <p:nvPr/>
        </p:nvSpPr>
        <p:spPr>
          <a:xfrm>
            <a:off x="3079174" y="3856214"/>
            <a:ext cx="8627966" cy="1846260"/>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useBgFill="1">
        <p:nvSpPr>
          <p:cNvPr id="65" name="Rectangle 64"/>
          <p:cNvSpPr/>
          <p:nvPr/>
        </p:nvSpPr>
        <p:spPr>
          <a:xfrm>
            <a:off x="6354446" y="3642279"/>
            <a:ext cx="2098908" cy="400110"/>
          </a:xfrm>
          <a:prstGeom prst="rect">
            <a:avLst/>
          </a:prstGeom>
          <a:ln>
            <a:solidFill>
              <a:schemeClr val="tx1"/>
            </a:solidFill>
          </a:ln>
        </p:spPr>
        <p:txBody>
          <a:bodyPr wrap="none">
            <a:spAutoFit/>
          </a:bodyPr>
          <a:lstStyle/>
          <a:p>
            <a:r>
              <a:rPr lang="en-CA" sz="2000" dirty="0">
                <a:solidFill>
                  <a:schemeClr val="tx1"/>
                </a:solidFill>
                <a:latin typeface="+mj-lt"/>
                <a:cs typeface="Times New Roman" pitchFamily="18" charset="0"/>
              </a:rPr>
              <a:t>Given Null is False</a:t>
            </a:r>
            <a:endParaRPr lang="en-US" sz="2000" dirty="0">
              <a:solidFill>
                <a:schemeClr val="tx1"/>
              </a:solidFill>
              <a:latin typeface="+mj-lt"/>
              <a:cs typeface="Times New Roman" pitchFamily="18" charset="0"/>
            </a:endParaRPr>
          </a:p>
        </p:txBody>
      </p:sp>
    </p:spTree>
    <p:extLst>
      <p:ext uri="{BB962C8B-B14F-4D97-AF65-F5344CB8AC3E}">
        <p14:creationId xmlns:p14="http://schemas.microsoft.com/office/powerpoint/2010/main" val="393258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311995"/>
            <a:ext cx="9401269" cy="937444"/>
          </a:xfrm>
        </p:spPr>
        <p:txBody>
          <a:bodyPr/>
          <a:lstStyle/>
          <a:p>
            <a:r>
              <a:rPr lang="en-CA" dirty="0"/>
              <a:t>This Brings Us to Power</a:t>
            </a:r>
          </a:p>
        </p:txBody>
      </p:sp>
      <p:sp>
        <p:nvSpPr>
          <p:cNvPr id="3" name="Content Placeholder 2">
            <a:extLst>
              <a:ext uri="{FF2B5EF4-FFF2-40B4-BE49-F238E27FC236}">
                <a16:creationId xmlns:a16="http://schemas.microsoft.com/office/drawing/2014/main" id="{81FA030C-2F19-4AD0-8A73-C4DEB640C01A}"/>
              </a:ext>
            </a:extLst>
          </p:cNvPr>
          <p:cNvSpPr>
            <a:spLocks noGrp="1"/>
          </p:cNvSpPr>
          <p:nvPr>
            <p:ph idx="1"/>
          </p:nvPr>
        </p:nvSpPr>
        <p:spPr>
          <a:xfrm>
            <a:off x="838200" y="1691014"/>
            <a:ext cx="10848584" cy="5348613"/>
          </a:xfrm>
        </p:spPr>
        <p:txBody>
          <a:bodyPr/>
          <a:lstStyle/>
          <a:p>
            <a:pPr marL="0" indent="0" algn="l">
              <a:buNone/>
            </a:pPr>
            <a:r>
              <a:rPr lang="en-CA" sz="2400" b="0" dirty="0">
                <a:solidFill>
                  <a:schemeClr val="tx1"/>
                </a:solidFill>
                <a:ea typeface="Tahoma" pitchFamily="34" charset="0"/>
                <a:cs typeface="Times New Roman" pitchFamily="18" charset="0"/>
              </a:rPr>
              <a:t>Power represents the probability of rejecting the null hypothesis when it is false. The power of a test is defined as 1– </a:t>
            </a:r>
            <a:r>
              <a:rPr lang="el-GR" sz="2400" b="0" dirty="0">
                <a:solidFill>
                  <a:schemeClr val="tx1"/>
                </a:solidFill>
                <a:ea typeface="Tahoma" pitchFamily="34" charset="0"/>
                <a:cs typeface="Times New Roman" pitchFamily="18" charset="0"/>
              </a:rPr>
              <a:t>β</a:t>
            </a:r>
            <a:r>
              <a:rPr lang="en-CA" sz="2400" b="0" dirty="0">
                <a:solidFill>
                  <a:schemeClr val="tx1"/>
                </a:solidFill>
                <a:ea typeface="Tahoma" pitchFamily="34" charset="0"/>
                <a:cs typeface="Times New Roman" pitchFamily="18" charset="0"/>
              </a:rPr>
              <a:t>.</a:t>
            </a:r>
            <a:endParaRPr lang="en-CA" sz="2400" b="0" dirty="0">
              <a:ea typeface="Tahoma" pitchFamily="34" charset="0"/>
              <a:cs typeface="Times New Roman" pitchFamily="18" charset="0"/>
            </a:endParaRPr>
          </a:p>
          <a:p>
            <a:pPr marL="0" indent="0">
              <a:buNone/>
            </a:pPr>
            <a:endParaRPr lang="en-CA" sz="2800" b="0" dirty="0">
              <a:latin typeface="+mj-lt"/>
              <a:ea typeface="Tahoma" pitchFamily="34" charset="0"/>
              <a:cs typeface="Times New Roman" pitchFamily="18" charset="0"/>
            </a:endParaRPr>
          </a:p>
          <a:p>
            <a:pPr marL="0" indent="0">
              <a:buNone/>
            </a:pPr>
            <a:endParaRPr lang="en-CA" sz="2800" b="0" dirty="0">
              <a:latin typeface="+mj-lt"/>
              <a:ea typeface="Tahoma" pitchFamily="34" charset="0"/>
              <a:cs typeface="Times New Roman" pitchFamily="18" charset="0"/>
            </a:endParaRPr>
          </a:p>
          <a:p>
            <a:pPr marL="0" indent="0">
              <a:buNone/>
            </a:pPr>
            <a:endParaRPr lang="en-CA" sz="2800" b="0" dirty="0">
              <a:latin typeface="+mj-lt"/>
              <a:ea typeface="Tahoma" pitchFamily="34" charset="0"/>
              <a:cs typeface="Times New Roman" pitchFamily="18" charset="0"/>
            </a:endParaRPr>
          </a:p>
          <a:p>
            <a:pPr marL="0" indent="0" algn="l">
              <a:spcBef>
                <a:spcPts val="3000"/>
              </a:spcBef>
              <a:buNone/>
            </a:pPr>
            <a:r>
              <a:rPr lang="en-CA" sz="2400" b="0" dirty="0">
                <a:solidFill>
                  <a:schemeClr val="tx1"/>
                </a:solidFill>
                <a:ea typeface="Tahoma" pitchFamily="34" charset="0"/>
                <a:cs typeface="Times New Roman" pitchFamily="18" charset="0"/>
              </a:rPr>
              <a:t>The power of a test depends on how far the true parameter value is from that assumed by the null hypothesis. The distance between the null hypothesis value and the truth is called the </a:t>
            </a:r>
            <a:r>
              <a:rPr lang="en-CA" sz="2400" dirty="0">
                <a:solidFill>
                  <a:srgbClr val="FF0000"/>
                </a:solidFill>
                <a:ea typeface="Tahoma" pitchFamily="34" charset="0"/>
                <a:cs typeface="Times New Roman" pitchFamily="18" charset="0"/>
              </a:rPr>
              <a:t>effect size</a:t>
            </a:r>
            <a:r>
              <a:rPr lang="en-CA" sz="2400" b="0" dirty="0">
                <a:solidFill>
                  <a:schemeClr val="tx1"/>
                </a:solidFill>
                <a:ea typeface="Tahoma" pitchFamily="34" charset="0"/>
                <a:cs typeface="Times New Roman" pitchFamily="18" charset="0"/>
              </a:rPr>
              <a:t>.</a:t>
            </a:r>
            <a:endParaRPr lang="en-CA" sz="2800" b="0" dirty="0">
              <a:latin typeface="Times New Roman" pitchFamily="18" charset="0"/>
              <a:ea typeface="Tahoma" pitchFamily="34" charset="0"/>
              <a:cs typeface="Times New Roman" pitchFamily="18" charset="0"/>
            </a:endParaRPr>
          </a:p>
          <a:p>
            <a:pPr marL="0" indent="0">
              <a:buNone/>
            </a:pPr>
            <a:r>
              <a:rPr lang="en-CA" sz="2400" b="0" dirty="0">
                <a:solidFill>
                  <a:srgbClr val="FF0000"/>
                </a:solidFill>
                <a:ea typeface="Tahoma" pitchFamily="34" charset="0"/>
                <a:cs typeface="Times New Roman" pitchFamily="18" charset="0"/>
              </a:rPr>
              <a:t>Power increases as n↑; effect size↑; </a:t>
            </a:r>
            <a:r>
              <a:rPr lang="el-GR" sz="2400" b="0" dirty="0">
                <a:solidFill>
                  <a:srgbClr val="FF0000"/>
                </a:solidFill>
                <a:ea typeface="Tahoma" pitchFamily="34" charset="0"/>
                <a:cs typeface="Times New Roman" pitchFamily="18" charset="0"/>
              </a:rPr>
              <a:t>α</a:t>
            </a:r>
            <a:r>
              <a:rPr lang="en-CA" sz="2400" b="0" dirty="0">
                <a:solidFill>
                  <a:srgbClr val="FF0000"/>
                </a:solidFill>
                <a:ea typeface="Tahoma" pitchFamily="34" charset="0"/>
                <a:cs typeface="Times New Roman" pitchFamily="18" charset="0"/>
              </a:rPr>
              <a:t>↑; </a:t>
            </a:r>
            <a:r>
              <a:rPr lang="el-GR" sz="2400" b="0" dirty="0">
                <a:solidFill>
                  <a:srgbClr val="FF0000"/>
                </a:solidFill>
                <a:ea typeface="Tahoma" pitchFamily="34" charset="0"/>
                <a:cs typeface="Times New Roman"/>
              </a:rPr>
              <a:t>σ</a:t>
            </a:r>
            <a:r>
              <a:rPr lang="en-CA" sz="2400" b="0" dirty="0">
                <a:solidFill>
                  <a:srgbClr val="FF0000"/>
                </a:solidFill>
                <a:ea typeface="Tahoma" pitchFamily="34" charset="0"/>
                <a:cs typeface="Times New Roman" pitchFamily="18" charset="0"/>
              </a:rPr>
              <a:t>↓. </a:t>
            </a:r>
          </a:p>
          <a:p>
            <a:pPr marL="0" lvl="0" indent="0">
              <a:spcBef>
                <a:spcPct val="20000"/>
              </a:spcBef>
              <a:buSzPct val="85000"/>
              <a:buNone/>
              <a:defRPr/>
            </a:pPr>
            <a:endParaRPr lang="en-CA" sz="2800" dirty="0">
              <a:latin typeface="Times New Roman" pitchFamily="18" charset="0"/>
              <a:cs typeface="Times New Roman" pitchFamily="18" charset="0"/>
            </a:endParaRPr>
          </a:p>
          <a:p>
            <a:pPr marL="0" indent="0">
              <a:buNone/>
            </a:pPr>
            <a:endParaRPr lang="en-US" dirty="0"/>
          </a:p>
        </p:txBody>
      </p:sp>
      <p:graphicFrame>
        <p:nvGraphicFramePr>
          <p:cNvPr id="6" name="Group 32"/>
          <p:cNvGraphicFramePr>
            <a:graphicFrameLocks noGrp="1"/>
          </p:cNvGraphicFramePr>
          <p:nvPr>
            <p:extLst>
              <p:ext uri="{D42A27DB-BD31-4B8C-83A1-F6EECF244321}">
                <p14:modId xmlns:p14="http://schemas.microsoft.com/office/powerpoint/2010/main" val="3033247622"/>
              </p:ext>
            </p:extLst>
          </p:nvPr>
        </p:nvGraphicFramePr>
        <p:xfrm>
          <a:off x="3217102" y="2612720"/>
          <a:ext cx="5181600" cy="1752600"/>
        </p:xfrm>
        <a:graphic>
          <a:graphicData uri="http://schemas.openxmlformats.org/drawingml/2006/table">
            <a:tbl>
              <a:tblPr/>
              <a:tblGrid>
                <a:gridCol w="2362595">
                  <a:extLst>
                    <a:ext uri="{9D8B030D-6E8A-4147-A177-3AD203B41FA5}">
                      <a16:colId xmlns:a16="http://schemas.microsoft.com/office/drawing/2014/main" val="20000"/>
                    </a:ext>
                  </a:extLst>
                </a:gridCol>
                <a:gridCol w="1449774">
                  <a:extLst>
                    <a:ext uri="{9D8B030D-6E8A-4147-A177-3AD203B41FA5}">
                      <a16:colId xmlns:a16="http://schemas.microsoft.com/office/drawing/2014/main" val="20001"/>
                    </a:ext>
                  </a:extLst>
                </a:gridCol>
                <a:gridCol w="1369231">
                  <a:extLst>
                    <a:ext uri="{9D8B030D-6E8A-4147-A177-3AD203B41FA5}">
                      <a16:colId xmlns:a16="http://schemas.microsoft.com/office/drawing/2014/main" val="20002"/>
                    </a:ext>
                  </a:extLst>
                </a:gridCol>
              </a:tblGrid>
              <a:tr h="609600">
                <a:tc>
                  <a:txBody>
                    <a:bodyPr/>
                    <a:lstStyle/>
                    <a:p>
                      <a:pPr marL="0" marR="0" lvl="0" indent="358775"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H</a:t>
                      </a:r>
                      <a:r>
                        <a:rPr kumimoji="0" lang="en-US" sz="2400" b="0" i="0" u="none" strike="noStrike" cap="none" normalizeH="0" baseline="-25000" dirty="0">
                          <a:ln>
                            <a:noFill/>
                          </a:ln>
                          <a:solidFill>
                            <a:schemeClr val="tx1"/>
                          </a:solidFill>
                          <a:effectLst/>
                          <a:latin typeface="Tahoma" pitchFamily="34" charset="0"/>
                          <a:cs typeface="Arial" charset="0"/>
                        </a:rPr>
                        <a:t>0</a:t>
                      </a:r>
                      <a:endParaRPr kumimoji="0" lang="en-US" sz="2400" b="0" i="0" u="none" strike="noStrike" cap="none" normalizeH="0" baseline="0" dirty="0">
                        <a:ln>
                          <a:noFill/>
                        </a:ln>
                        <a:solidFill>
                          <a:schemeClr val="tx1"/>
                        </a:solidFill>
                        <a:effectLst/>
                        <a:latin typeface="Tahom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True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False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Reject</a:t>
                      </a:r>
                      <a:endParaRPr kumimoji="0" lang="en-US" sz="3200" b="0" i="0" u="none" strike="noStrike" cap="none" normalizeH="0" baseline="0" dirty="0">
                        <a:ln>
                          <a:noFill/>
                        </a:ln>
                        <a:solidFill>
                          <a:schemeClr val="tx1"/>
                        </a:solidFill>
                        <a:effectLst/>
                        <a:latin typeface="Tahom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Type 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hlink"/>
                        </a:buClr>
                        <a:buSzPct val="70000"/>
                        <a:buFont typeface="Wingdings" pitchFamily="2" charset="2"/>
                        <a:buNone/>
                        <a:tabLst/>
                      </a:pPr>
                      <a:r>
                        <a:rPr kumimoji="0" lang="en-US" sz="2400" b="1" i="0" u="none" strike="noStrike" cap="none" normalizeH="0" baseline="0" dirty="0">
                          <a:ln>
                            <a:noFill/>
                          </a:ln>
                          <a:solidFill>
                            <a:srgbClr val="FF0000"/>
                          </a:solidFill>
                          <a:effectLst/>
                          <a:latin typeface="Tahoma" pitchFamily="34" charset="0"/>
                          <a:cs typeface="Arial" charset="0"/>
                        </a:rPr>
                        <a:t>power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5334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Do Not Reject</a:t>
                      </a:r>
                      <a:endParaRPr kumimoji="0" lang="en-US" sz="3200" b="0" i="0" u="none" strike="noStrike" cap="none" normalizeH="0" baseline="0" dirty="0">
                        <a:ln>
                          <a:noFill/>
                        </a:ln>
                        <a:solidFill>
                          <a:schemeClr val="tx1"/>
                        </a:solidFill>
                        <a:effectLst/>
                        <a:latin typeface="Tahom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58775"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400" b="0" i="0" u="none" strike="noStrike" cap="none" normalizeH="0" baseline="0" dirty="0">
                        <a:ln>
                          <a:noFill/>
                        </a:ln>
                        <a:solidFill>
                          <a:schemeClr val="tx1"/>
                        </a:solidFill>
                        <a:effectLst/>
                        <a:latin typeface="Tahom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cs typeface="Arial" charset="0"/>
                        </a:rPr>
                        <a:t>Type II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7249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Simple Hypothesis Testing in Regression</a:t>
            </a:r>
          </a:p>
        </p:txBody>
      </p:sp>
      <p:sp>
        <p:nvSpPr>
          <p:cNvPr id="5" name="Content Placeholder 4"/>
          <p:cNvSpPr>
            <a:spLocks noGrp="1"/>
          </p:cNvSpPr>
          <p:nvPr>
            <p:ph idx="1"/>
          </p:nvPr>
        </p:nvSpPr>
        <p:spPr>
          <a:xfrm>
            <a:off x="838200" y="1862138"/>
            <a:ext cx="10836058" cy="3889375"/>
          </a:xfrm>
        </p:spPr>
        <p:txBody>
          <a:bodyPr>
            <a:normAutofit/>
          </a:bodyPr>
          <a:lstStyle/>
          <a:p>
            <a:pPr marL="0" indent="0">
              <a:buNone/>
            </a:pPr>
            <a:r>
              <a:rPr lang="en-US" dirty="0"/>
              <a:t>You have already seen the simplest hypothesis testing in regression: the t-test on beta coefficients…</a:t>
            </a:r>
          </a:p>
          <a:p>
            <a:pPr marL="0" indent="0">
              <a:buNone/>
            </a:pPr>
            <a:endParaRPr lang="en-US" dirty="0"/>
          </a:p>
          <a:p>
            <a:pPr marL="0" indent="0">
              <a:buNone/>
            </a:pPr>
            <a:r>
              <a:rPr lang="en-US" dirty="0"/>
              <a:t>Let us consider a slightly more complicated test, as in the Hypothesis Testing cheat sheet. </a:t>
            </a:r>
          </a:p>
          <a:p>
            <a:pPr marL="0" indent="0">
              <a:buNone/>
            </a:pPr>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1095289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Advanced Hypothesis Testing</a:t>
            </a:r>
          </a:p>
        </p:txBody>
      </p:sp>
      <p:sp>
        <p:nvSpPr>
          <p:cNvPr id="5" name="Content Placeholder 4"/>
          <p:cNvSpPr>
            <a:spLocks noGrp="1"/>
          </p:cNvSpPr>
          <p:nvPr>
            <p:ph idx="1"/>
          </p:nvPr>
        </p:nvSpPr>
        <p:spPr/>
        <p:txBody>
          <a:bodyPr>
            <a:normAutofit/>
          </a:bodyPr>
          <a:lstStyle/>
          <a:p>
            <a:pPr marL="0" indent="0">
              <a:buNone/>
            </a:pPr>
            <a:r>
              <a:rPr lang="en-US" dirty="0"/>
              <a:t>Some key concepts:</a:t>
            </a:r>
          </a:p>
          <a:p>
            <a:pPr algn="just">
              <a:buFontTx/>
              <a:buChar char="-"/>
            </a:pPr>
            <a:r>
              <a:rPr lang="en-US" dirty="0"/>
              <a:t>New distributions (optional math details)</a:t>
            </a:r>
          </a:p>
          <a:p>
            <a:pPr algn="just">
              <a:buFontTx/>
              <a:buChar char="-"/>
            </a:pPr>
            <a:r>
              <a:rPr lang="en-US" dirty="0"/>
              <a:t>Simple </a:t>
            </a:r>
            <a:r>
              <a:rPr lang="en-US" i="1" dirty="0"/>
              <a:t>versus</a:t>
            </a:r>
            <a:r>
              <a:rPr lang="en-US" dirty="0"/>
              <a:t> compound tests</a:t>
            </a:r>
          </a:p>
          <a:p>
            <a:pPr algn="just">
              <a:buFontTx/>
              <a:buChar char="-"/>
            </a:pPr>
            <a:r>
              <a:rPr lang="en-US" dirty="0"/>
              <a:t>Exact </a:t>
            </a:r>
            <a:r>
              <a:rPr lang="en-US" i="1" dirty="0"/>
              <a:t>versus</a:t>
            </a:r>
            <a:r>
              <a:rPr lang="en-US" dirty="0"/>
              <a:t> asymptotic </a:t>
            </a:r>
            <a:r>
              <a:rPr lang="en-US" i="1" dirty="0"/>
              <a:t>versus</a:t>
            </a:r>
            <a:r>
              <a:rPr lang="en-US" dirty="0"/>
              <a:t> simulated tests</a:t>
            </a:r>
          </a:p>
          <a:p>
            <a:pPr algn="just">
              <a:buFontTx/>
              <a:buChar char="-"/>
            </a:pPr>
            <a:r>
              <a:rPr lang="en-US" dirty="0"/>
              <a:t>Hypothesis tests as restrictions on a model</a:t>
            </a:r>
          </a:p>
          <a:p>
            <a:pPr>
              <a:buFontTx/>
              <a:buChar char="-"/>
            </a:pPr>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3800783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More Advanced Hypothesis Testing – Distributions </a:t>
            </a:r>
          </a:p>
        </p:txBody>
      </p:sp>
      <p:sp>
        <p:nvSpPr>
          <p:cNvPr id="5" name="Content Placeholder 4"/>
          <p:cNvSpPr>
            <a:spLocks noGrp="1"/>
          </p:cNvSpPr>
          <p:nvPr>
            <p:ph idx="1"/>
          </p:nvPr>
        </p:nvSpPr>
        <p:spPr>
          <a:xfrm>
            <a:off x="838200" y="1862138"/>
            <a:ext cx="10836058" cy="3889375"/>
          </a:xfrm>
        </p:spPr>
        <p:txBody>
          <a:bodyPr>
            <a:normAutofit fontScale="92500"/>
          </a:bodyPr>
          <a:lstStyle/>
          <a:p>
            <a:pPr marL="0" indent="0">
              <a:buNone/>
            </a:pPr>
            <a:r>
              <a:rPr lang="en-US" sz="3000" dirty="0"/>
              <a:t>The t-distribution</a:t>
            </a:r>
          </a:p>
          <a:p>
            <a:r>
              <a:rPr lang="en-US" dirty="0"/>
              <a:t>A standard normal divided by the square-root of a chi-squared random variable divided by its degrees of freedom has a t-distribution with the same number of degrees of freedom as the chi-squared:</a:t>
            </a:r>
          </a:p>
          <a:p>
            <a:endParaRPr lang="en-US" dirty="0"/>
          </a:p>
          <a:p>
            <a:r>
              <a:rPr lang="en-US" dirty="0"/>
              <a:t>The t-distribution looks like a shorter, wider version of the normal.</a:t>
            </a:r>
            <a:br>
              <a:rPr lang="en-US" dirty="0"/>
            </a:br>
            <a:r>
              <a:rPr lang="en-US" dirty="0"/>
              <a:t>As                     .</a:t>
            </a:r>
          </a:p>
          <a:p>
            <a:r>
              <a:rPr lang="en-US" dirty="0"/>
              <a:t>The basic t-test used above is based on this result.</a:t>
            </a:r>
          </a:p>
        </p:txBody>
      </p:sp>
      <p:graphicFrame>
        <p:nvGraphicFramePr>
          <p:cNvPr id="2" name="Object 1"/>
          <p:cNvGraphicFramePr>
            <a:graphicFrameLocks noChangeAspect="1"/>
          </p:cNvGraphicFramePr>
          <p:nvPr>
            <p:extLst>
              <p:ext uri="{D42A27DB-BD31-4B8C-83A1-F6EECF244321}">
                <p14:modId xmlns:p14="http://schemas.microsoft.com/office/powerpoint/2010/main" val="344088955"/>
              </p:ext>
            </p:extLst>
          </p:nvPr>
        </p:nvGraphicFramePr>
        <p:xfrm>
          <a:off x="6038850" y="4222922"/>
          <a:ext cx="114300" cy="215900"/>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2" name="Object 1"/>
                      <p:cNvPicPr/>
                      <p:nvPr/>
                    </p:nvPicPr>
                    <p:blipFill>
                      <a:blip r:embed="rId7"/>
                      <a:stretch>
                        <a:fillRect/>
                      </a:stretch>
                    </p:blipFill>
                    <p:spPr>
                      <a:xfrm>
                        <a:off x="6038850" y="4222922"/>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812546387"/>
              </p:ext>
            </p:extLst>
          </p:nvPr>
        </p:nvGraphicFramePr>
        <p:xfrm>
          <a:off x="6038850" y="4222922"/>
          <a:ext cx="114300" cy="215900"/>
        </p:xfrm>
        <a:graphic>
          <a:graphicData uri="http://schemas.openxmlformats.org/presentationml/2006/ole">
            <mc:AlternateContent xmlns:mc="http://schemas.openxmlformats.org/markup-compatibility/2006">
              <mc:Choice xmlns:v="urn:schemas-microsoft-com:vml" Requires="v">
                <p:oleObj name="Equation" r:id="rId8" imgW="114120" imgH="215640" progId="Equation.3">
                  <p:embed/>
                </p:oleObj>
              </mc:Choice>
              <mc:Fallback>
                <p:oleObj name="Equation" r:id="rId8" imgW="114120" imgH="215640" progId="Equation.3">
                  <p:embed/>
                  <p:pic>
                    <p:nvPicPr>
                      <p:cNvPr id="8" name="Object 7"/>
                      <p:cNvPicPr/>
                      <p:nvPr/>
                    </p:nvPicPr>
                    <p:blipFill>
                      <a:blip r:embed="rId7"/>
                      <a:stretch>
                        <a:fillRect/>
                      </a:stretch>
                    </p:blipFill>
                    <p:spPr>
                      <a:xfrm>
                        <a:off x="6038850" y="4222922"/>
                        <a:ext cx="114300" cy="2159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870535778"/>
              </p:ext>
            </p:extLst>
          </p:nvPr>
        </p:nvGraphicFramePr>
        <p:xfrm>
          <a:off x="1458324" y="4721514"/>
          <a:ext cx="1802888" cy="386867"/>
        </p:xfrm>
        <a:graphic>
          <a:graphicData uri="http://schemas.openxmlformats.org/presentationml/2006/ole">
            <mc:AlternateContent xmlns:mc="http://schemas.openxmlformats.org/markup-compatibility/2006">
              <mc:Choice xmlns:v="urn:schemas-microsoft-com:vml" Requires="v">
                <p:oleObj name="Equation" r:id="rId9" imgW="952200" imgH="203040" progId="Equation.3">
                  <p:embed/>
                </p:oleObj>
              </mc:Choice>
              <mc:Fallback>
                <p:oleObj name="Equation" r:id="rId9" imgW="952200" imgH="203040" progId="Equation.3">
                  <p:embed/>
                  <p:pic>
                    <p:nvPicPr>
                      <p:cNvPr id="13" name="Object 12"/>
                      <p:cNvPicPr>
                        <a:picLocks noChangeAspect="1" noChangeArrowheads="1"/>
                      </p:cNvPicPr>
                      <p:nvPr/>
                    </p:nvPicPr>
                    <p:blipFill>
                      <a:blip r:embed="rId10"/>
                      <a:srcRect/>
                      <a:stretch>
                        <a:fillRect/>
                      </a:stretch>
                    </p:blipFill>
                    <p:spPr bwMode="auto">
                      <a:xfrm>
                        <a:off x="1458324" y="4721514"/>
                        <a:ext cx="1802888" cy="386867"/>
                      </a:xfrm>
                      <a:prstGeom prst="rect">
                        <a:avLst/>
                      </a:prstGeom>
                      <a:noFill/>
                      <a:ln>
                        <a:noFill/>
                      </a:ln>
                    </p:spPr>
                  </p:pic>
                </p:oleObj>
              </mc:Fallback>
            </mc:AlternateContent>
          </a:graphicData>
        </a:graphic>
      </p:graphicFrame>
      <p:pic>
        <p:nvPicPr>
          <p:cNvPr id="9" name="Picture 8"/>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3650380" y="3680206"/>
            <a:ext cx="1617549" cy="542716"/>
          </a:xfrm>
          <a:prstGeom prst="rect">
            <a:avLst/>
          </a:prstGeom>
        </p:spPr>
      </p:pic>
      <p:pic>
        <p:nvPicPr>
          <p:cNvPr id="12" name="Picture 11"/>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5793504" y="3635938"/>
            <a:ext cx="3261367" cy="299992"/>
          </a:xfrm>
          <a:prstGeom prst="rect">
            <a:avLst/>
          </a:prstGeom>
        </p:spPr>
      </p:pic>
      <p:pic>
        <p:nvPicPr>
          <p:cNvPr id="15" name="Picture 14"/>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3590529" y="5613831"/>
            <a:ext cx="4544319" cy="468168"/>
          </a:xfrm>
          <a:prstGeom prst="rect">
            <a:avLst/>
          </a:prstGeom>
        </p:spPr>
      </p:pic>
    </p:spTree>
    <p:extLst>
      <p:ext uri="{BB962C8B-B14F-4D97-AF65-F5344CB8AC3E}">
        <p14:creationId xmlns:p14="http://schemas.microsoft.com/office/powerpoint/2010/main" val="2955120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More Advanced Hypothesis Testing – Distributions </a:t>
            </a:r>
          </a:p>
        </p:txBody>
      </p:sp>
      <p:sp>
        <p:nvSpPr>
          <p:cNvPr id="5" name="Content Placeholder 4"/>
          <p:cNvSpPr>
            <a:spLocks noGrp="1"/>
          </p:cNvSpPr>
          <p:nvPr>
            <p:ph idx="1"/>
          </p:nvPr>
        </p:nvSpPr>
        <p:spPr>
          <a:xfrm>
            <a:off x="838200" y="1862138"/>
            <a:ext cx="10573011" cy="3889375"/>
          </a:xfrm>
        </p:spPr>
        <p:txBody>
          <a:bodyPr>
            <a:normAutofit/>
          </a:bodyPr>
          <a:lstStyle/>
          <a:p>
            <a:pPr marL="0" indent="0">
              <a:buNone/>
            </a:pPr>
            <a:r>
              <a:rPr lang="en-US" dirty="0"/>
              <a:t>The F-distribution </a:t>
            </a:r>
          </a:p>
          <a:p>
            <a:r>
              <a:rPr lang="en-US" dirty="0"/>
              <a:t>The ratio of two chi-squared random variables, each divided by their degrees of freedom has an F-distribution.</a:t>
            </a:r>
          </a:p>
          <a:p>
            <a:endParaRPr lang="en-US" dirty="0"/>
          </a:p>
        </p:txBody>
      </p:sp>
      <p:pic>
        <p:nvPicPr>
          <p:cNvPr id="3" name="Picture 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834984" y="3429000"/>
            <a:ext cx="3504992" cy="509890"/>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095999" y="3429000"/>
            <a:ext cx="3741871" cy="359332"/>
          </a:xfrm>
          <a:prstGeom prst="rect">
            <a:avLst/>
          </a:prstGeom>
        </p:spPr>
      </p:pic>
    </p:spTree>
    <p:extLst>
      <p:ext uri="{BB962C8B-B14F-4D97-AF65-F5344CB8AC3E}">
        <p14:creationId xmlns:p14="http://schemas.microsoft.com/office/powerpoint/2010/main" val="3504907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More Advanced Hypothesis Testing – Distributions </a:t>
            </a:r>
          </a:p>
        </p:txBody>
      </p:sp>
      <p:sp>
        <p:nvSpPr>
          <p:cNvPr id="5" name="Content Placeholder 4"/>
          <p:cNvSpPr>
            <a:spLocks noGrp="1"/>
          </p:cNvSpPr>
          <p:nvPr>
            <p:ph idx="1"/>
          </p:nvPr>
        </p:nvSpPr>
        <p:spPr>
          <a:xfrm>
            <a:off x="838200" y="1862138"/>
            <a:ext cx="10848584" cy="4363298"/>
          </a:xfrm>
        </p:spPr>
        <p:txBody>
          <a:bodyPr>
            <a:normAutofit fontScale="92500" lnSpcReduction="10000"/>
          </a:bodyPr>
          <a:lstStyle/>
          <a:p>
            <a:pPr marL="0" indent="0">
              <a:buNone/>
            </a:pPr>
            <a:r>
              <a:rPr lang="en-US" sz="3000" dirty="0"/>
              <a:t>The Chi-squared distribution</a:t>
            </a:r>
          </a:p>
          <a:p>
            <a:r>
              <a:rPr lang="en-US" sz="2600" dirty="0"/>
              <a:t>The sum of m squared independent standard normal variables is a chi-squared variable with m degrees of freedom:</a:t>
            </a:r>
            <a:br>
              <a:rPr lang="en-US" dirty="0"/>
            </a:br>
            <a:endParaRPr lang="en-US" dirty="0"/>
          </a:p>
          <a:p>
            <a:endParaRPr lang="en-US" dirty="0"/>
          </a:p>
          <a:p>
            <a:pPr>
              <a:spcBef>
                <a:spcPts val="0"/>
              </a:spcBef>
            </a:pPr>
            <a:r>
              <a:rPr lang="en-US" sz="2600" dirty="0"/>
              <a:t>This is particularly relevant for standardized errors since under the NID assumptions of error terms, 		 so                              and the product of the vectors </a:t>
            </a:r>
            <a:br>
              <a:rPr lang="en-US" dirty="0"/>
            </a:br>
            <a:r>
              <a:rPr lang="en-US" dirty="0"/>
              <a:t> </a:t>
            </a:r>
          </a:p>
          <a:p>
            <a:r>
              <a:rPr lang="en-US" sz="2600" dirty="0"/>
              <a:t>The sum of two chi-squared(m) variables is a chi-squared(n) variable with degrees of freedom m + n. </a:t>
            </a:r>
          </a:p>
          <a:p>
            <a:endParaRPr lang="en-US" dirty="0"/>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8" imgW="114120" imgH="215640" progId="Equation.3">
                  <p:embed/>
                </p:oleObj>
              </mc:Choice>
              <mc:Fallback>
                <p:oleObj name="Equation" r:id="rId8" imgW="114120" imgH="215640" progId="Equation.3">
                  <p:embed/>
                  <p:pic>
                    <p:nvPicPr>
                      <p:cNvPr id="2" name="Object 1"/>
                      <p:cNvPicPr/>
                      <p:nvPr/>
                    </p:nvPicPr>
                    <p:blipFill>
                      <a:blip r:embed="rId9"/>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10" imgW="114120" imgH="215640" progId="Equation.3">
                  <p:embed/>
                </p:oleObj>
              </mc:Choice>
              <mc:Fallback>
                <p:oleObj name="Equation" r:id="rId10" imgW="114120" imgH="215640" progId="Equation.3">
                  <p:embed/>
                  <p:pic>
                    <p:nvPicPr>
                      <p:cNvPr id="8" name="Object 7"/>
                      <p:cNvPicPr/>
                      <p:nvPr/>
                    </p:nvPicPr>
                    <p:blipFill>
                      <a:blip r:embed="rId9"/>
                      <a:stretch>
                        <a:fillRect/>
                      </a:stretch>
                    </p:blipFill>
                    <p:spPr>
                      <a:xfrm>
                        <a:off x="6038850" y="3321050"/>
                        <a:ext cx="114300" cy="215900"/>
                      </a:xfrm>
                      <a:prstGeom prst="rect">
                        <a:avLst/>
                      </a:prstGeom>
                    </p:spPr>
                  </p:pic>
                </p:oleObj>
              </mc:Fallback>
            </mc:AlternateContent>
          </a:graphicData>
        </a:graphic>
      </p:graphicFrame>
      <p:pic>
        <p:nvPicPr>
          <p:cNvPr id="3" name="Picture 2"/>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2516869" y="3119394"/>
            <a:ext cx="1358074" cy="541096"/>
          </a:xfrm>
          <a:prstGeom prst="rect">
            <a:avLst/>
          </a:prstGeom>
        </p:spPr>
      </p:pic>
      <p:pic>
        <p:nvPicPr>
          <p:cNvPr id="13" name="Picture 12"/>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5065260" y="3189785"/>
            <a:ext cx="3271469" cy="329540"/>
          </a:xfrm>
          <a:prstGeom prst="rect">
            <a:avLst/>
          </a:prstGeom>
        </p:spPr>
      </p:pic>
      <p:pic>
        <p:nvPicPr>
          <p:cNvPr id="15" name="Picture 14"/>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6878610" y="4246006"/>
            <a:ext cx="2008345" cy="353894"/>
          </a:xfrm>
          <a:prstGeom prst="rect">
            <a:avLst/>
          </a:prstGeom>
        </p:spPr>
      </p:pic>
      <p:pic>
        <p:nvPicPr>
          <p:cNvPr id="16" name="Picture 15"/>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4861274" y="4246006"/>
            <a:ext cx="1355025" cy="272834"/>
          </a:xfrm>
          <a:prstGeom prst="rect">
            <a:avLst/>
          </a:prstGeom>
        </p:spPr>
      </p:pic>
      <p:pic>
        <p:nvPicPr>
          <p:cNvPr id="17" name="Picture 16"/>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2707818" y="4588516"/>
            <a:ext cx="1607740" cy="329230"/>
          </a:xfrm>
          <a:prstGeom prst="rect">
            <a:avLst/>
          </a:prstGeom>
        </p:spPr>
      </p:pic>
    </p:spTree>
    <p:extLst>
      <p:ext uri="{BB962C8B-B14F-4D97-AF65-F5344CB8AC3E}">
        <p14:creationId xmlns:p14="http://schemas.microsoft.com/office/powerpoint/2010/main" val="2538225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Testing Multiple Restrictions Assuming NID Errors</a:t>
            </a:r>
          </a:p>
        </p:txBody>
      </p:sp>
      <p:sp>
        <p:nvSpPr>
          <p:cNvPr id="5" name="Content Placeholder 4"/>
          <p:cNvSpPr>
            <a:spLocks noGrp="1"/>
          </p:cNvSpPr>
          <p:nvPr>
            <p:ph idx="1"/>
          </p:nvPr>
        </p:nvSpPr>
        <p:spPr>
          <a:xfrm>
            <a:off x="838200" y="1862138"/>
            <a:ext cx="10836058" cy="4037621"/>
          </a:xfrm>
        </p:spPr>
        <p:txBody>
          <a:bodyPr>
            <a:normAutofit fontScale="85000" lnSpcReduction="10000"/>
          </a:bodyPr>
          <a:lstStyle/>
          <a:p>
            <a:pPr marL="0" indent="0">
              <a:lnSpc>
                <a:spcPct val="120000"/>
              </a:lnSpc>
              <a:buNone/>
            </a:pPr>
            <a:r>
              <a:rPr lang="en-US" dirty="0"/>
              <a:t>Suppose we have a standard model with 6 independent variables:</a:t>
            </a:r>
          </a:p>
          <a:p>
            <a:pPr marL="0" indent="0">
              <a:lnSpc>
                <a:spcPct val="120000"/>
              </a:lnSpc>
              <a:buNone/>
            </a:pPr>
            <a:endParaRPr lang="en-US" dirty="0"/>
          </a:p>
          <a:p>
            <a:pPr marL="0" indent="0">
              <a:lnSpc>
                <a:spcPct val="120000"/>
              </a:lnSpc>
              <a:buNone/>
            </a:pPr>
            <a:r>
              <a:rPr lang="en-US" dirty="0"/>
              <a:t>We would like to show, at alpha = 5% that some combination of the independent variables X4..X6 had an impact on the results. We construct the test:</a:t>
            </a:r>
          </a:p>
          <a:p>
            <a:pPr marL="0" indent="0">
              <a:lnSpc>
                <a:spcPct val="120000"/>
              </a:lnSpc>
              <a:buNone/>
            </a:pPr>
            <a:endParaRPr lang="en-US" dirty="0"/>
          </a:p>
          <a:p>
            <a:pPr marL="0" indent="0">
              <a:lnSpc>
                <a:spcPct val="120000"/>
              </a:lnSpc>
              <a:buNone/>
            </a:pPr>
            <a:endParaRPr lang="en-US" dirty="0"/>
          </a:p>
          <a:p>
            <a:pPr marL="0" indent="0">
              <a:lnSpc>
                <a:spcPct val="120000"/>
              </a:lnSpc>
              <a:buNone/>
            </a:pPr>
            <a:r>
              <a:rPr lang="en-US" dirty="0"/>
              <a:t>You might think of using individual t-tests on                             don't. Some people who have taken 'stats 101' think this the right thing to do, sadly, they are wrong.</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7" imgW="114120" imgH="215640" progId="Equation.3">
                  <p:embed/>
                </p:oleObj>
              </mc:Choice>
              <mc:Fallback>
                <p:oleObj name="Equation" r:id="rId7" imgW="114120" imgH="215640" progId="Equation.3">
                  <p:embed/>
                  <p:pic>
                    <p:nvPicPr>
                      <p:cNvPr id="2" name="Object 1"/>
                      <p:cNvPicPr/>
                      <p:nvPr/>
                    </p:nvPicPr>
                    <p:blipFill>
                      <a:blip r:embed="rId8"/>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9" imgW="114120" imgH="215640" progId="Equation.3">
                  <p:embed/>
                </p:oleObj>
              </mc:Choice>
              <mc:Fallback>
                <p:oleObj name="Equation" r:id="rId9" imgW="114120" imgH="215640" progId="Equation.3">
                  <p:embed/>
                  <p:pic>
                    <p:nvPicPr>
                      <p:cNvPr id="8" name="Object 7"/>
                      <p:cNvPicPr/>
                      <p:nvPr/>
                    </p:nvPicPr>
                    <p:blipFill>
                      <a:blip r:embed="rId8"/>
                      <a:stretch>
                        <a:fillRect/>
                      </a:stretch>
                    </p:blipFill>
                    <p:spPr>
                      <a:xfrm>
                        <a:off x="6038850" y="3321050"/>
                        <a:ext cx="114300" cy="215900"/>
                      </a:xfrm>
                      <a:prstGeom prst="rect">
                        <a:avLst/>
                      </a:prstGeom>
                    </p:spPr>
                  </p:pic>
                </p:oleObj>
              </mc:Fallback>
            </mc:AlternateContent>
          </a:graphicData>
        </a:graphic>
      </p:graphicFrame>
      <p:pic>
        <p:nvPicPr>
          <p:cNvPr id="3" name="Picture 2"/>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104572" y="2300579"/>
            <a:ext cx="4680075" cy="325664"/>
          </a:xfrm>
          <a:prstGeom prst="rect">
            <a:avLst/>
          </a:prstGeom>
        </p:spPr>
      </p:pic>
      <p:pic>
        <p:nvPicPr>
          <p:cNvPr id="7" name="Picture 6"/>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982108" y="3852587"/>
            <a:ext cx="3334145" cy="312445"/>
          </a:xfrm>
          <a:prstGeom prst="rect">
            <a:avLst/>
          </a:prstGeom>
        </p:spPr>
      </p:pic>
      <p:pic>
        <p:nvPicPr>
          <p:cNvPr id="15" name="Picture 14"/>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982106" y="4358768"/>
            <a:ext cx="5403828" cy="322930"/>
          </a:xfrm>
          <a:prstGeom prst="rect">
            <a:avLst/>
          </a:prstGeom>
        </p:spPr>
      </p:pic>
      <p:pic>
        <p:nvPicPr>
          <p:cNvPr id="16" name="Picture 15"/>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6951112" y="4988168"/>
            <a:ext cx="1983727" cy="295735"/>
          </a:xfrm>
          <a:prstGeom prst="rect">
            <a:avLst/>
          </a:prstGeom>
        </p:spPr>
      </p:pic>
    </p:spTree>
    <p:extLst>
      <p:ext uri="{BB962C8B-B14F-4D97-AF65-F5344CB8AC3E}">
        <p14:creationId xmlns:p14="http://schemas.microsoft.com/office/powerpoint/2010/main" val="2202385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Testing Multiple Restrictions Assuming NID Errors</a:t>
            </a:r>
          </a:p>
        </p:txBody>
      </p:sp>
      <p:sp>
        <p:nvSpPr>
          <p:cNvPr id="5" name="Content Placeholder 4"/>
          <p:cNvSpPr>
            <a:spLocks noGrp="1"/>
          </p:cNvSpPr>
          <p:nvPr>
            <p:ph idx="1"/>
          </p:nvPr>
        </p:nvSpPr>
        <p:spPr>
          <a:xfrm>
            <a:off x="838200" y="1862138"/>
            <a:ext cx="10861110" cy="3889375"/>
          </a:xfrm>
        </p:spPr>
        <p:txBody>
          <a:bodyPr>
            <a:normAutofit fontScale="92500" lnSpcReduction="10000"/>
          </a:bodyPr>
          <a:lstStyle/>
          <a:p>
            <a:pPr marL="0" indent="0">
              <a:buNone/>
            </a:pPr>
            <a:r>
              <a:rPr lang="en-US" dirty="0"/>
              <a:t>One correct approach is to estimate both the restricted and unrestricted models and to retain their sum of squared residuals.</a:t>
            </a:r>
          </a:p>
          <a:p>
            <a:pPr marL="0" indent="0">
              <a:buNone/>
            </a:pPr>
            <a:endParaRPr lang="en-US" dirty="0"/>
          </a:p>
          <a:p>
            <a:pPr marL="0" indent="0">
              <a:buNone/>
            </a:pPr>
            <a:endParaRPr lang="en-US" dirty="0"/>
          </a:p>
          <a:p>
            <a:pPr marL="0" indent="0">
              <a:spcBef>
                <a:spcPts val="1800"/>
              </a:spcBef>
              <a:buNone/>
            </a:pPr>
            <a:r>
              <a:rPr lang="en-US" dirty="0"/>
              <a:t>In general, one can show that:</a:t>
            </a:r>
          </a:p>
          <a:p>
            <a:pPr marL="0" indent="0">
              <a:buNone/>
            </a:pPr>
            <a:endParaRPr lang="en-US" dirty="0"/>
          </a:p>
          <a:p>
            <a:pPr marL="0" indent="0">
              <a:buNone/>
            </a:pPr>
            <a:endParaRPr lang="en-US" dirty="0"/>
          </a:p>
          <a:p>
            <a:pPr marL="0" indent="0">
              <a:buNone/>
            </a:pPr>
            <a:r>
              <a:rPr lang="en-US" dirty="0"/>
              <a:t>When we have r restrictions, n observations and k independent variables.</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2" name="Object 1"/>
                      <p:cNvPicPr/>
                      <p:nvPr/>
                    </p:nvPicPr>
                    <p:blipFill>
                      <a:blip r:embed="rId7"/>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8" imgW="114120" imgH="215640" progId="Equation.3">
                  <p:embed/>
                </p:oleObj>
              </mc:Choice>
              <mc:Fallback>
                <p:oleObj name="Equation" r:id="rId8" imgW="114120" imgH="215640" progId="Equation.3">
                  <p:embed/>
                  <p:pic>
                    <p:nvPicPr>
                      <p:cNvPr id="8" name="Object 7"/>
                      <p:cNvPicPr/>
                      <p:nvPr/>
                    </p:nvPicPr>
                    <p:blipFill>
                      <a:blip r:embed="rId7"/>
                      <a:stretch>
                        <a:fillRect/>
                      </a:stretch>
                    </p:blipFill>
                    <p:spPr>
                      <a:xfrm>
                        <a:off x="6038850" y="3321050"/>
                        <a:ext cx="114300" cy="215900"/>
                      </a:xfrm>
                      <a:prstGeom prst="rect">
                        <a:avLst/>
                      </a:prstGeom>
                    </p:spPr>
                  </p:pic>
                </p:oleObj>
              </mc:Fallback>
            </mc:AlternateContent>
          </a:graphicData>
        </a:graphic>
      </p:graphicFrame>
      <p:pic>
        <p:nvPicPr>
          <p:cNvPr id="9" name="Picture 8"/>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776771" y="2680087"/>
            <a:ext cx="6662334" cy="345234"/>
          </a:xfrm>
          <a:prstGeom prst="rect">
            <a:avLst/>
          </a:prstGeom>
        </p:spPr>
      </p:pic>
      <p:pic>
        <p:nvPicPr>
          <p:cNvPr id="10" name="Picture 9"/>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776771" y="3191716"/>
            <a:ext cx="7108166" cy="345234"/>
          </a:xfrm>
          <a:prstGeom prst="rect">
            <a:avLst/>
          </a:prstGeom>
        </p:spPr>
      </p:pic>
      <p:pic>
        <p:nvPicPr>
          <p:cNvPr id="16" name="Picture 15"/>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676562" y="4300633"/>
            <a:ext cx="5679216" cy="580725"/>
          </a:xfrm>
          <a:prstGeom prst="rect">
            <a:avLst/>
          </a:prstGeom>
        </p:spPr>
      </p:pic>
    </p:spTree>
    <p:extLst>
      <p:ext uri="{BB962C8B-B14F-4D97-AF65-F5344CB8AC3E}">
        <p14:creationId xmlns:p14="http://schemas.microsoft.com/office/powerpoint/2010/main" val="1027862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Generalizing Those Results</a:t>
            </a:r>
          </a:p>
        </p:txBody>
      </p:sp>
      <p:sp>
        <p:nvSpPr>
          <p:cNvPr id="5" name="Content Placeholder 4"/>
          <p:cNvSpPr>
            <a:spLocks noGrp="1"/>
          </p:cNvSpPr>
          <p:nvPr>
            <p:ph idx="1"/>
          </p:nvPr>
        </p:nvSpPr>
        <p:spPr>
          <a:xfrm>
            <a:off x="838200" y="1862659"/>
            <a:ext cx="10760901" cy="3889208"/>
          </a:xfrm>
        </p:spPr>
        <p:txBody>
          <a:bodyPr>
            <a:normAutofit/>
          </a:bodyPr>
          <a:lstStyle/>
          <a:p>
            <a:pPr marL="0" indent="0">
              <a:buNone/>
            </a:pPr>
            <a:r>
              <a:rPr lang="en-US" dirty="0"/>
              <a:t>The approach we just took can be generalized to many sets of linear restrictions:</a:t>
            </a:r>
          </a:p>
          <a:p>
            <a:endParaRPr lang="en-US" dirty="0"/>
          </a:p>
          <a:p>
            <a:endParaRPr lang="en-US" dirty="0"/>
          </a:p>
          <a:p>
            <a:pPr marL="0" indent="0">
              <a:buNone/>
            </a:pPr>
            <a:r>
              <a:rPr lang="en-US" dirty="0"/>
              <a:t>We can also do tests with inequality constraints:</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7" imgW="114120" imgH="215640" progId="Equation.3">
                  <p:embed/>
                </p:oleObj>
              </mc:Choice>
              <mc:Fallback>
                <p:oleObj name="Equation" r:id="rId7" imgW="114120" imgH="215640" progId="Equation.3">
                  <p:embed/>
                  <p:pic>
                    <p:nvPicPr>
                      <p:cNvPr id="2" name="Object 1"/>
                      <p:cNvPicPr/>
                      <p:nvPr/>
                    </p:nvPicPr>
                    <p:blipFill>
                      <a:blip r:embed="rId8"/>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9" imgW="114120" imgH="215640" progId="Equation.3">
                  <p:embed/>
                </p:oleObj>
              </mc:Choice>
              <mc:Fallback>
                <p:oleObj name="Equation" r:id="rId9" imgW="114120" imgH="215640" progId="Equation.3">
                  <p:embed/>
                  <p:pic>
                    <p:nvPicPr>
                      <p:cNvPr id="8" name="Object 7"/>
                      <p:cNvPicPr/>
                      <p:nvPr/>
                    </p:nvPicPr>
                    <p:blipFill>
                      <a:blip r:embed="rId8"/>
                      <a:stretch>
                        <a:fillRect/>
                      </a:stretch>
                    </p:blipFill>
                    <p:spPr>
                      <a:xfrm>
                        <a:off x="6038850" y="3321050"/>
                        <a:ext cx="114300" cy="215900"/>
                      </a:xfrm>
                      <a:prstGeom prst="rect">
                        <a:avLst/>
                      </a:prstGeom>
                    </p:spPr>
                  </p:pic>
                </p:oleObj>
              </mc:Fallback>
            </mc:AlternateContent>
          </a:graphicData>
        </a:graphic>
      </p:graphicFrame>
      <p:pic>
        <p:nvPicPr>
          <p:cNvPr id="3" name="Picture 2"/>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937416" y="2831045"/>
            <a:ext cx="3025892" cy="312445"/>
          </a:xfrm>
          <a:prstGeom prst="rect">
            <a:avLst/>
          </a:prstGeom>
        </p:spPr>
      </p:pic>
      <p:pic>
        <p:nvPicPr>
          <p:cNvPr id="13" name="Picture 12"/>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951294" y="3371264"/>
            <a:ext cx="1755143" cy="293573"/>
          </a:xfrm>
          <a:prstGeom prst="rect">
            <a:avLst/>
          </a:prstGeom>
        </p:spPr>
      </p:pic>
      <p:pic>
        <p:nvPicPr>
          <p:cNvPr id="15" name="Picture 14"/>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951293" y="4633222"/>
            <a:ext cx="3025892" cy="312445"/>
          </a:xfrm>
          <a:prstGeom prst="rect">
            <a:avLst/>
          </a:prstGeom>
        </p:spPr>
      </p:pic>
      <p:pic>
        <p:nvPicPr>
          <p:cNvPr id="16" name="Picture 15"/>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951294" y="5100712"/>
            <a:ext cx="1755143" cy="293573"/>
          </a:xfrm>
          <a:prstGeom prst="rect">
            <a:avLst/>
          </a:prstGeom>
        </p:spPr>
      </p:pic>
    </p:spTree>
    <p:extLst>
      <p:ext uri="{BB962C8B-B14F-4D97-AF65-F5344CB8AC3E}">
        <p14:creationId xmlns:p14="http://schemas.microsoft.com/office/powerpoint/2010/main" val="393109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Test for Equality of Variances</a:t>
            </a:r>
          </a:p>
        </p:txBody>
      </p:sp>
      <p:sp>
        <p:nvSpPr>
          <p:cNvPr id="5" name="Content Placeholder 4"/>
          <p:cNvSpPr>
            <a:spLocks noGrp="1"/>
          </p:cNvSpPr>
          <p:nvPr>
            <p:ph idx="1"/>
          </p:nvPr>
        </p:nvSpPr>
        <p:spPr>
          <a:xfrm>
            <a:off x="838200" y="1862659"/>
            <a:ext cx="10485329" cy="3889208"/>
          </a:xfrm>
        </p:spPr>
        <p:txBody>
          <a:bodyPr>
            <a:normAutofit/>
          </a:bodyPr>
          <a:lstStyle/>
          <a:p>
            <a:pPr marL="0" indent="0">
              <a:buNone/>
            </a:pPr>
            <a:r>
              <a:rPr lang="en-US" dirty="0"/>
              <a:t>We may need to consider a test for the equality of variances between two samples. This could arise as part of a t-test, as it did in principle during MMA 863. </a:t>
            </a:r>
          </a:p>
          <a:p>
            <a:pPr marL="0" indent="0">
              <a:spcBef>
                <a:spcPts val="1800"/>
              </a:spcBef>
              <a:buNone/>
            </a:pPr>
            <a:r>
              <a:rPr lang="en-US" dirty="0"/>
              <a:t>The test takes the form:</a:t>
            </a:r>
          </a:p>
        </p:txBody>
      </p:sp>
      <p:pic>
        <p:nvPicPr>
          <p:cNvPr id="7" name="Picture 6"/>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072130" y="4005013"/>
            <a:ext cx="1895639" cy="423583"/>
          </a:xfrm>
          <a:prstGeom prst="rect">
            <a:avLst/>
          </a:prstGeom>
        </p:spPr>
      </p:pic>
      <p:pic>
        <p:nvPicPr>
          <p:cNvPr id="13" name="Picture 1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310506" y="4005013"/>
            <a:ext cx="1895639" cy="423583"/>
          </a:xfrm>
          <a:prstGeom prst="rect">
            <a:avLst/>
          </a:prstGeom>
        </p:spPr>
      </p:pic>
      <p:pic>
        <p:nvPicPr>
          <p:cNvPr id="14" name="Picture 13"/>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022856" y="4600108"/>
            <a:ext cx="4183289" cy="619592"/>
          </a:xfrm>
          <a:prstGeom prst="rect">
            <a:avLst/>
          </a:prstGeom>
        </p:spPr>
      </p:pic>
      <p:pic>
        <p:nvPicPr>
          <p:cNvPr id="12395" name="Picture 10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32500" y="452029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6" name="Picture 10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32500" y="452029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1358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Chow Test</a:t>
            </a:r>
          </a:p>
        </p:txBody>
      </p:sp>
      <p:sp>
        <p:nvSpPr>
          <p:cNvPr id="5" name="Content Placeholder 4"/>
          <p:cNvSpPr>
            <a:spLocks noGrp="1"/>
          </p:cNvSpPr>
          <p:nvPr>
            <p:ph idx="1"/>
          </p:nvPr>
        </p:nvSpPr>
        <p:spPr>
          <a:xfrm>
            <a:off x="838200" y="1862659"/>
            <a:ext cx="10811005" cy="3889208"/>
          </a:xfrm>
        </p:spPr>
        <p:txBody>
          <a:bodyPr>
            <a:normAutofit lnSpcReduction="10000"/>
          </a:bodyPr>
          <a:lstStyle/>
          <a:p>
            <a:r>
              <a:rPr lang="en-US" dirty="0"/>
              <a:t>The Chow test is a particular version of this type of test, based on applying the test to two separate data sets. The data sets may be separated by time or by group.</a:t>
            </a:r>
          </a:p>
          <a:p>
            <a:pPr>
              <a:spcBef>
                <a:spcPts val="1800"/>
              </a:spcBef>
            </a:pPr>
            <a:r>
              <a:rPr lang="en-US" dirty="0"/>
              <a:t>For example, you could determine if some relationship changed over time; or was different across different elements of the population. For example, given:</a:t>
            </a:r>
          </a:p>
          <a:p>
            <a:endParaRPr lang="en-US" dirty="0"/>
          </a:p>
          <a:p>
            <a:pPr>
              <a:spcBef>
                <a:spcPts val="1800"/>
              </a:spcBef>
            </a:pPr>
            <a:r>
              <a:rPr lang="en-US" dirty="0"/>
              <a:t>Do male and female customers respond the same:</a:t>
            </a:r>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2" name="Object 1"/>
                      <p:cNvPicPr/>
                      <p:nvPr/>
                    </p:nvPicPr>
                    <p:blipFill>
                      <a:blip r:embed="rId7"/>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8" imgW="114120" imgH="215640" progId="Equation.3">
                  <p:embed/>
                </p:oleObj>
              </mc:Choice>
              <mc:Fallback>
                <p:oleObj name="Equation" r:id="rId8" imgW="114120" imgH="215640" progId="Equation.3">
                  <p:embed/>
                  <p:pic>
                    <p:nvPicPr>
                      <p:cNvPr id="8" name="Object 7"/>
                      <p:cNvPicPr/>
                      <p:nvPr/>
                    </p:nvPicPr>
                    <p:blipFill>
                      <a:blip r:embed="rId7"/>
                      <a:stretch>
                        <a:fillRect/>
                      </a:stretch>
                    </p:blipFill>
                    <p:spPr>
                      <a:xfrm>
                        <a:off x="6038850" y="3321050"/>
                        <a:ext cx="114300" cy="215900"/>
                      </a:xfrm>
                      <a:prstGeom prst="rect">
                        <a:avLst/>
                      </a:prstGeom>
                    </p:spPr>
                  </p:pic>
                </p:oleObj>
              </mc:Fallback>
            </mc:AlternateContent>
          </a:graphicData>
        </a:graphic>
      </p:graphicFrame>
      <p:pic>
        <p:nvPicPr>
          <p:cNvPr id="10" name="Picture 9"/>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2823028" y="4513315"/>
            <a:ext cx="6176006" cy="334819"/>
          </a:xfrm>
          <a:prstGeom prst="rect">
            <a:avLst/>
          </a:prstGeom>
        </p:spPr>
      </p:pic>
      <p:pic>
        <p:nvPicPr>
          <p:cNvPr id="11" name="Picture 10"/>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3357789" y="5610546"/>
            <a:ext cx="2824350" cy="276679"/>
          </a:xfrm>
          <a:prstGeom prst="rect">
            <a:avLst/>
          </a:prstGeom>
        </p:spPr>
      </p:pic>
      <p:pic>
        <p:nvPicPr>
          <p:cNvPr id="12" name="Picture 11"/>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6480976" y="5616510"/>
            <a:ext cx="1618481" cy="270714"/>
          </a:xfrm>
          <a:prstGeom prst="rect">
            <a:avLst/>
          </a:prstGeom>
        </p:spPr>
      </p:pic>
    </p:spTree>
    <p:extLst>
      <p:ext uri="{BB962C8B-B14F-4D97-AF65-F5344CB8AC3E}">
        <p14:creationId xmlns:p14="http://schemas.microsoft.com/office/powerpoint/2010/main" val="2696237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a:t>
            </a:r>
          </a:p>
        </p:txBody>
      </p:sp>
      <p:sp>
        <p:nvSpPr>
          <p:cNvPr id="5" name="Content Placeholder 4"/>
          <p:cNvSpPr>
            <a:spLocks noGrp="1"/>
          </p:cNvSpPr>
          <p:nvPr>
            <p:ph idx="1"/>
          </p:nvPr>
        </p:nvSpPr>
        <p:spPr/>
        <p:txBody>
          <a:bodyPr>
            <a:normAutofit/>
          </a:bodyPr>
          <a:lstStyle/>
          <a:p>
            <a:pPr marL="0" indent="0" algn="just">
              <a:buNone/>
            </a:pPr>
            <a:r>
              <a:rPr lang="en-US" dirty="0"/>
              <a:t>Let's do an example following the chow test cheat sheet.</a:t>
            </a:r>
          </a:p>
          <a:p>
            <a:endParaRPr lang="en-US" dirty="0"/>
          </a:p>
        </p:txBody>
      </p:sp>
    </p:spTree>
    <p:extLst>
      <p:ext uri="{BB962C8B-B14F-4D97-AF65-F5344CB8AC3E}">
        <p14:creationId xmlns:p14="http://schemas.microsoft.com/office/powerpoint/2010/main" val="2762521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err="1"/>
              <a:t>Heteroskedasticity</a:t>
            </a:r>
            <a:r>
              <a:rPr lang="en-US" dirty="0"/>
              <a:t> and Testing</a:t>
            </a:r>
          </a:p>
        </p:txBody>
      </p:sp>
      <p:sp>
        <p:nvSpPr>
          <p:cNvPr id="5" name="Content Placeholder 4"/>
          <p:cNvSpPr>
            <a:spLocks noGrp="1"/>
          </p:cNvSpPr>
          <p:nvPr>
            <p:ph idx="1"/>
          </p:nvPr>
        </p:nvSpPr>
        <p:spPr>
          <a:xfrm>
            <a:off x="838200" y="1628384"/>
            <a:ext cx="10848584" cy="4697260"/>
          </a:xfrm>
        </p:spPr>
        <p:txBody>
          <a:bodyPr>
            <a:normAutofit fontScale="85000" lnSpcReduction="20000"/>
          </a:bodyPr>
          <a:lstStyle/>
          <a:p>
            <a:pPr marL="0" indent="0">
              <a:buNone/>
            </a:pPr>
            <a:r>
              <a:rPr lang="en-US" dirty="0"/>
              <a:t>Recall heteroskedasticity is a non-uniform variance of the error terms. You can sometimes visualize it with a residual plot.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Heteroskedasticity does not bias estimates, but it makes them inefficient and violates the assumptions we have used for hypothesis testing. This makes the parameter estimates sloppy and the hypotheses tests unreliable.</a:t>
            </a:r>
          </a:p>
        </p:txBody>
      </p:sp>
      <p:pic>
        <p:nvPicPr>
          <p:cNvPr id="983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2442" y="2413789"/>
            <a:ext cx="82296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1982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Testing for </a:t>
            </a:r>
            <a:r>
              <a:rPr lang="en-US" dirty="0" err="1"/>
              <a:t>Heteroskedasticity</a:t>
            </a:r>
            <a:r>
              <a:rPr lang="en-US" dirty="0"/>
              <a:t> </a:t>
            </a:r>
          </a:p>
        </p:txBody>
      </p:sp>
      <p:sp>
        <p:nvSpPr>
          <p:cNvPr id="5" name="Content Placeholder 4"/>
          <p:cNvSpPr>
            <a:spLocks noGrp="1"/>
          </p:cNvSpPr>
          <p:nvPr>
            <p:ph idx="1"/>
          </p:nvPr>
        </p:nvSpPr>
        <p:spPr>
          <a:xfrm>
            <a:off x="838200" y="1862138"/>
            <a:ext cx="10785953" cy="4187933"/>
          </a:xfrm>
        </p:spPr>
        <p:txBody>
          <a:bodyPr>
            <a:normAutofit/>
          </a:bodyPr>
          <a:lstStyle/>
          <a:p>
            <a:pPr marL="0" indent="0">
              <a:buNone/>
            </a:pPr>
            <a:r>
              <a:rPr lang="en-US" dirty="0"/>
              <a:t>You should always consider the possibility of heteroskedasticity:</a:t>
            </a:r>
          </a:p>
          <a:p>
            <a:r>
              <a:rPr lang="en-US" sz="2400" dirty="0"/>
              <a:t>For some models, there are good reasons to suspect heteroskedasticity and its potential form. For example, where the independent variables link to 'things' of different sizes (company investments, country characteristics).</a:t>
            </a:r>
          </a:p>
          <a:p>
            <a:r>
              <a:rPr lang="en-US" sz="2400" dirty="0"/>
              <a:t>As we have seen, heteroskedasticity can be assessed using an 'eyeball test'. Basically, plot the residuals versus Y-hat and the X-variables. This is a good place to start, but a bad place to stop.</a:t>
            </a:r>
          </a:p>
          <a:p>
            <a:r>
              <a:rPr lang="en-US" sz="2400" dirty="0"/>
              <a:t>Breusch–Pagan test for heteroskedasticity </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1817375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a:t>
            </a:r>
          </a:p>
        </p:txBody>
      </p:sp>
      <p:sp>
        <p:nvSpPr>
          <p:cNvPr id="5" name="Content Placeholder 4"/>
          <p:cNvSpPr>
            <a:spLocks noGrp="1"/>
          </p:cNvSpPr>
          <p:nvPr>
            <p:ph idx="1"/>
          </p:nvPr>
        </p:nvSpPr>
        <p:spPr/>
        <p:txBody>
          <a:bodyPr>
            <a:normAutofit/>
          </a:bodyPr>
          <a:lstStyle/>
          <a:p>
            <a:pPr marL="0" indent="0" algn="just">
              <a:buNone/>
            </a:pPr>
            <a:r>
              <a:rPr lang="en-US" dirty="0"/>
              <a:t>Review/do the cheat sheet on heteroscedasticity testing.</a:t>
            </a:r>
          </a:p>
          <a:p>
            <a:endParaRPr lang="en-US" dirty="0"/>
          </a:p>
        </p:txBody>
      </p:sp>
    </p:spTree>
    <p:extLst>
      <p:ext uri="{BB962C8B-B14F-4D97-AF65-F5344CB8AC3E}">
        <p14:creationId xmlns:p14="http://schemas.microsoft.com/office/powerpoint/2010/main" val="1659233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Key Points</a:t>
            </a:r>
          </a:p>
        </p:txBody>
      </p:sp>
      <p:sp>
        <p:nvSpPr>
          <p:cNvPr id="25603" name="Rectangle 3"/>
          <p:cNvSpPr>
            <a:spLocks noGrp="1" noChangeArrowheads="1"/>
          </p:cNvSpPr>
          <p:nvPr>
            <p:ph idx="1"/>
          </p:nvPr>
        </p:nvSpPr>
        <p:spPr>
          <a:xfrm>
            <a:off x="838200" y="1862659"/>
            <a:ext cx="10673219" cy="4224990"/>
          </a:xfrm>
        </p:spPr>
        <p:txBody>
          <a:bodyPr>
            <a:normAutofit/>
          </a:bodyPr>
          <a:lstStyle/>
          <a:p>
            <a:pPr marL="457200" indent="-457200">
              <a:buFontTx/>
              <a:buAutoNum type="arabicPeriod"/>
            </a:pPr>
            <a:r>
              <a:rPr lang="en-CA" sz="2400" dirty="0"/>
              <a:t>You should be able to interpret output, assess models, run tests, etc. in a multiple regression context.</a:t>
            </a:r>
          </a:p>
          <a:p>
            <a:pPr marL="457200" indent="-457200">
              <a:buFontTx/>
              <a:buAutoNum type="arabicPeriod"/>
            </a:pPr>
            <a:r>
              <a:rPr lang="en-CA" sz="2400" dirty="0"/>
              <a:t>You should be able to perform simultaneous tests on multiple parameters.</a:t>
            </a:r>
          </a:p>
          <a:p>
            <a:pPr marL="457200" indent="-457200">
              <a:buFontTx/>
              <a:buAutoNum type="arabicPeriod"/>
            </a:pPr>
            <a:r>
              <a:rPr lang="en-CA" sz="2400" dirty="0"/>
              <a:t>You should understand that there are extensions to the basic testing methods and their limitations.</a:t>
            </a:r>
          </a:p>
          <a:p>
            <a:pPr marL="457200" indent="-457200">
              <a:buFontTx/>
              <a:buAutoNum type="arabicPeriod"/>
            </a:pPr>
            <a:r>
              <a:rPr lang="en-CA" sz="2400" dirty="0"/>
              <a:t>You should be able to test for structural change.</a:t>
            </a:r>
          </a:p>
          <a:p>
            <a:pPr marL="457200" indent="-457200">
              <a:buFontTx/>
              <a:buAutoNum type="arabicPeriod"/>
            </a:pPr>
            <a:r>
              <a:rPr lang="en-CA" sz="2400" dirty="0"/>
              <a:t>You should understand and be able to test and address the problems created by heteroscedasticity.</a:t>
            </a:r>
          </a:p>
          <a:p>
            <a:pPr marL="457200" indent="-457200">
              <a:buFontTx/>
              <a:buAutoNum type="arabicPeriod"/>
            </a:pPr>
            <a:endParaRPr lang="en-CA" dirty="0"/>
          </a:p>
          <a:p>
            <a:pPr marL="457200" indent="-457200">
              <a:buFontTx/>
              <a:buAutoNum type="arabicPeriod"/>
            </a:pPr>
            <a:endParaRPr lang="en-CA" dirty="0"/>
          </a:p>
          <a:p>
            <a:pPr marL="457200" indent="-457200">
              <a:buFontTx/>
              <a:buAutoNum type="arabicPeriod"/>
            </a:pPr>
            <a:endParaRPr lang="en-CA" dirty="0"/>
          </a:p>
        </p:txBody>
      </p:sp>
    </p:spTree>
    <p:extLst>
      <p:ext uri="{BB962C8B-B14F-4D97-AF65-F5344CB8AC3E}">
        <p14:creationId xmlns:p14="http://schemas.microsoft.com/office/powerpoint/2010/main" val="1308057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The Last Test</a:t>
            </a:r>
          </a:p>
        </p:txBody>
      </p:sp>
      <p:sp>
        <p:nvSpPr>
          <p:cNvPr id="25603" name="Rectangle 3"/>
          <p:cNvSpPr>
            <a:spLocks noGrp="1" noChangeArrowheads="1"/>
          </p:cNvSpPr>
          <p:nvPr>
            <p:ph idx="1"/>
          </p:nvPr>
        </p:nvSpPr>
        <p:spPr>
          <a:xfrm>
            <a:off x="838200" y="1862659"/>
            <a:ext cx="10710797" cy="3889208"/>
          </a:xfrm>
        </p:spPr>
        <p:txBody>
          <a:bodyPr>
            <a:normAutofit/>
          </a:bodyPr>
          <a:lstStyle/>
          <a:p>
            <a:pPr marL="0" indent="0">
              <a:buNone/>
            </a:pPr>
            <a:r>
              <a:rPr lang="en-CA" dirty="0"/>
              <a:t>We've talked about test/train data – now let's learn how to use it.</a:t>
            </a:r>
          </a:p>
          <a:p>
            <a:pPr marL="0" indent="0">
              <a:buNone/>
            </a:pPr>
            <a:endParaRPr lang="en-CA" dirty="0"/>
          </a:p>
          <a:p>
            <a:pPr marL="0" indent="0">
              <a:buNone/>
            </a:pPr>
            <a:r>
              <a:rPr lang="en-CA" dirty="0"/>
              <a:t>Let's do the Predicting Results Cheat Sheet.</a:t>
            </a:r>
          </a:p>
        </p:txBody>
      </p:sp>
    </p:spTree>
    <p:extLst>
      <p:ext uri="{BB962C8B-B14F-4D97-AF65-F5344CB8AC3E}">
        <p14:creationId xmlns:p14="http://schemas.microsoft.com/office/powerpoint/2010/main" val="2834037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Pulling it All Together</a:t>
            </a:r>
          </a:p>
        </p:txBody>
      </p:sp>
      <p:sp>
        <p:nvSpPr>
          <p:cNvPr id="25603" name="Rectangle 3"/>
          <p:cNvSpPr>
            <a:spLocks noGrp="1" noChangeArrowheads="1"/>
          </p:cNvSpPr>
          <p:nvPr>
            <p:ph idx="1"/>
          </p:nvPr>
        </p:nvSpPr>
        <p:spPr>
          <a:xfrm>
            <a:off x="838200" y="1862659"/>
            <a:ext cx="10798479" cy="4287620"/>
          </a:xfrm>
        </p:spPr>
        <p:txBody>
          <a:bodyPr>
            <a:normAutofit fontScale="85000" lnSpcReduction="20000"/>
          </a:bodyPr>
          <a:lstStyle/>
          <a:p>
            <a:pPr marL="0" indent="0">
              <a:lnSpc>
                <a:spcPct val="120000"/>
              </a:lnSpc>
              <a:buNone/>
            </a:pPr>
            <a:r>
              <a:rPr lang="en-CA" dirty="0"/>
              <a:t>We have discussed quite a bit over the last 5 classes:</a:t>
            </a:r>
          </a:p>
          <a:p>
            <a:pPr eaLnBrk="1" hangingPunct="1">
              <a:lnSpc>
                <a:spcPct val="120000"/>
              </a:lnSpc>
              <a:buClrTx/>
              <a:buFontTx/>
              <a:buChar char="-"/>
            </a:pPr>
            <a:r>
              <a:rPr lang="en-CA" dirty="0"/>
              <a:t>How to get data ready for modelling</a:t>
            </a:r>
          </a:p>
          <a:p>
            <a:pPr eaLnBrk="1" hangingPunct="1">
              <a:lnSpc>
                <a:spcPct val="120000"/>
              </a:lnSpc>
              <a:buClrTx/>
              <a:buFontTx/>
              <a:buChar char="-"/>
            </a:pPr>
            <a:r>
              <a:rPr lang="en-CA" dirty="0"/>
              <a:t>How to visualize data, and tell a story with data</a:t>
            </a:r>
          </a:p>
          <a:p>
            <a:pPr eaLnBrk="1" hangingPunct="1">
              <a:lnSpc>
                <a:spcPct val="120000"/>
              </a:lnSpc>
              <a:buClrTx/>
              <a:buFontTx/>
              <a:buChar char="-"/>
            </a:pPr>
            <a:r>
              <a:rPr lang="en-CA" dirty="0"/>
              <a:t>How to run a regression</a:t>
            </a:r>
          </a:p>
          <a:p>
            <a:pPr eaLnBrk="1" hangingPunct="1">
              <a:lnSpc>
                <a:spcPct val="120000"/>
              </a:lnSpc>
              <a:buClrTx/>
              <a:buFontTx/>
              <a:buChar char="-"/>
            </a:pPr>
            <a:r>
              <a:rPr lang="en-CA" dirty="0"/>
              <a:t>How to assess and test a regression</a:t>
            </a:r>
          </a:p>
          <a:p>
            <a:pPr eaLnBrk="1" hangingPunct="1">
              <a:lnSpc>
                <a:spcPct val="120000"/>
              </a:lnSpc>
              <a:buClrTx/>
              <a:buFontTx/>
              <a:buChar char="-"/>
            </a:pPr>
            <a:r>
              <a:rPr lang="en-CA" dirty="0"/>
              <a:t>How to test other hypotheses as part of a regression</a:t>
            </a:r>
          </a:p>
          <a:p>
            <a:pPr eaLnBrk="1" hangingPunct="1">
              <a:lnSpc>
                <a:spcPct val="120000"/>
              </a:lnSpc>
              <a:buClrTx/>
              <a:buFontTx/>
              <a:buChar char="-"/>
            </a:pPr>
            <a:endParaRPr lang="en-CA" dirty="0"/>
          </a:p>
          <a:p>
            <a:pPr marL="0" indent="0">
              <a:lnSpc>
                <a:spcPct val="120000"/>
              </a:lnSpc>
              <a:buNone/>
            </a:pPr>
            <a:r>
              <a:rPr lang="en-CA" dirty="0"/>
              <a:t>Now, we should talk about how to bring it all together to solve a business problem. </a:t>
            </a:r>
          </a:p>
          <a:p>
            <a:pPr marL="457200" indent="-457200">
              <a:lnSpc>
                <a:spcPct val="120000"/>
              </a:lnSpc>
              <a:buFontTx/>
              <a:buAutoNum type="arabicPeriod"/>
            </a:pPr>
            <a:endParaRPr lang="en-CA" dirty="0"/>
          </a:p>
          <a:p>
            <a:pPr marL="457200" indent="-457200">
              <a:lnSpc>
                <a:spcPct val="120000"/>
              </a:lnSpc>
              <a:buFontTx/>
              <a:buAutoNum type="arabicPeriod"/>
            </a:pPr>
            <a:endParaRPr lang="en-CA" dirty="0"/>
          </a:p>
        </p:txBody>
      </p:sp>
    </p:spTree>
    <p:extLst>
      <p:ext uri="{BB962C8B-B14F-4D97-AF65-F5344CB8AC3E}">
        <p14:creationId xmlns:p14="http://schemas.microsoft.com/office/powerpoint/2010/main" val="4101536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CA" dirty="0"/>
              <a:t>The Modelling Process</a:t>
            </a:r>
          </a:p>
        </p:txBody>
      </p:sp>
      <p:sp>
        <p:nvSpPr>
          <p:cNvPr id="4" name="Rectangle 3"/>
          <p:cNvSpPr txBox="1">
            <a:spLocks noChangeArrowheads="1"/>
          </p:cNvSpPr>
          <p:nvPr/>
        </p:nvSpPr>
        <p:spPr>
          <a:xfrm>
            <a:off x="1754314" y="894736"/>
            <a:ext cx="8627966" cy="5391785"/>
          </a:xfrm>
          <a:prstGeom prst="rect">
            <a:avLst/>
          </a:prstGeom>
        </p:spPr>
        <p:txBody>
          <a:bodyPr vert="horz">
            <a:normAutofit/>
          </a:bodyPr>
          <a:lstStyle/>
          <a:p>
            <a:pPr lvl="0">
              <a:spcBef>
                <a:spcPct val="20000"/>
              </a:spcBef>
              <a:buSzPct val="85000"/>
              <a:defRPr/>
            </a:pPr>
            <a:endParaRPr lang="en-CA" sz="2400" dirty="0">
              <a:latin typeface="Times New Roman" pitchFamily="18" charset="0"/>
              <a:cs typeface="Times New Roman" pitchFamily="18" charset="0"/>
            </a:endParaRPr>
          </a:p>
        </p:txBody>
      </p:sp>
      <p:grpSp>
        <p:nvGrpSpPr>
          <p:cNvPr id="7" name="Group 66"/>
          <p:cNvGrpSpPr/>
          <p:nvPr/>
        </p:nvGrpSpPr>
        <p:grpSpPr bwMode="auto">
          <a:xfrm>
            <a:off x="4529931" y="1548924"/>
            <a:ext cx="2810321" cy="775315"/>
            <a:chOff x="3044774" y="1759976"/>
            <a:chExt cx="2310581" cy="453531"/>
          </a:xfrm>
          <a:solidFill>
            <a:srgbClr val="00B0F0"/>
          </a:solidFill>
        </p:grpSpPr>
        <p:sp>
          <p:nvSpPr>
            <p:cNvPr id="24" name="Rectangle 3"/>
            <p:cNvSpPr/>
            <p:nvPr/>
          </p:nvSpPr>
          <p:spPr bwMode="auto">
            <a:xfrm>
              <a:off x="3044774" y="1759976"/>
              <a:ext cx="2310581" cy="449824"/>
            </a:xfrm>
            <a:prstGeom prst="rect">
              <a:avLst/>
            </a:prstGeom>
            <a:grpFill/>
            <a:ln w="9525" cap="flat" cmpd="sng" algn="ctr">
              <a:solidFill>
                <a:schemeClr val="tx1"/>
              </a:solidFill>
              <a:prstDash val="solid"/>
              <a:round/>
              <a:headEnd type="none" w="med" len="med"/>
              <a:tailEnd type="none" w="med" len="med"/>
            </a:ln>
            <a:effectLst/>
          </p:spPr>
          <p:txBody>
            <a:bodyPr/>
            <a:lstStyle/>
            <a:p>
              <a:pPr algn="ctr">
                <a:spcBef>
                  <a:spcPct val="0"/>
                </a:spcBef>
                <a:buFontTx/>
                <a:buNone/>
                <a:defRPr/>
              </a:pPr>
              <a:endParaRPr lang="en-US" sz="4800">
                <a:solidFill>
                  <a:schemeClr val="bg1"/>
                </a:solidFill>
                <a:latin typeface="+mj-lt"/>
              </a:endParaRPr>
            </a:p>
          </p:txBody>
        </p:sp>
        <p:sp>
          <p:nvSpPr>
            <p:cNvPr id="25" name="Rectangle 4"/>
            <p:cNvSpPr/>
            <p:nvPr/>
          </p:nvSpPr>
          <p:spPr>
            <a:xfrm>
              <a:off x="3085441" y="1770612"/>
              <a:ext cx="2236511" cy="442895"/>
            </a:xfrm>
            <a:prstGeom prst="rect">
              <a:avLst/>
            </a:prstGeom>
            <a:noFill/>
          </p:spPr>
          <p:txBody>
            <a:bodyPr>
              <a:spAutoFit/>
            </a:bodyPr>
            <a:lstStyle/>
            <a:p>
              <a:pPr algn="ctr">
                <a:lnSpc>
                  <a:spcPct val="90000"/>
                </a:lnSpc>
                <a:buFontTx/>
                <a:buNone/>
                <a:defRPr/>
              </a:pPr>
              <a:r>
                <a:rPr lang="en-CA" sz="2400" dirty="0">
                  <a:solidFill>
                    <a:schemeClr val="tx1"/>
                  </a:solidFill>
                  <a:latin typeface="+mj-lt"/>
                </a:rPr>
                <a:t>Model Development</a:t>
              </a:r>
              <a:endParaRPr lang="en-US" sz="2400" dirty="0">
                <a:solidFill>
                  <a:schemeClr val="tx1"/>
                </a:solidFill>
                <a:latin typeface="+mj-lt"/>
              </a:endParaRPr>
            </a:p>
          </p:txBody>
        </p:sp>
      </p:grpSp>
      <p:grpSp>
        <p:nvGrpSpPr>
          <p:cNvPr id="8" name="Group 68"/>
          <p:cNvGrpSpPr/>
          <p:nvPr/>
        </p:nvGrpSpPr>
        <p:grpSpPr bwMode="auto">
          <a:xfrm>
            <a:off x="4529931" y="3700915"/>
            <a:ext cx="2810321" cy="713969"/>
            <a:chOff x="3035249" y="3878127"/>
            <a:chExt cx="2310581" cy="417648"/>
          </a:xfrm>
          <a:solidFill>
            <a:srgbClr val="00B0F0"/>
          </a:solidFill>
        </p:grpSpPr>
        <p:sp>
          <p:nvSpPr>
            <p:cNvPr id="22" name="Rectangle 21"/>
            <p:cNvSpPr/>
            <p:nvPr/>
          </p:nvSpPr>
          <p:spPr bwMode="auto">
            <a:xfrm>
              <a:off x="3035249" y="3878127"/>
              <a:ext cx="2310581" cy="417648"/>
            </a:xfrm>
            <a:prstGeom prst="rect">
              <a:avLst/>
            </a:prstGeom>
            <a:grpFill/>
            <a:ln w="9525" cap="flat" cmpd="sng" algn="ctr">
              <a:solidFill>
                <a:schemeClr val="tx1"/>
              </a:solidFill>
              <a:prstDash val="solid"/>
              <a:round/>
              <a:headEnd type="none" w="med" len="med"/>
              <a:tailEnd type="none" w="med" len="med"/>
            </a:ln>
            <a:effectLst/>
          </p:spPr>
          <p:txBody>
            <a:bodyPr/>
            <a:lstStyle/>
            <a:p>
              <a:pPr algn="ctr">
                <a:spcBef>
                  <a:spcPct val="0"/>
                </a:spcBef>
                <a:buFontTx/>
                <a:buNone/>
                <a:defRPr/>
              </a:pPr>
              <a:endParaRPr lang="en-US" sz="4800">
                <a:solidFill>
                  <a:schemeClr val="bg1"/>
                </a:solidFill>
                <a:latin typeface="+mj-lt"/>
              </a:endParaRPr>
            </a:p>
          </p:txBody>
        </p:sp>
        <p:sp>
          <p:nvSpPr>
            <p:cNvPr id="23" name="Rectangle 9"/>
            <p:cNvSpPr/>
            <p:nvPr/>
          </p:nvSpPr>
          <p:spPr>
            <a:xfrm>
              <a:off x="3458115" y="3972033"/>
              <a:ext cx="1490335" cy="248454"/>
            </a:xfrm>
            <a:prstGeom prst="rect">
              <a:avLst/>
            </a:prstGeom>
            <a:grpFill/>
          </p:spPr>
          <p:txBody>
            <a:bodyPr wrap="square">
              <a:spAutoFit/>
            </a:bodyPr>
            <a:lstStyle/>
            <a:p>
              <a:pPr algn="ctr">
                <a:lnSpc>
                  <a:spcPct val="90000"/>
                </a:lnSpc>
                <a:buFontTx/>
                <a:buNone/>
                <a:defRPr/>
              </a:pPr>
              <a:r>
                <a:rPr lang="en-CA" sz="2400" dirty="0">
                  <a:solidFill>
                    <a:schemeClr val="tx1"/>
                  </a:solidFill>
                  <a:latin typeface="+mj-lt"/>
                </a:rPr>
                <a:t>Estimation</a:t>
              </a:r>
              <a:endParaRPr lang="en-US" sz="2400" dirty="0">
                <a:solidFill>
                  <a:schemeClr val="tx1"/>
                </a:solidFill>
                <a:latin typeface="+mj-lt"/>
              </a:endParaRPr>
            </a:p>
          </p:txBody>
        </p:sp>
      </p:grpSp>
      <p:grpSp>
        <p:nvGrpSpPr>
          <p:cNvPr id="9" name="Group 89"/>
          <p:cNvGrpSpPr/>
          <p:nvPr/>
        </p:nvGrpSpPr>
        <p:grpSpPr bwMode="auto">
          <a:xfrm>
            <a:off x="4529931" y="4716847"/>
            <a:ext cx="2810321" cy="699411"/>
            <a:chOff x="3027670" y="4426156"/>
            <a:chExt cx="2310581" cy="409131"/>
          </a:xfrm>
          <a:solidFill>
            <a:srgbClr val="00B0F0"/>
          </a:solidFill>
        </p:grpSpPr>
        <p:sp>
          <p:nvSpPr>
            <p:cNvPr id="20" name="Rectangle 19"/>
            <p:cNvSpPr/>
            <p:nvPr/>
          </p:nvSpPr>
          <p:spPr bwMode="auto">
            <a:xfrm>
              <a:off x="3027670" y="4426156"/>
              <a:ext cx="2310581" cy="409131"/>
            </a:xfrm>
            <a:prstGeom prst="rect">
              <a:avLst/>
            </a:prstGeom>
            <a:grpFill/>
            <a:ln w="9525" cap="flat" cmpd="sng" algn="ctr">
              <a:solidFill>
                <a:schemeClr val="tx1"/>
              </a:solidFill>
              <a:prstDash val="solid"/>
              <a:round/>
              <a:headEnd type="none" w="med" len="med"/>
              <a:tailEnd type="none" w="med" len="med"/>
            </a:ln>
            <a:effectLst/>
          </p:spPr>
          <p:txBody>
            <a:bodyPr/>
            <a:lstStyle/>
            <a:p>
              <a:pPr algn="ctr">
                <a:spcBef>
                  <a:spcPct val="0"/>
                </a:spcBef>
                <a:buFontTx/>
                <a:buNone/>
                <a:defRPr/>
              </a:pPr>
              <a:endParaRPr lang="en-US" sz="4800">
                <a:solidFill>
                  <a:schemeClr val="bg1"/>
                </a:solidFill>
                <a:latin typeface="+mj-lt"/>
              </a:endParaRPr>
            </a:p>
          </p:txBody>
        </p:sp>
        <p:sp>
          <p:nvSpPr>
            <p:cNvPr id="21" name="Rectangle 20"/>
            <p:cNvSpPr/>
            <p:nvPr/>
          </p:nvSpPr>
          <p:spPr>
            <a:xfrm>
              <a:off x="3081079" y="4524301"/>
              <a:ext cx="2240221" cy="248453"/>
            </a:xfrm>
            <a:prstGeom prst="rect">
              <a:avLst/>
            </a:prstGeom>
            <a:grpFill/>
          </p:spPr>
          <p:txBody>
            <a:bodyPr wrap="square">
              <a:spAutoFit/>
            </a:bodyPr>
            <a:lstStyle/>
            <a:p>
              <a:pPr algn="ctr">
                <a:lnSpc>
                  <a:spcPct val="90000"/>
                </a:lnSpc>
                <a:buFontTx/>
                <a:buNone/>
                <a:defRPr/>
              </a:pPr>
              <a:r>
                <a:rPr lang="en-CA" sz="2400" dirty="0">
                  <a:solidFill>
                    <a:schemeClr val="tx1"/>
                  </a:solidFill>
                  <a:latin typeface="+mj-lt"/>
                </a:rPr>
                <a:t>Testing/Assessing</a:t>
              </a:r>
              <a:endParaRPr lang="en-US" sz="2400" dirty="0">
                <a:solidFill>
                  <a:schemeClr val="tx1"/>
                </a:solidFill>
                <a:latin typeface="+mj-lt"/>
              </a:endParaRPr>
            </a:p>
          </p:txBody>
        </p:sp>
      </p:grpSp>
      <p:grpSp>
        <p:nvGrpSpPr>
          <p:cNvPr id="13" name="Group 70"/>
          <p:cNvGrpSpPr/>
          <p:nvPr/>
        </p:nvGrpSpPr>
        <p:grpSpPr bwMode="auto">
          <a:xfrm>
            <a:off x="4510437" y="5718219"/>
            <a:ext cx="2851056" cy="724334"/>
            <a:chOff x="3018503" y="5929466"/>
            <a:chExt cx="2344072" cy="423710"/>
          </a:xfrm>
          <a:solidFill>
            <a:srgbClr val="00B0F0"/>
          </a:solidFill>
        </p:grpSpPr>
        <p:sp>
          <p:nvSpPr>
            <p:cNvPr id="18" name="Rectangle 17"/>
            <p:cNvSpPr/>
            <p:nvPr/>
          </p:nvSpPr>
          <p:spPr bwMode="auto">
            <a:xfrm>
              <a:off x="3018503" y="5929466"/>
              <a:ext cx="2344072" cy="423710"/>
            </a:xfrm>
            <a:prstGeom prst="rect">
              <a:avLst/>
            </a:prstGeom>
            <a:grpFill/>
            <a:ln w="9525" cap="flat" cmpd="sng" algn="ctr">
              <a:solidFill>
                <a:schemeClr val="tx1"/>
              </a:solidFill>
              <a:prstDash val="solid"/>
              <a:round/>
              <a:headEnd type="none" w="med" len="med"/>
              <a:tailEnd type="none" w="med" len="med"/>
            </a:ln>
            <a:effectLst/>
          </p:spPr>
          <p:txBody>
            <a:bodyPr/>
            <a:lstStyle/>
            <a:p>
              <a:pPr algn="ctr">
                <a:spcBef>
                  <a:spcPct val="0"/>
                </a:spcBef>
                <a:buFontTx/>
                <a:buNone/>
                <a:defRPr/>
              </a:pPr>
              <a:endParaRPr lang="en-US" sz="4800">
                <a:solidFill>
                  <a:schemeClr val="bg1"/>
                </a:solidFill>
                <a:latin typeface="+mj-lt"/>
              </a:endParaRPr>
            </a:p>
          </p:txBody>
        </p:sp>
        <p:sp>
          <p:nvSpPr>
            <p:cNvPr id="19" name="Rectangle 18"/>
            <p:cNvSpPr/>
            <p:nvPr/>
          </p:nvSpPr>
          <p:spPr>
            <a:xfrm>
              <a:off x="3418125" y="6025709"/>
              <a:ext cx="1460021" cy="248453"/>
            </a:xfrm>
            <a:prstGeom prst="rect">
              <a:avLst/>
            </a:prstGeom>
            <a:grpFill/>
          </p:spPr>
          <p:txBody>
            <a:bodyPr wrap="none">
              <a:spAutoFit/>
            </a:bodyPr>
            <a:lstStyle/>
            <a:p>
              <a:pPr algn="ctr">
                <a:lnSpc>
                  <a:spcPct val="90000"/>
                </a:lnSpc>
                <a:buFontTx/>
                <a:buNone/>
                <a:defRPr/>
              </a:pPr>
              <a:r>
                <a:rPr lang="en-CA" sz="2400" dirty="0">
                  <a:solidFill>
                    <a:schemeClr val="tx1"/>
                  </a:solidFill>
                  <a:latin typeface="+mj-lt"/>
                </a:rPr>
                <a:t>Conclusions</a:t>
              </a:r>
              <a:endParaRPr lang="en-US" sz="2000" dirty="0">
                <a:solidFill>
                  <a:schemeClr val="tx1"/>
                </a:solidFill>
                <a:latin typeface="+mj-lt"/>
              </a:endParaRPr>
            </a:p>
          </p:txBody>
        </p:sp>
      </p:grpSp>
      <p:grpSp>
        <p:nvGrpSpPr>
          <p:cNvPr id="14" name="Group 67"/>
          <p:cNvGrpSpPr/>
          <p:nvPr/>
        </p:nvGrpSpPr>
        <p:grpSpPr bwMode="auto">
          <a:xfrm>
            <a:off x="4529931" y="2619847"/>
            <a:ext cx="2810321" cy="779104"/>
            <a:chOff x="3035249" y="2858951"/>
            <a:chExt cx="2310581" cy="455749"/>
          </a:xfrm>
          <a:solidFill>
            <a:srgbClr val="00B0F0"/>
          </a:solidFill>
        </p:grpSpPr>
        <p:sp>
          <p:nvSpPr>
            <p:cNvPr id="16" name="Rectangle 15"/>
            <p:cNvSpPr/>
            <p:nvPr/>
          </p:nvSpPr>
          <p:spPr bwMode="auto">
            <a:xfrm>
              <a:off x="3035249" y="2858951"/>
              <a:ext cx="2310581" cy="455749"/>
            </a:xfrm>
            <a:prstGeom prst="rect">
              <a:avLst/>
            </a:prstGeom>
            <a:grpFill/>
            <a:ln w="9525" cap="flat" cmpd="sng" algn="ctr">
              <a:solidFill>
                <a:schemeClr val="tx1"/>
              </a:solidFill>
              <a:prstDash val="solid"/>
              <a:round/>
              <a:headEnd type="none" w="med" len="med"/>
              <a:tailEnd type="none" w="med" len="med"/>
            </a:ln>
            <a:effectLst/>
          </p:spPr>
          <p:txBody>
            <a:bodyPr/>
            <a:lstStyle/>
            <a:p>
              <a:pPr algn="ctr">
                <a:spcBef>
                  <a:spcPct val="0"/>
                </a:spcBef>
                <a:buFontTx/>
                <a:buNone/>
                <a:defRPr/>
              </a:pPr>
              <a:endParaRPr lang="en-US" sz="4800">
                <a:solidFill>
                  <a:schemeClr val="bg1"/>
                </a:solidFill>
                <a:latin typeface="+mj-lt"/>
              </a:endParaRPr>
            </a:p>
          </p:txBody>
        </p:sp>
        <p:sp>
          <p:nvSpPr>
            <p:cNvPr id="17" name="Rectangle 16"/>
            <p:cNvSpPr/>
            <p:nvPr/>
          </p:nvSpPr>
          <p:spPr>
            <a:xfrm>
              <a:off x="3277027" y="2966853"/>
              <a:ext cx="1829530" cy="248454"/>
            </a:xfrm>
            <a:prstGeom prst="rect">
              <a:avLst/>
            </a:prstGeom>
            <a:grpFill/>
          </p:spPr>
          <p:txBody>
            <a:bodyPr wrap="none">
              <a:spAutoFit/>
            </a:bodyPr>
            <a:lstStyle/>
            <a:p>
              <a:pPr algn="ctr">
                <a:lnSpc>
                  <a:spcPct val="90000"/>
                </a:lnSpc>
                <a:buFontTx/>
                <a:buNone/>
                <a:defRPr/>
              </a:pPr>
              <a:r>
                <a:rPr lang="en-CA" sz="2400" dirty="0">
                  <a:solidFill>
                    <a:schemeClr val="tx1"/>
                  </a:solidFill>
                  <a:latin typeface="+mj-lt"/>
                </a:rPr>
                <a:t>Data Collection</a:t>
              </a:r>
              <a:endParaRPr lang="en-US" sz="2400" dirty="0">
                <a:solidFill>
                  <a:schemeClr val="tx1"/>
                </a:solidFill>
                <a:latin typeface="+mj-lt"/>
              </a:endParaRPr>
            </a:p>
          </p:txBody>
        </p:sp>
      </p:grpSp>
      <p:sp>
        <p:nvSpPr>
          <p:cNvPr id="27" name="Down Arrow 26"/>
          <p:cNvSpPr/>
          <p:nvPr/>
        </p:nvSpPr>
        <p:spPr>
          <a:xfrm>
            <a:off x="5753251" y="2317885"/>
            <a:ext cx="253842" cy="30196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latin typeface="+mj-lt"/>
            </a:endParaRPr>
          </a:p>
        </p:txBody>
      </p:sp>
      <p:sp>
        <p:nvSpPr>
          <p:cNvPr id="29" name="Down Arrow 28"/>
          <p:cNvSpPr/>
          <p:nvPr/>
        </p:nvSpPr>
        <p:spPr>
          <a:xfrm>
            <a:off x="5753251" y="3398952"/>
            <a:ext cx="253842" cy="30196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latin typeface="+mj-lt"/>
            </a:endParaRPr>
          </a:p>
        </p:txBody>
      </p:sp>
      <p:sp>
        <p:nvSpPr>
          <p:cNvPr id="30" name="Down Arrow 29"/>
          <p:cNvSpPr/>
          <p:nvPr/>
        </p:nvSpPr>
        <p:spPr>
          <a:xfrm>
            <a:off x="5753251" y="4414884"/>
            <a:ext cx="253842" cy="30196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latin typeface="+mj-lt"/>
            </a:endParaRPr>
          </a:p>
        </p:txBody>
      </p:sp>
      <p:sp>
        <p:nvSpPr>
          <p:cNvPr id="31" name="Down Arrow 30"/>
          <p:cNvSpPr/>
          <p:nvPr/>
        </p:nvSpPr>
        <p:spPr>
          <a:xfrm>
            <a:off x="5753251" y="5416258"/>
            <a:ext cx="253842" cy="30196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latin typeface="+mj-lt"/>
            </a:endParaRPr>
          </a:p>
        </p:txBody>
      </p:sp>
    </p:spTree>
    <p:extLst>
      <p:ext uri="{BB962C8B-B14F-4D97-AF65-F5344CB8AC3E}">
        <p14:creationId xmlns:p14="http://schemas.microsoft.com/office/powerpoint/2010/main" val="3611129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Answering Business Questions</a:t>
            </a:r>
          </a:p>
        </p:txBody>
      </p:sp>
      <p:sp>
        <p:nvSpPr>
          <p:cNvPr id="25603" name="Rectangle 3"/>
          <p:cNvSpPr>
            <a:spLocks noGrp="1" noChangeArrowheads="1"/>
          </p:cNvSpPr>
          <p:nvPr>
            <p:ph idx="1"/>
          </p:nvPr>
        </p:nvSpPr>
        <p:spPr>
          <a:xfrm>
            <a:off x="838200" y="1862659"/>
            <a:ext cx="10760901" cy="4262568"/>
          </a:xfrm>
        </p:spPr>
        <p:txBody>
          <a:bodyPr>
            <a:normAutofit/>
          </a:bodyPr>
          <a:lstStyle/>
          <a:p>
            <a:pPr marL="0" indent="0">
              <a:buNone/>
            </a:pPr>
            <a:r>
              <a:rPr lang="en-CA" dirty="0"/>
              <a:t>Regressions are just one type of predictive model, and a predictive model is just one tool to </a:t>
            </a:r>
            <a:r>
              <a:rPr lang="en-CA" b="1" dirty="0"/>
              <a:t>help</a:t>
            </a:r>
            <a:r>
              <a:rPr lang="en-CA" dirty="0"/>
              <a:t> with solving business problems. </a:t>
            </a:r>
          </a:p>
          <a:p>
            <a:pPr marL="0" indent="0">
              <a:spcBef>
                <a:spcPts val="1800"/>
              </a:spcBef>
              <a:buNone/>
            </a:pPr>
            <a:r>
              <a:rPr lang="en-CA" dirty="0"/>
              <a:t>This tool can be used in a number of ways:</a:t>
            </a:r>
          </a:p>
          <a:p>
            <a:pPr marL="457200" indent="-457200">
              <a:buFont typeface="+mj-lt"/>
              <a:buAutoNum type="arabicPeriod"/>
            </a:pPr>
            <a:r>
              <a:rPr lang="en-CA" sz="2400" dirty="0"/>
              <a:t>A point estimate for a specific set of parameters</a:t>
            </a:r>
          </a:p>
          <a:p>
            <a:pPr marL="457200" indent="-457200">
              <a:buFont typeface="+mj-lt"/>
              <a:buAutoNum type="arabicPeriod"/>
            </a:pPr>
            <a:r>
              <a:rPr lang="en-CA" sz="2400" dirty="0"/>
              <a:t>Gaining a deeper understanding of how an environmental or business factor affects an outcome variable</a:t>
            </a:r>
          </a:p>
          <a:p>
            <a:pPr marL="457200" indent="-457200">
              <a:buFont typeface="+mj-lt"/>
              <a:buAutoNum type="arabicPeriod"/>
            </a:pPr>
            <a:r>
              <a:rPr lang="en-CA" sz="2400" dirty="0"/>
              <a:t>Gaining a deeper understanding of the underlying process(es) that explains an outcome variable</a:t>
            </a:r>
          </a:p>
          <a:p>
            <a:pPr marL="457200" indent="-457200">
              <a:buFontTx/>
              <a:buAutoNum type="arabicPeriod"/>
            </a:pPr>
            <a:endParaRPr lang="en-CA" dirty="0"/>
          </a:p>
        </p:txBody>
      </p:sp>
    </p:spTree>
    <p:extLst>
      <p:ext uri="{BB962C8B-B14F-4D97-AF65-F5344CB8AC3E}">
        <p14:creationId xmlns:p14="http://schemas.microsoft.com/office/powerpoint/2010/main" val="1969069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Point Estimates</a:t>
            </a:r>
          </a:p>
        </p:txBody>
      </p:sp>
      <p:sp>
        <p:nvSpPr>
          <p:cNvPr id="25603" name="Rectangle 3"/>
          <p:cNvSpPr>
            <a:spLocks noGrp="1" noChangeArrowheads="1"/>
          </p:cNvSpPr>
          <p:nvPr>
            <p:ph idx="1"/>
          </p:nvPr>
        </p:nvSpPr>
        <p:spPr>
          <a:xfrm>
            <a:off x="838200" y="1862659"/>
            <a:ext cx="10723323" cy="4262568"/>
          </a:xfrm>
        </p:spPr>
        <p:txBody>
          <a:bodyPr>
            <a:normAutofit/>
          </a:bodyPr>
          <a:lstStyle/>
          <a:p>
            <a:pPr marL="0" indent="0">
              <a:buNone/>
            </a:pPr>
            <a:r>
              <a:rPr lang="en-CA" dirty="0"/>
              <a:t>As we have discussed, the output of a regression model are coefficients associated with independent variables. The coefficients are used to build out an equation, and allow you to create point estimates for your dependent variable. </a:t>
            </a:r>
          </a:p>
          <a:p>
            <a:pPr marL="0" indent="0">
              <a:buNone/>
            </a:pPr>
            <a:r>
              <a:rPr lang="en-CA" dirty="0"/>
              <a:t>A model might be:</a:t>
            </a:r>
          </a:p>
          <a:p>
            <a:pPr marL="0" indent="0">
              <a:buNone/>
            </a:pPr>
            <a:endParaRPr lang="en-CA" dirty="0"/>
          </a:p>
          <a:p>
            <a:pPr marL="0" indent="0">
              <a:buNone/>
            </a:pPr>
            <a:r>
              <a:rPr lang="en-CA" dirty="0"/>
              <a:t>We can plug in the values we care about (HP and # Doors) to get a point estimate. In this case, a 300 HP car with 2 doors should cost $36,000, while a 190 HP car with 4 doors should cost $21,000.</a:t>
            </a:r>
          </a:p>
        </p:txBody>
      </p:sp>
      <p:sp>
        <p:nvSpPr>
          <p:cNvPr id="2" name="TextBox 1">
            <a:extLst>
              <a:ext uri="{FF2B5EF4-FFF2-40B4-BE49-F238E27FC236}">
                <a16:creationId xmlns:a16="http://schemas.microsoft.com/office/drawing/2014/main" id="{3E7141BE-73B4-445E-BA8C-BD4050A0C19B}"/>
              </a:ext>
            </a:extLst>
          </p:cNvPr>
          <p:cNvSpPr txBox="1"/>
          <p:nvPr/>
        </p:nvSpPr>
        <p:spPr>
          <a:xfrm>
            <a:off x="1336484" y="4233798"/>
            <a:ext cx="9519032" cy="430887"/>
          </a:xfrm>
          <a:prstGeom prst="rect">
            <a:avLst/>
          </a:prstGeom>
          <a:noFill/>
        </p:spPr>
        <p:txBody>
          <a:bodyPr wrap="square" lIns="0" tIns="0" rIns="0" bIns="0" rtlCol="0">
            <a:spAutoFit/>
          </a:bodyPr>
          <a:lstStyle/>
          <a:p>
            <a:r>
              <a:rPr lang="en-US" sz="2800" dirty="0">
                <a:solidFill>
                  <a:schemeClr val="tx1"/>
                </a:solidFill>
                <a:latin typeface="+mj-lt"/>
              </a:rPr>
              <a:t>Car Price = $10,000 + 100* Engine HP – 2000 * # Doors </a:t>
            </a:r>
          </a:p>
        </p:txBody>
      </p:sp>
    </p:spTree>
    <p:extLst>
      <p:ext uri="{BB962C8B-B14F-4D97-AF65-F5344CB8AC3E}">
        <p14:creationId xmlns:p14="http://schemas.microsoft.com/office/powerpoint/2010/main" val="2557046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Single Variable Factors</a:t>
            </a:r>
          </a:p>
        </p:txBody>
      </p:sp>
      <p:sp>
        <p:nvSpPr>
          <p:cNvPr id="25603" name="Rectangle 3"/>
          <p:cNvSpPr>
            <a:spLocks noGrp="1" noChangeArrowheads="1"/>
          </p:cNvSpPr>
          <p:nvPr>
            <p:ph idx="1"/>
          </p:nvPr>
        </p:nvSpPr>
        <p:spPr>
          <a:xfrm>
            <a:off x="838200" y="1862659"/>
            <a:ext cx="10823532" cy="3889208"/>
          </a:xfrm>
        </p:spPr>
        <p:txBody>
          <a:bodyPr>
            <a:normAutofit/>
          </a:bodyPr>
          <a:lstStyle/>
          <a:p>
            <a:pPr marL="0" indent="0">
              <a:buNone/>
            </a:pPr>
            <a:r>
              <a:rPr lang="en-CA" dirty="0"/>
              <a:t>There are some business problems that can be solved by understanding how a change in a single variable impacts our outcome. </a:t>
            </a:r>
          </a:p>
          <a:p>
            <a:pPr marL="0" indent="0">
              <a:buNone/>
            </a:pPr>
            <a:endParaRPr lang="en-CA" dirty="0"/>
          </a:p>
          <a:p>
            <a:pPr marL="0" indent="0">
              <a:buNone/>
            </a:pPr>
            <a:r>
              <a:rPr lang="en-CA" dirty="0"/>
              <a:t>For this, we can examine the magnitude and direction of any given coefficient and understand the change. A widely used example in banking is that of interest rates and their effects on lending and deposit portfolios.</a:t>
            </a:r>
          </a:p>
        </p:txBody>
      </p:sp>
    </p:spTree>
    <p:extLst>
      <p:ext uri="{BB962C8B-B14F-4D97-AF65-F5344CB8AC3E}">
        <p14:creationId xmlns:p14="http://schemas.microsoft.com/office/powerpoint/2010/main" val="3551981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Underlying Processes</a:t>
            </a:r>
          </a:p>
        </p:txBody>
      </p:sp>
      <p:sp>
        <p:nvSpPr>
          <p:cNvPr id="25603" name="Rectangle 3"/>
          <p:cNvSpPr>
            <a:spLocks noGrp="1" noChangeArrowheads="1"/>
          </p:cNvSpPr>
          <p:nvPr>
            <p:ph idx="1"/>
          </p:nvPr>
        </p:nvSpPr>
        <p:spPr>
          <a:xfrm>
            <a:off x="838200" y="1862659"/>
            <a:ext cx="10873636" cy="4287620"/>
          </a:xfrm>
        </p:spPr>
        <p:txBody>
          <a:bodyPr>
            <a:normAutofit fontScale="92500"/>
          </a:bodyPr>
          <a:lstStyle/>
          <a:p>
            <a:pPr marL="0" indent="0">
              <a:lnSpc>
                <a:spcPct val="110000"/>
              </a:lnSpc>
              <a:spcBef>
                <a:spcPts val="1800"/>
              </a:spcBef>
              <a:buNone/>
            </a:pPr>
            <a:r>
              <a:rPr lang="en-CA" dirty="0"/>
              <a:t>A well built model gives insight into an underlying process that explains an outcome variable. Sometimes it is important to understand more than a single variable's impact, but instead a broader picture. </a:t>
            </a:r>
          </a:p>
          <a:p>
            <a:pPr marL="0" indent="0">
              <a:lnSpc>
                <a:spcPct val="110000"/>
              </a:lnSpc>
              <a:spcBef>
                <a:spcPts val="1800"/>
              </a:spcBef>
              <a:buNone/>
            </a:pPr>
            <a:r>
              <a:rPr lang="en-CA" dirty="0"/>
              <a:t>For example, there are multiple factors that might predict a person's propensity for purchasing a mortgage. You want to understand all of those to target the right people. </a:t>
            </a:r>
          </a:p>
          <a:p>
            <a:pPr marL="0" indent="0">
              <a:lnSpc>
                <a:spcPct val="110000"/>
              </a:lnSpc>
              <a:spcBef>
                <a:spcPts val="1800"/>
              </a:spcBef>
              <a:buNone/>
            </a:pPr>
            <a:r>
              <a:rPr lang="en-CA" dirty="0"/>
              <a:t>What characteristics would you look for in someone before marketing a mortgage to them?</a:t>
            </a:r>
          </a:p>
        </p:txBody>
      </p:sp>
    </p:spTree>
    <p:extLst>
      <p:ext uri="{BB962C8B-B14F-4D97-AF65-F5344CB8AC3E}">
        <p14:creationId xmlns:p14="http://schemas.microsoft.com/office/powerpoint/2010/main" val="1888879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Communicating It</a:t>
            </a:r>
          </a:p>
        </p:txBody>
      </p:sp>
      <p:sp>
        <p:nvSpPr>
          <p:cNvPr id="25603" name="Rectangle 3"/>
          <p:cNvSpPr>
            <a:spLocks noGrp="1" noChangeArrowheads="1"/>
          </p:cNvSpPr>
          <p:nvPr>
            <p:ph idx="1"/>
          </p:nvPr>
        </p:nvSpPr>
        <p:spPr>
          <a:xfrm>
            <a:off x="838200" y="1862659"/>
            <a:ext cx="10861110" cy="3889208"/>
          </a:xfrm>
        </p:spPr>
        <p:txBody>
          <a:bodyPr>
            <a:normAutofit/>
          </a:bodyPr>
          <a:lstStyle/>
          <a:p>
            <a:pPr marL="0" indent="0">
              <a:buNone/>
            </a:pPr>
            <a:r>
              <a:rPr lang="en-CA" dirty="0"/>
              <a:t>Based on the business problem you are trying to solve you should be able to use the understanding gained from one or more of these techniques to provide more insight.</a:t>
            </a:r>
          </a:p>
          <a:p>
            <a:pPr marL="0" indent="0">
              <a:buNone/>
            </a:pPr>
            <a:endParaRPr lang="en-CA" dirty="0"/>
          </a:p>
          <a:p>
            <a:pPr marL="0" indent="0">
              <a:buNone/>
            </a:pPr>
            <a:r>
              <a:rPr lang="en-CA" dirty="0"/>
              <a:t>Now, how do we communicate this to a business audience?</a:t>
            </a:r>
          </a:p>
          <a:p>
            <a:pPr marL="0" indent="0">
              <a:buNone/>
            </a:pPr>
            <a:endParaRPr lang="en-CA" dirty="0"/>
          </a:p>
          <a:p>
            <a:pPr marL="0" indent="0">
              <a:buNone/>
            </a:pPr>
            <a:endParaRPr lang="en-CA" dirty="0"/>
          </a:p>
        </p:txBody>
      </p:sp>
    </p:spTree>
    <p:extLst>
      <p:ext uri="{BB962C8B-B14F-4D97-AF65-F5344CB8AC3E}">
        <p14:creationId xmlns:p14="http://schemas.microsoft.com/office/powerpoint/2010/main" val="40733401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Communicating It</a:t>
            </a:r>
          </a:p>
        </p:txBody>
      </p:sp>
      <p:sp>
        <p:nvSpPr>
          <p:cNvPr id="25603" name="Rectangle 3"/>
          <p:cNvSpPr>
            <a:spLocks noGrp="1" noChangeArrowheads="1"/>
          </p:cNvSpPr>
          <p:nvPr>
            <p:ph idx="1"/>
          </p:nvPr>
        </p:nvSpPr>
        <p:spPr>
          <a:xfrm>
            <a:off x="838200" y="1862659"/>
            <a:ext cx="10836058" cy="3889208"/>
          </a:xfrm>
        </p:spPr>
        <p:txBody>
          <a:bodyPr>
            <a:normAutofit/>
          </a:bodyPr>
          <a:lstStyle/>
          <a:p>
            <a:pPr marL="0" indent="0">
              <a:spcBef>
                <a:spcPts val="1800"/>
              </a:spcBef>
              <a:buNone/>
            </a:pPr>
            <a:r>
              <a:rPr lang="en-CA" dirty="0"/>
              <a:t>Depending on your audience you will have to present your results differently. </a:t>
            </a:r>
          </a:p>
          <a:p>
            <a:pPr marL="0" indent="0">
              <a:spcBef>
                <a:spcPts val="1800"/>
              </a:spcBef>
              <a:buNone/>
            </a:pPr>
            <a:r>
              <a:rPr lang="en-CA" dirty="0"/>
              <a:t>Analysts and Data Scientists will want detailed statistical output as well as the business implications.</a:t>
            </a:r>
          </a:p>
          <a:p>
            <a:pPr marL="0" indent="0">
              <a:spcBef>
                <a:spcPts val="1800"/>
              </a:spcBef>
              <a:buNone/>
            </a:pPr>
            <a:r>
              <a:rPr lang="en-CA" dirty="0"/>
              <a:t>Executives will want you to satisfy their analysts and data scientists, but will be much more concerned with the </a:t>
            </a:r>
            <a:r>
              <a:rPr lang="en-CA" dirty="0" err="1"/>
              <a:t>explainability</a:t>
            </a:r>
            <a:r>
              <a:rPr lang="en-CA" dirty="0"/>
              <a:t> of your results. </a:t>
            </a:r>
          </a:p>
        </p:txBody>
      </p:sp>
    </p:spTree>
    <p:extLst>
      <p:ext uri="{BB962C8B-B14F-4D97-AF65-F5344CB8AC3E}">
        <p14:creationId xmlns:p14="http://schemas.microsoft.com/office/powerpoint/2010/main" val="3566230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311995"/>
            <a:ext cx="9401269" cy="937444"/>
          </a:xfrm>
        </p:spPr>
        <p:txBody>
          <a:bodyPr/>
          <a:lstStyle/>
          <a:p>
            <a:r>
              <a:rPr lang="en-CA" dirty="0"/>
              <a:t>How Data Scientists Assess Models:</a:t>
            </a:r>
          </a:p>
        </p:txBody>
      </p:sp>
      <p:sp>
        <p:nvSpPr>
          <p:cNvPr id="25603" name="Rectangle 3"/>
          <p:cNvSpPr>
            <a:spLocks noGrp="1" noChangeArrowheads="1"/>
          </p:cNvSpPr>
          <p:nvPr>
            <p:ph idx="1"/>
          </p:nvPr>
        </p:nvSpPr>
        <p:spPr>
          <a:xfrm>
            <a:off x="838200" y="1862659"/>
            <a:ext cx="8876071" cy="3889208"/>
          </a:xfrm>
        </p:spPr>
        <p:txBody>
          <a:bodyPr>
            <a:normAutofit/>
          </a:bodyPr>
          <a:lstStyle/>
          <a:p>
            <a:r>
              <a:rPr lang="en-CA" dirty="0"/>
              <a:t>Does it solve the business problem?</a:t>
            </a:r>
          </a:p>
          <a:p>
            <a:r>
              <a:rPr lang="en-CA" dirty="0"/>
              <a:t>Is it easy to understand?</a:t>
            </a:r>
          </a:p>
          <a:p>
            <a:r>
              <a:rPr lang="en-CA" dirty="0"/>
              <a:t>Are the coefficients intuitive?</a:t>
            </a:r>
          </a:p>
          <a:p>
            <a:r>
              <a:rPr lang="en-CA" dirty="0"/>
              <a:t>Model plots (predicted versus actual, residuals)</a:t>
            </a:r>
          </a:p>
          <a:p>
            <a:r>
              <a:rPr lang="en-CA" dirty="0"/>
              <a:t>Cumulative gains chart (for classification models)</a:t>
            </a:r>
          </a:p>
          <a:p>
            <a:r>
              <a:rPr lang="en-CA" dirty="0"/>
              <a:t>Train versus test results</a:t>
            </a:r>
          </a:p>
          <a:p>
            <a:endParaRPr lang="en-CA" dirty="0"/>
          </a:p>
        </p:txBody>
      </p:sp>
    </p:spTree>
    <p:extLst>
      <p:ext uri="{BB962C8B-B14F-4D97-AF65-F5344CB8AC3E}">
        <p14:creationId xmlns:p14="http://schemas.microsoft.com/office/powerpoint/2010/main" val="31508520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311995"/>
            <a:ext cx="9401269" cy="937444"/>
          </a:xfrm>
        </p:spPr>
        <p:txBody>
          <a:bodyPr/>
          <a:lstStyle/>
          <a:p>
            <a:r>
              <a:rPr lang="en-CA" dirty="0"/>
              <a:t>How Executives Assess Analytics Solutions:</a:t>
            </a:r>
          </a:p>
        </p:txBody>
      </p:sp>
      <p:sp>
        <p:nvSpPr>
          <p:cNvPr id="25603" name="Rectangle 3"/>
          <p:cNvSpPr>
            <a:spLocks noGrp="1" noChangeArrowheads="1"/>
          </p:cNvSpPr>
          <p:nvPr>
            <p:ph idx="1"/>
          </p:nvPr>
        </p:nvSpPr>
        <p:spPr>
          <a:xfrm>
            <a:off x="838200" y="1862659"/>
            <a:ext cx="8876071" cy="3889208"/>
          </a:xfrm>
        </p:spPr>
        <p:txBody>
          <a:bodyPr>
            <a:normAutofit/>
          </a:bodyPr>
          <a:lstStyle/>
          <a:p>
            <a:r>
              <a:rPr lang="en-CA" dirty="0"/>
              <a:t>Does it solve the business problem?</a:t>
            </a:r>
          </a:p>
          <a:p>
            <a:r>
              <a:rPr lang="en-CA" dirty="0"/>
              <a:t>Does it validate my previous thinking? (be careful here)</a:t>
            </a:r>
          </a:p>
          <a:p>
            <a:r>
              <a:rPr lang="en-CA" dirty="0"/>
              <a:t>Is it easy to understand?</a:t>
            </a:r>
          </a:p>
          <a:p>
            <a:r>
              <a:rPr lang="en-CA" dirty="0"/>
              <a:t>Do the directions of coefficients make sense?</a:t>
            </a:r>
          </a:p>
          <a:p>
            <a:r>
              <a:rPr lang="en-CA" dirty="0"/>
              <a:t>Do my analysts believe it?</a:t>
            </a:r>
          </a:p>
          <a:p>
            <a:endParaRPr lang="en-CA" dirty="0"/>
          </a:p>
        </p:txBody>
      </p:sp>
    </p:spTree>
    <p:extLst>
      <p:ext uri="{BB962C8B-B14F-4D97-AF65-F5344CB8AC3E}">
        <p14:creationId xmlns:p14="http://schemas.microsoft.com/office/powerpoint/2010/main" val="536714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Convincing People to Make Change</a:t>
            </a:r>
          </a:p>
        </p:txBody>
      </p:sp>
      <p:sp>
        <p:nvSpPr>
          <p:cNvPr id="25603" name="Rectangle 3"/>
          <p:cNvSpPr>
            <a:spLocks noGrp="1" noChangeArrowheads="1"/>
          </p:cNvSpPr>
          <p:nvPr>
            <p:ph idx="1"/>
          </p:nvPr>
        </p:nvSpPr>
        <p:spPr>
          <a:xfrm>
            <a:off x="838201" y="1862659"/>
            <a:ext cx="10284911" cy="3889208"/>
          </a:xfrm>
        </p:spPr>
        <p:txBody>
          <a:bodyPr>
            <a:normAutofit/>
          </a:bodyPr>
          <a:lstStyle/>
          <a:p>
            <a:pPr marL="0" indent="0">
              <a:buNone/>
            </a:pPr>
            <a:r>
              <a:rPr lang="en-CA" dirty="0"/>
              <a:t>How do you convince people to make change in your organization now?</a:t>
            </a:r>
          </a:p>
          <a:p>
            <a:pPr marL="0" indent="0">
              <a:buNone/>
            </a:pPr>
            <a:endParaRPr lang="en-CA" dirty="0"/>
          </a:p>
          <a:p>
            <a:pPr marL="0" indent="0">
              <a:buNone/>
            </a:pPr>
            <a:r>
              <a:rPr lang="en-CA" dirty="0"/>
              <a:t>How would you change your approach if you had data or an analytical model?</a:t>
            </a:r>
          </a:p>
        </p:txBody>
      </p:sp>
    </p:spTree>
    <p:extLst>
      <p:ext uri="{BB962C8B-B14F-4D97-AF65-F5344CB8AC3E}">
        <p14:creationId xmlns:p14="http://schemas.microsoft.com/office/powerpoint/2010/main" val="3359433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That's Enough for Today</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1410646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311995"/>
            <a:ext cx="9401269" cy="937444"/>
          </a:xfrm>
        </p:spPr>
        <p:txBody>
          <a:bodyPr/>
          <a:lstStyle/>
          <a:p>
            <a:r>
              <a:rPr lang="en-CA" dirty="0"/>
              <a:t>Sample Question 1</a:t>
            </a:r>
          </a:p>
        </p:txBody>
      </p:sp>
      <p:sp>
        <p:nvSpPr>
          <p:cNvPr id="25603" name="Rectangle 3"/>
          <p:cNvSpPr>
            <a:spLocks noGrp="1" noChangeArrowheads="1"/>
          </p:cNvSpPr>
          <p:nvPr>
            <p:ph idx="1"/>
          </p:nvPr>
        </p:nvSpPr>
        <p:spPr>
          <a:xfrm>
            <a:off x="838200" y="1611616"/>
            <a:ext cx="10823532" cy="4663923"/>
          </a:xfrm>
        </p:spPr>
        <p:txBody>
          <a:bodyPr>
            <a:normAutofit fontScale="70000" lnSpcReduction="20000"/>
          </a:bodyPr>
          <a:lstStyle/>
          <a:p>
            <a:pPr marL="0" indent="0">
              <a:lnSpc>
                <a:spcPct val="120000"/>
              </a:lnSpc>
              <a:buNone/>
            </a:pPr>
            <a:r>
              <a:rPr lang="en-US" sz="3100" dirty="0"/>
              <a:t>It is widely believed that the transit's system revenue has been trending up over the course of the year, subject to the fact that sales are normally lower in the months of July and August, however, there are those that believe that somewhere around the beginning of May, the rate of growth increased significantly. Like most businesses, advertising budget and the cost of alternatives (i.e., gasoline for car commutes) should also play a role. Consider each of the issues below in isolation and construct a fairly complete test of each of them alone (i.e., do not attempt to build a single model to test all these things simultaneously.)</a:t>
            </a:r>
          </a:p>
          <a:p>
            <a:pPr>
              <a:lnSpc>
                <a:spcPct val="120000"/>
              </a:lnSpc>
            </a:pPr>
            <a:r>
              <a:rPr lang="en-US" sz="2600" dirty="0"/>
              <a:t>That there is an upwards trend in transit revenue as a function of time and that this trend has increased since early May.</a:t>
            </a:r>
          </a:p>
          <a:p>
            <a:pPr>
              <a:lnSpc>
                <a:spcPct val="120000"/>
              </a:lnSpc>
            </a:pPr>
            <a:r>
              <a:rPr lang="en-US" sz="2600" dirty="0"/>
              <a:t>Do advertising budget and gasoline each have the anticipated impact on transit revenue?</a:t>
            </a:r>
          </a:p>
          <a:p>
            <a:pPr>
              <a:lnSpc>
                <a:spcPct val="120000"/>
              </a:lnSpc>
            </a:pPr>
            <a:r>
              <a:rPr lang="en-US" sz="2600" dirty="0"/>
              <a:t>Is there evidence that the impact of gasoline price and advertising budget are somehow different in the summer, controlling for the 'summer effect' with dummy variables?</a:t>
            </a:r>
          </a:p>
          <a:p>
            <a:pPr>
              <a:lnSpc>
                <a:spcPct val="120000"/>
              </a:lnSpc>
            </a:pPr>
            <a:endParaRPr lang="en-CA" dirty="0"/>
          </a:p>
          <a:p>
            <a:pPr>
              <a:lnSpc>
                <a:spcPct val="120000"/>
              </a:lnSpc>
            </a:pPr>
            <a:endParaRPr lang="en-CA" dirty="0"/>
          </a:p>
          <a:p>
            <a:pPr>
              <a:lnSpc>
                <a:spcPct val="120000"/>
              </a:lnSpc>
            </a:pPr>
            <a:endParaRPr lang="en-CA" dirty="0"/>
          </a:p>
        </p:txBody>
      </p:sp>
    </p:spTree>
    <p:extLst>
      <p:ext uri="{BB962C8B-B14F-4D97-AF65-F5344CB8AC3E}">
        <p14:creationId xmlns:p14="http://schemas.microsoft.com/office/powerpoint/2010/main" val="737372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CA" dirty="0"/>
              <a:t>Sample Question 2</a:t>
            </a:r>
          </a:p>
        </p:txBody>
      </p:sp>
      <p:sp>
        <p:nvSpPr>
          <p:cNvPr id="25603" name="Rectangle 3"/>
          <p:cNvSpPr>
            <a:spLocks noGrp="1" noChangeArrowheads="1"/>
          </p:cNvSpPr>
          <p:nvPr>
            <p:ph idx="1"/>
          </p:nvPr>
        </p:nvSpPr>
        <p:spPr>
          <a:xfrm>
            <a:off x="838200" y="1862659"/>
            <a:ext cx="10811005" cy="3889208"/>
          </a:xfrm>
        </p:spPr>
        <p:txBody>
          <a:bodyPr>
            <a:normAutofit fontScale="77500" lnSpcReduction="20000"/>
          </a:bodyPr>
          <a:lstStyle/>
          <a:p>
            <a:pPr marL="0" indent="0">
              <a:lnSpc>
                <a:spcPct val="120000"/>
              </a:lnSpc>
              <a:buNone/>
            </a:pPr>
            <a:r>
              <a:rPr lang="en-US" dirty="0"/>
              <a:t>Consider the data on the tab </a:t>
            </a:r>
            <a:r>
              <a:rPr lang="en-US" dirty="0" err="1"/>
              <a:t>Structural_Change_Data</a:t>
            </a:r>
            <a:r>
              <a:rPr lang="en-US" dirty="0"/>
              <a:t> which has data on Canadian and American respondents. </a:t>
            </a:r>
            <a:endParaRPr lang="en-US" sz="2800" dirty="0"/>
          </a:p>
          <a:p>
            <a:pPr>
              <a:lnSpc>
                <a:spcPct val="120000"/>
              </a:lnSpc>
              <a:spcBef>
                <a:spcPts val="1800"/>
              </a:spcBef>
            </a:pPr>
            <a:r>
              <a:rPr lang="en-US" dirty="0"/>
              <a:t>Build a model to explain Y using the X1..X4 variables and the US dummy. Does being a US respondent appear to explain the results? If it does not, does that mean that Canadians and Americans are the same?</a:t>
            </a:r>
            <a:endParaRPr lang="en-US" sz="2800" dirty="0"/>
          </a:p>
          <a:p>
            <a:pPr>
              <a:lnSpc>
                <a:spcPct val="120000"/>
              </a:lnSpc>
              <a:spcBef>
                <a:spcPts val="1800"/>
              </a:spcBef>
            </a:pPr>
            <a:r>
              <a:rPr lang="en-US" dirty="0"/>
              <a:t>Run a model to explain Y using X1..X4 then perform a test to determine if Canadians and Americans are in fact the same based or different. Explain the results.</a:t>
            </a:r>
            <a:endParaRPr lang="en-US" sz="2800" dirty="0"/>
          </a:p>
          <a:p>
            <a:pPr>
              <a:lnSpc>
                <a:spcPct val="120000"/>
              </a:lnSpc>
              <a:spcBef>
                <a:spcPts val="1800"/>
              </a:spcBef>
            </a:pPr>
            <a:r>
              <a:rPr lang="en-US" dirty="0"/>
              <a:t>Without checking the data, what differences, in principle, could still exist between Canadians and Americans?</a:t>
            </a:r>
            <a:endParaRPr lang="en-US" sz="2800" dirty="0"/>
          </a:p>
          <a:p>
            <a:pPr marL="0" indent="0">
              <a:lnSpc>
                <a:spcPct val="120000"/>
              </a:lnSpc>
              <a:buNone/>
            </a:pPr>
            <a:endParaRPr lang="en-CA" dirty="0"/>
          </a:p>
          <a:p>
            <a:pPr marL="457200" indent="-457200">
              <a:lnSpc>
                <a:spcPct val="120000"/>
              </a:lnSpc>
              <a:buFontTx/>
              <a:buAutoNum type="arabicPeriod"/>
            </a:pPr>
            <a:endParaRPr lang="en-CA" dirty="0"/>
          </a:p>
          <a:p>
            <a:pPr marL="457200" indent="-457200">
              <a:lnSpc>
                <a:spcPct val="120000"/>
              </a:lnSpc>
              <a:buFontTx/>
              <a:buAutoNum type="arabicPeriod"/>
            </a:pPr>
            <a:endParaRPr lang="en-CA" dirty="0"/>
          </a:p>
        </p:txBody>
      </p:sp>
    </p:spTree>
    <p:extLst>
      <p:ext uri="{BB962C8B-B14F-4D97-AF65-F5344CB8AC3E}">
        <p14:creationId xmlns:p14="http://schemas.microsoft.com/office/powerpoint/2010/main" val="2889354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Appendix: Three Classical Testing Methods</a:t>
            </a:r>
          </a:p>
        </p:txBody>
      </p:sp>
    </p:spTree>
    <p:extLst>
      <p:ext uri="{BB962C8B-B14F-4D97-AF65-F5344CB8AC3E}">
        <p14:creationId xmlns:p14="http://schemas.microsoft.com/office/powerpoint/2010/main" val="2517727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Exact </a:t>
            </a:r>
            <a:r>
              <a:rPr lang="en-US" i="1" dirty="0"/>
              <a:t>versus</a:t>
            </a:r>
            <a:r>
              <a:rPr lang="en-US" dirty="0"/>
              <a:t> Asymptotic Tests</a:t>
            </a:r>
          </a:p>
        </p:txBody>
      </p:sp>
      <p:sp>
        <p:nvSpPr>
          <p:cNvPr id="5" name="Content Placeholder 4"/>
          <p:cNvSpPr>
            <a:spLocks noGrp="1"/>
          </p:cNvSpPr>
          <p:nvPr>
            <p:ph idx="1"/>
          </p:nvPr>
        </p:nvSpPr>
        <p:spPr>
          <a:xfrm>
            <a:off x="838200" y="1862138"/>
            <a:ext cx="10685745" cy="3889375"/>
          </a:xfrm>
        </p:spPr>
        <p:txBody>
          <a:bodyPr>
            <a:normAutofit/>
          </a:bodyPr>
          <a:lstStyle/>
          <a:p>
            <a:pPr marL="0" indent="0">
              <a:buNone/>
            </a:pPr>
            <a:r>
              <a:rPr lang="en-US" dirty="0"/>
              <a:t>Exact tests are based on strict assumptions – such as the error term is normally distributed. When these assumptions do not hold, we can still conduct tests based on asymptotic theory.</a:t>
            </a:r>
          </a:p>
          <a:p>
            <a:pPr marL="0" indent="0">
              <a:spcBef>
                <a:spcPts val="1800"/>
              </a:spcBef>
              <a:buNone/>
            </a:pPr>
            <a:r>
              <a:rPr lang="en-US" dirty="0"/>
              <a:t>Asymptotic tests are based on some important statistical ideas:</a:t>
            </a:r>
          </a:p>
          <a:p>
            <a:r>
              <a:rPr lang="en-US" sz="2400" dirty="0"/>
              <a:t>Laws of Large Numbers – for many distributions, sample means tend to population averages as samples tend to infinity.</a:t>
            </a:r>
          </a:p>
          <a:p>
            <a:r>
              <a:rPr lang="en-US" sz="2400" dirty="0"/>
              <a:t>Central Limits Theorems – for many distributions, sampling distributions of sample means tend to normal distributions.</a:t>
            </a:r>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3153963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Revisiting the Previous Tests</a:t>
            </a:r>
          </a:p>
        </p:txBody>
      </p:sp>
      <p:sp>
        <p:nvSpPr>
          <p:cNvPr id="5" name="Content Placeholder 4"/>
          <p:cNvSpPr>
            <a:spLocks noGrp="1"/>
          </p:cNvSpPr>
          <p:nvPr>
            <p:ph idx="1"/>
          </p:nvPr>
        </p:nvSpPr>
        <p:spPr>
          <a:xfrm>
            <a:off x="838200" y="1862138"/>
            <a:ext cx="10836058" cy="3889375"/>
          </a:xfrm>
        </p:spPr>
        <p:txBody>
          <a:bodyPr>
            <a:normAutofit/>
          </a:bodyPr>
          <a:lstStyle/>
          <a:p>
            <a:r>
              <a:rPr lang="en-US" dirty="0"/>
              <a:t>There are asymptotic versions of the t and F tests that we previously encountered which are based on weaker assumptions.</a:t>
            </a:r>
          </a:p>
          <a:p>
            <a:r>
              <a:rPr lang="en-US" dirty="0"/>
              <a:t>This means that, provided samples are sufficiently large, these tests will remain appropriate even if the initial error distributions are not normal.</a:t>
            </a:r>
          </a:p>
          <a:p>
            <a:r>
              <a:rPr lang="en-US" dirty="0"/>
              <a:t>We have seen tests based on t and F, but here are more forms of tests that one can consider as well… </a:t>
            </a:r>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1135448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Three Classical Testing Methods</a:t>
            </a:r>
          </a:p>
        </p:txBody>
      </p:sp>
      <p:sp>
        <p:nvSpPr>
          <p:cNvPr id="5" name="Content Placeholder 4"/>
          <p:cNvSpPr>
            <a:spLocks noGrp="1"/>
          </p:cNvSpPr>
          <p:nvPr>
            <p:ph idx="1"/>
          </p:nvPr>
        </p:nvSpPr>
        <p:spPr>
          <a:xfrm>
            <a:off x="838200" y="1862138"/>
            <a:ext cx="10848584" cy="3889375"/>
          </a:xfrm>
        </p:spPr>
        <p:txBody>
          <a:bodyPr>
            <a:normAutofit/>
          </a:bodyPr>
          <a:lstStyle/>
          <a:p>
            <a:pPr marL="0" indent="0">
              <a:buNone/>
            </a:pPr>
            <a:r>
              <a:rPr lang="en-US" sz="2400" dirty="0"/>
              <a:t>In addition to the tests you've seen so far, there are three classical approaches to hypothesis testing. They often encountered in a maximum likelihood context:</a:t>
            </a:r>
          </a:p>
          <a:p>
            <a:r>
              <a:rPr lang="en-US" sz="2400" dirty="0"/>
              <a:t>Likelihood Ratio (LR)</a:t>
            </a:r>
          </a:p>
          <a:p>
            <a:r>
              <a:rPr lang="en-US" sz="2400" dirty="0"/>
              <a:t>Wald (W)</a:t>
            </a:r>
          </a:p>
          <a:p>
            <a:r>
              <a:rPr lang="en-US" sz="2400" dirty="0"/>
              <a:t>Lagrange Multiplier (LM)</a:t>
            </a:r>
          </a:p>
          <a:p>
            <a:pPr marL="0" indent="0">
              <a:buNone/>
            </a:pPr>
            <a:r>
              <a:rPr lang="en-US" sz="2400" dirty="0"/>
              <a:t>We are reviewing these for completeness, you do not need to know the mathematics or the formulas. Focus on the principles involved.</a:t>
            </a:r>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
        <p:nvSpPr>
          <p:cNvPr id="6" name="Rectangle 5"/>
          <p:cNvSpPr/>
          <p:nvPr/>
        </p:nvSpPr>
        <p:spPr>
          <a:xfrm>
            <a:off x="939452" y="5219700"/>
            <a:ext cx="10414348" cy="830997"/>
          </a:xfrm>
          <a:prstGeom prst="rect">
            <a:avLst/>
          </a:prstGeom>
        </p:spPr>
        <p:txBody>
          <a:bodyPr wrap="square">
            <a:spAutoFit/>
          </a:bodyPr>
          <a:lstStyle/>
          <a:p>
            <a:pPr algn="l"/>
            <a:r>
              <a:rPr lang="en-US" sz="2400" b="0" dirty="0">
                <a:solidFill>
                  <a:schemeClr val="tx1">
                    <a:lumMod val="85000"/>
                    <a:lumOff val="15000"/>
                  </a:schemeClr>
                </a:solidFill>
                <a:latin typeface="+mn-lt"/>
              </a:rPr>
              <a:t>Note: For most people, the material in these slides is more than sufficient for our class, however, more details can be found in assigned readings. </a:t>
            </a:r>
          </a:p>
        </p:txBody>
      </p:sp>
    </p:spTree>
    <p:extLst>
      <p:ext uri="{BB962C8B-B14F-4D97-AF65-F5344CB8AC3E}">
        <p14:creationId xmlns:p14="http://schemas.microsoft.com/office/powerpoint/2010/main" val="3101970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Likelihood Ratio Test</a:t>
            </a:r>
          </a:p>
        </p:txBody>
      </p:sp>
      <p:sp>
        <p:nvSpPr>
          <p:cNvPr id="5" name="Content Placeholder 4"/>
          <p:cNvSpPr>
            <a:spLocks noGrp="1"/>
          </p:cNvSpPr>
          <p:nvPr>
            <p:ph idx="1"/>
          </p:nvPr>
        </p:nvSpPr>
        <p:spPr>
          <a:xfrm>
            <a:off x="838200" y="1862659"/>
            <a:ext cx="10785953" cy="3889208"/>
          </a:xfrm>
        </p:spPr>
        <p:txBody>
          <a:bodyPr>
            <a:normAutofit/>
          </a:bodyPr>
          <a:lstStyle/>
          <a:p>
            <a:pPr marL="0" indent="0">
              <a:buNone/>
            </a:pPr>
            <a:r>
              <a:rPr lang="en-US" dirty="0"/>
              <a:t>Recall maximum likelihood estimation…</a:t>
            </a:r>
          </a:p>
          <a:p>
            <a:pPr marL="0" indent="0">
              <a:buNone/>
            </a:pPr>
            <a:r>
              <a:rPr lang="en-US" dirty="0"/>
              <a:t>It turns out that if we estimate both an unrestricted      and a model with r restrictions,      , the likelihood ratio statistic:</a:t>
            </a:r>
          </a:p>
          <a:p>
            <a:endParaRPr lang="en-US" sz="3200" dirty="0"/>
          </a:p>
          <a:p>
            <a:endParaRPr lang="en-US" sz="3200" dirty="0"/>
          </a:p>
          <a:p>
            <a:pPr marL="0" indent="0">
              <a:buNone/>
            </a:pPr>
            <a:r>
              <a:rPr lang="en-US" dirty="0"/>
              <a:t>We can use this to conduct hypothesis tests in a ML context, if we can run both restricted and unrestricted models.</a:t>
            </a:r>
          </a:p>
        </p:txBody>
      </p:sp>
      <p:graphicFrame>
        <p:nvGraphicFramePr>
          <p:cNvPr id="6" name="Object 5"/>
          <p:cNvGraphicFramePr>
            <a:graphicFrameLocks noChangeAspect="1"/>
          </p:cNvGraphicFramePr>
          <p:nvPr>
            <p:extLst>
              <p:ext uri="{D42A27DB-BD31-4B8C-83A1-F6EECF244321}">
                <p14:modId xmlns:p14="http://schemas.microsoft.com/office/powerpoint/2010/main" val="3317093262"/>
              </p:ext>
            </p:extLst>
          </p:nvPr>
        </p:nvGraphicFramePr>
        <p:xfrm>
          <a:off x="3710790" y="2793301"/>
          <a:ext cx="517950" cy="492946"/>
        </p:xfrm>
        <a:graphic>
          <a:graphicData uri="http://schemas.openxmlformats.org/presentationml/2006/ole">
            <mc:AlternateContent xmlns:mc="http://schemas.openxmlformats.org/markup-compatibility/2006">
              <mc:Choice xmlns:v="urn:schemas-microsoft-com:vml" Requires="v">
                <p:oleObj name="Equation" r:id="rId4" imgW="253800" imgH="241200" progId="Equation.3">
                  <p:embed/>
                </p:oleObj>
              </mc:Choice>
              <mc:Fallback>
                <p:oleObj name="Equation" r:id="rId4" imgW="253800" imgH="241200" progId="Equation.3">
                  <p:embed/>
                  <p:pic>
                    <p:nvPicPr>
                      <p:cNvPr id="6" name="Object 5"/>
                      <p:cNvPicPr/>
                      <p:nvPr/>
                    </p:nvPicPr>
                    <p:blipFill>
                      <a:blip r:embed="rId5"/>
                      <a:stretch>
                        <a:fillRect/>
                      </a:stretch>
                    </p:blipFill>
                    <p:spPr>
                      <a:xfrm>
                        <a:off x="3710790" y="2793301"/>
                        <a:ext cx="517950" cy="492946"/>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971605743"/>
              </p:ext>
            </p:extLst>
          </p:nvPr>
        </p:nvGraphicFramePr>
        <p:xfrm>
          <a:off x="8851259" y="2395724"/>
          <a:ext cx="484444" cy="484444"/>
        </p:xfrm>
        <a:graphic>
          <a:graphicData uri="http://schemas.openxmlformats.org/presentationml/2006/ole">
            <mc:AlternateContent xmlns:mc="http://schemas.openxmlformats.org/markup-compatibility/2006">
              <mc:Choice xmlns:v="urn:schemas-microsoft-com:vml" Requires="v">
                <p:oleObj name="Equation" r:id="rId6" imgW="241200" imgH="241200" progId="Equation.3">
                  <p:embed/>
                </p:oleObj>
              </mc:Choice>
              <mc:Fallback>
                <p:oleObj name="Equation" r:id="rId6" imgW="241200" imgH="241200" progId="Equation.3">
                  <p:embed/>
                  <p:pic>
                    <p:nvPicPr>
                      <p:cNvPr id="9" name="Object 8"/>
                      <p:cNvPicPr/>
                      <p:nvPr/>
                    </p:nvPicPr>
                    <p:blipFill>
                      <a:blip r:embed="rId7"/>
                      <a:stretch>
                        <a:fillRect/>
                      </a:stretch>
                    </p:blipFill>
                    <p:spPr>
                      <a:xfrm>
                        <a:off x="8851259" y="2395724"/>
                        <a:ext cx="484444" cy="484444"/>
                      </a:xfrm>
                      <a:prstGeom prst="rect">
                        <a:avLst/>
                      </a:prstGeom>
                    </p:spPr>
                  </p:pic>
                </p:oleObj>
              </mc:Fallback>
            </mc:AlternateContent>
          </a:graphicData>
        </a:graphic>
      </p:graphicFrame>
      <p:pic>
        <p:nvPicPr>
          <p:cNvPr id="11" name="Picture 10"/>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396699" y="3429000"/>
            <a:ext cx="6696782" cy="726745"/>
          </a:xfrm>
          <a:prstGeom prst="rect">
            <a:avLst/>
          </a:prstGeom>
        </p:spPr>
      </p:pic>
    </p:spTree>
    <p:extLst>
      <p:ext uri="{BB962C8B-B14F-4D97-AF65-F5344CB8AC3E}">
        <p14:creationId xmlns:p14="http://schemas.microsoft.com/office/powerpoint/2010/main" val="3304119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Wald Test</a:t>
            </a:r>
          </a:p>
        </p:txBody>
      </p:sp>
      <p:sp>
        <p:nvSpPr>
          <p:cNvPr id="5" name="Content Placeholder 4"/>
          <p:cNvSpPr>
            <a:spLocks noGrp="1"/>
          </p:cNvSpPr>
          <p:nvPr>
            <p:ph idx="1"/>
          </p:nvPr>
        </p:nvSpPr>
        <p:spPr>
          <a:xfrm>
            <a:off x="838200" y="1862658"/>
            <a:ext cx="10698271" cy="4362777"/>
          </a:xfrm>
        </p:spPr>
        <p:txBody>
          <a:bodyPr>
            <a:normAutofit lnSpcReduction="10000"/>
          </a:bodyPr>
          <a:lstStyle/>
          <a:p>
            <a:r>
              <a:rPr lang="en-US" dirty="0"/>
              <a:t>If we have an estimate of the unrestricted model,      , we can construct a test statistic for a model with r restrictions using: </a:t>
            </a:r>
          </a:p>
          <a:p>
            <a:endParaRPr lang="en-US" dirty="0"/>
          </a:p>
          <a:p>
            <a:endParaRPr lang="en-US" dirty="0"/>
          </a:p>
          <a:p>
            <a:r>
              <a:rPr lang="en-US" dirty="0"/>
              <a:t>This testing method only requires running the unrestricted model. Which may be easier to run than the restricted model in some.</a:t>
            </a:r>
          </a:p>
          <a:p>
            <a:r>
              <a:rPr lang="en-US" dirty="0"/>
              <a:t>The standard t-test squared would be a Wald test.</a:t>
            </a:r>
          </a:p>
          <a:p>
            <a:r>
              <a:rPr lang="en-US" dirty="0"/>
              <a:t>Note that Wald test statistics have questionable small sample properties, so use LR tests if the you have a choice.</a:t>
            </a:r>
          </a:p>
        </p:txBody>
      </p:sp>
      <p:graphicFrame>
        <p:nvGraphicFramePr>
          <p:cNvPr id="9" name="Object 8"/>
          <p:cNvGraphicFramePr>
            <a:graphicFrameLocks noChangeAspect="1"/>
          </p:cNvGraphicFramePr>
          <p:nvPr>
            <p:extLst>
              <p:ext uri="{D42A27DB-BD31-4B8C-83A1-F6EECF244321}">
                <p14:modId xmlns:p14="http://schemas.microsoft.com/office/powerpoint/2010/main" val="2997767361"/>
              </p:ext>
            </p:extLst>
          </p:nvPr>
        </p:nvGraphicFramePr>
        <p:xfrm>
          <a:off x="8725698" y="1776890"/>
          <a:ext cx="558244" cy="558244"/>
        </p:xfrm>
        <a:graphic>
          <a:graphicData uri="http://schemas.openxmlformats.org/presentationml/2006/ole">
            <mc:AlternateContent xmlns:mc="http://schemas.openxmlformats.org/markup-compatibility/2006">
              <mc:Choice xmlns:v="urn:schemas-microsoft-com:vml" Requires="v">
                <p:oleObj name="Equation" r:id="rId3" imgW="241200" imgH="241200" progId="Equation.3">
                  <p:embed/>
                </p:oleObj>
              </mc:Choice>
              <mc:Fallback>
                <p:oleObj name="Equation" r:id="rId3" imgW="241200" imgH="241200" progId="Equation.3">
                  <p:embed/>
                  <p:pic>
                    <p:nvPicPr>
                      <p:cNvPr id="9" name="Object 8"/>
                      <p:cNvPicPr/>
                      <p:nvPr/>
                    </p:nvPicPr>
                    <p:blipFill>
                      <a:blip r:embed="rId4"/>
                      <a:stretch>
                        <a:fillRect/>
                      </a:stretch>
                    </p:blipFill>
                    <p:spPr>
                      <a:xfrm>
                        <a:off x="8725698" y="1776890"/>
                        <a:ext cx="558244" cy="558244"/>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326355484"/>
              </p:ext>
            </p:extLst>
          </p:nvPr>
        </p:nvGraphicFramePr>
        <p:xfrm>
          <a:off x="2099709" y="2669231"/>
          <a:ext cx="7547487" cy="651582"/>
        </p:xfrm>
        <a:graphic>
          <a:graphicData uri="http://schemas.openxmlformats.org/presentationml/2006/ole">
            <mc:AlternateContent xmlns:mc="http://schemas.openxmlformats.org/markup-compatibility/2006">
              <mc:Choice xmlns:v="urn:schemas-microsoft-com:vml" Requires="v">
                <p:oleObj name="Equation" r:id="rId5" imgW="2793960" imgH="241200" progId="Equation.3">
                  <p:embed/>
                </p:oleObj>
              </mc:Choice>
              <mc:Fallback>
                <p:oleObj name="Equation" r:id="rId5" imgW="2793960" imgH="241200" progId="Equation.3">
                  <p:embed/>
                  <p:pic>
                    <p:nvPicPr>
                      <p:cNvPr id="10" name="Object 9"/>
                      <p:cNvPicPr/>
                      <p:nvPr/>
                    </p:nvPicPr>
                    <p:blipFill>
                      <a:blip r:embed="rId6"/>
                      <a:stretch>
                        <a:fillRect/>
                      </a:stretch>
                    </p:blipFill>
                    <p:spPr>
                      <a:xfrm>
                        <a:off x="2099709" y="2669231"/>
                        <a:ext cx="7547487" cy="651582"/>
                      </a:xfrm>
                      <a:prstGeom prst="rect">
                        <a:avLst/>
                      </a:prstGeom>
                    </p:spPr>
                  </p:pic>
                </p:oleObj>
              </mc:Fallback>
            </mc:AlternateContent>
          </a:graphicData>
        </a:graphic>
      </p:graphicFrame>
    </p:spTree>
    <p:extLst>
      <p:ext uri="{BB962C8B-B14F-4D97-AF65-F5344CB8AC3E}">
        <p14:creationId xmlns:p14="http://schemas.microsoft.com/office/powerpoint/2010/main" val="6651208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Lagrange Multiplier Test</a:t>
            </a:r>
          </a:p>
        </p:txBody>
      </p:sp>
      <p:sp>
        <p:nvSpPr>
          <p:cNvPr id="5" name="Content Placeholder 4"/>
          <p:cNvSpPr>
            <a:spLocks noGrp="1"/>
          </p:cNvSpPr>
          <p:nvPr>
            <p:ph idx="1"/>
          </p:nvPr>
        </p:nvSpPr>
        <p:spPr>
          <a:xfrm>
            <a:off x="838200" y="1862658"/>
            <a:ext cx="10785953" cy="4230637"/>
          </a:xfrm>
        </p:spPr>
        <p:txBody>
          <a:bodyPr>
            <a:normAutofit lnSpcReduction="10000"/>
          </a:bodyPr>
          <a:lstStyle/>
          <a:p>
            <a:r>
              <a:rPr lang="en-US" dirty="0"/>
              <a:t>If we have an estimate of the restricted model,      , we can construct a test using only the restricted model by determining how tightly binding those restrictions are.</a:t>
            </a:r>
          </a:p>
          <a:p>
            <a:pPr algn="just"/>
            <a:endParaRPr lang="en-US" dirty="0"/>
          </a:p>
          <a:p>
            <a:pPr algn="just"/>
            <a:endParaRPr lang="en-US" dirty="0"/>
          </a:p>
          <a:p>
            <a:r>
              <a:rPr lang="en-US" dirty="0"/>
              <a:t>Where            is the vector of gradients and            is the matrix of partial derivatives of the </a:t>
            </a:r>
            <a:r>
              <a:rPr lang="en-US" dirty="0" err="1"/>
              <a:t>loglikelihood</a:t>
            </a:r>
            <a:r>
              <a:rPr lang="en-US" dirty="0"/>
              <a:t> function.</a:t>
            </a:r>
          </a:p>
          <a:p>
            <a:pPr>
              <a:spcBef>
                <a:spcPts val="1800"/>
              </a:spcBef>
            </a:pPr>
            <a:r>
              <a:rPr lang="en-US" dirty="0"/>
              <a:t>This method can be useful when the restricted models can be run but unrestricted would be difficult to run.</a:t>
            </a:r>
          </a:p>
        </p:txBody>
      </p:sp>
      <p:graphicFrame>
        <p:nvGraphicFramePr>
          <p:cNvPr id="9" name="Object 8"/>
          <p:cNvGraphicFramePr>
            <a:graphicFrameLocks noChangeAspect="1"/>
          </p:cNvGraphicFramePr>
          <p:nvPr>
            <p:extLst>
              <p:ext uri="{D42A27DB-BD31-4B8C-83A1-F6EECF244321}">
                <p14:modId xmlns:p14="http://schemas.microsoft.com/office/powerpoint/2010/main" val="979142714"/>
              </p:ext>
            </p:extLst>
          </p:nvPr>
        </p:nvGraphicFramePr>
        <p:xfrm>
          <a:off x="8294820" y="1726105"/>
          <a:ext cx="623712" cy="591563"/>
        </p:xfrm>
        <a:graphic>
          <a:graphicData uri="http://schemas.openxmlformats.org/presentationml/2006/ole">
            <mc:AlternateContent xmlns:mc="http://schemas.openxmlformats.org/markup-compatibility/2006">
              <mc:Choice xmlns:v="urn:schemas-microsoft-com:vml" Requires="v">
                <p:oleObj name="Equation" r:id="rId3" imgW="253800" imgH="241200" progId="Equation.3">
                  <p:embed/>
                </p:oleObj>
              </mc:Choice>
              <mc:Fallback>
                <p:oleObj name="Equation" r:id="rId3" imgW="253800" imgH="241200" progId="Equation.3">
                  <p:embed/>
                  <p:pic>
                    <p:nvPicPr>
                      <p:cNvPr id="9" name="Object 8"/>
                      <p:cNvPicPr/>
                      <p:nvPr/>
                    </p:nvPicPr>
                    <p:blipFill>
                      <a:blip r:embed="rId4"/>
                      <a:stretch>
                        <a:fillRect/>
                      </a:stretch>
                    </p:blipFill>
                    <p:spPr>
                      <a:xfrm>
                        <a:off x="8294820" y="1726105"/>
                        <a:ext cx="623712" cy="591563"/>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853373398"/>
              </p:ext>
            </p:extLst>
          </p:nvPr>
        </p:nvGraphicFramePr>
        <p:xfrm>
          <a:off x="3003551" y="3175427"/>
          <a:ext cx="5076825" cy="601662"/>
        </p:xfrm>
        <a:graphic>
          <a:graphicData uri="http://schemas.openxmlformats.org/presentationml/2006/ole">
            <mc:AlternateContent xmlns:mc="http://schemas.openxmlformats.org/markup-compatibility/2006">
              <mc:Choice xmlns:v="urn:schemas-microsoft-com:vml" Requires="v">
                <p:oleObj name="Equation" r:id="rId5" imgW="2031840" imgH="241200" progId="Equation.3">
                  <p:embed/>
                </p:oleObj>
              </mc:Choice>
              <mc:Fallback>
                <p:oleObj name="Equation" r:id="rId5" imgW="2031840" imgH="241200" progId="Equation.3">
                  <p:embed/>
                  <p:pic>
                    <p:nvPicPr>
                      <p:cNvPr id="6" name="Object 5"/>
                      <p:cNvPicPr>
                        <a:picLocks noChangeAspect="1" noChangeArrowheads="1"/>
                      </p:cNvPicPr>
                      <p:nvPr/>
                    </p:nvPicPr>
                    <p:blipFill>
                      <a:blip r:embed="rId6"/>
                      <a:srcRect/>
                      <a:stretch>
                        <a:fillRect/>
                      </a:stretch>
                    </p:blipFill>
                    <p:spPr bwMode="auto">
                      <a:xfrm>
                        <a:off x="3003551" y="3175427"/>
                        <a:ext cx="507682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933474044"/>
              </p:ext>
            </p:extLst>
          </p:nvPr>
        </p:nvGraphicFramePr>
        <p:xfrm>
          <a:off x="2217127" y="3991242"/>
          <a:ext cx="926906" cy="628440"/>
        </p:xfrm>
        <a:graphic>
          <a:graphicData uri="http://schemas.openxmlformats.org/presentationml/2006/ole">
            <mc:AlternateContent xmlns:mc="http://schemas.openxmlformats.org/markup-compatibility/2006">
              <mc:Choice xmlns:v="urn:schemas-microsoft-com:vml" Requires="v">
                <p:oleObj name="Equation" r:id="rId7" imgW="355320" imgH="241200" progId="Equation.3">
                  <p:embed/>
                </p:oleObj>
              </mc:Choice>
              <mc:Fallback>
                <p:oleObj name="Equation" r:id="rId7" imgW="355320" imgH="241200" progId="Equation.3">
                  <p:embed/>
                  <p:pic>
                    <p:nvPicPr>
                      <p:cNvPr id="11" name="Object 10"/>
                      <p:cNvPicPr>
                        <a:picLocks noChangeAspect="1" noChangeArrowheads="1"/>
                      </p:cNvPicPr>
                      <p:nvPr/>
                    </p:nvPicPr>
                    <p:blipFill>
                      <a:blip r:embed="rId8"/>
                      <a:srcRect/>
                      <a:stretch>
                        <a:fillRect/>
                      </a:stretch>
                    </p:blipFill>
                    <p:spPr bwMode="auto">
                      <a:xfrm>
                        <a:off x="2217127" y="3991242"/>
                        <a:ext cx="926906" cy="628440"/>
                      </a:xfrm>
                      <a:prstGeom prst="rect">
                        <a:avLst/>
                      </a:prstGeom>
                      <a:noFill/>
                      <a:ln>
                        <a:noFill/>
                      </a:ln>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783499251"/>
              </p:ext>
            </p:extLst>
          </p:nvPr>
        </p:nvGraphicFramePr>
        <p:xfrm>
          <a:off x="7861931" y="3991242"/>
          <a:ext cx="926908" cy="628440"/>
        </p:xfrm>
        <a:graphic>
          <a:graphicData uri="http://schemas.openxmlformats.org/presentationml/2006/ole">
            <mc:AlternateContent xmlns:mc="http://schemas.openxmlformats.org/markup-compatibility/2006">
              <mc:Choice xmlns:v="urn:schemas-microsoft-com:vml" Requires="v">
                <p:oleObj name="Equation" r:id="rId9" imgW="355320" imgH="241200" progId="Equation.3">
                  <p:embed/>
                </p:oleObj>
              </mc:Choice>
              <mc:Fallback>
                <p:oleObj name="Equation" r:id="rId9" imgW="355320" imgH="241200" progId="Equation.3">
                  <p:embed/>
                  <p:pic>
                    <p:nvPicPr>
                      <p:cNvPr id="12" name="Object 11"/>
                      <p:cNvPicPr>
                        <a:picLocks noChangeAspect="1" noChangeArrowheads="1"/>
                      </p:cNvPicPr>
                      <p:nvPr/>
                    </p:nvPicPr>
                    <p:blipFill>
                      <a:blip r:embed="rId10"/>
                      <a:srcRect/>
                      <a:stretch>
                        <a:fillRect/>
                      </a:stretch>
                    </p:blipFill>
                    <p:spPr bwMode="auto">
                      <a:xfrm>
                        <a:off x="7861931" y="3991242"/>
                        <a:ext cx="926908" cy="62844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643139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Limitations of Asymptotic Tests</a:t>
            </a:r>
          </a:p>
        </p:txBody>
      </p:sp>
      <p:sp>
        <p:nvSpPr>
          <p:cNvPr id="5" name="Content Placeholder 4"/>
          <p:cNvSpPr>
            <a:spLocks noGrp="1"/>
          </p:cNvSpPr>
          <p:nvPr>
            <p:ph idx="1"/>
          </p:nvPr>
        </p:nvSpPr>
        <p:spPr>
          <a:xfrm>
            <a:off x="838200" y="1862659"/>
            <a:ext cx="10635641" cy="3889208"/>
          </a:xfrm>
        </p:spPr>
        <p:txBody>
          <a:bodyPr>
            <a:normAutofit/>
          </a:bodyPr>
          <a:lstStyle/>
          <a:p>
            <a:pPr marL="0" indent="0">
              <a:buNone/>
            </a:pPr>
            <a:r>
              <a:rPr lang="en-US" dirty="0"/>
              <a:t>Asymptotic tests assume that sufficiently large samples have the properties of infinite samples. There are caveats to this:</a:t>
            </a:r>
          </a:p>
          <a:p>
            <a:pPr>
              <a:buFontTx/>
              <a:buChar char="-"/>
            </a:pPr>
            <a:r>
              <a:rPr lang="en-US" dirty="0"/>
              <a:t>You may not know when large enough really is large enough</a:t>
            </a:r>
          </a:p>
          <a:p>
            <a:pPr>
              <a:buFontTx/>
              <a:buChar char="-"/>
            </a:pPr>
            <a:r>
              <a:rPr lang="en-US" dirty="0"/>
              <a:t>You may have a small sample that is not normal</a:t>
            </a:r>
          </a:p>
          <a:p>
            <a:pPr>
              <a:buFontTx/>
              <a:buChar char="-"/>
            </a:pPr>
            <a:endParaRPr lang="en-US" dirty="0"/>
          </a:p>
          <a:p>
            <a:pPr marL="0" indent="0">
              <a:buNone/>
            </a:pPr>
            <a:r>
              <a:rPr lang="en-US" dirty="0"/>
              <a:t>So, what can you do?</a:t>
            </a:r>
          </a:p>
          <a:p>
            <a:pPr>
              <a:buFontTx/>
              <a:buChar char="-"/>
            </a:pPr>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766941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Small Samples and Dubious Assumptions</a:t>
            </a:r>
          </a:p>
        </p:txBody>
      </p:sp>
      <p:sp>
        <p:nvSpPr>
          <p:cNvPr id="5" name="Content Placeholder 4"/>
          <p:cNvSpPr>
            <a:spLocks noGrp="1"/>
          </p:cNvSpPr>
          <p:nvPr>
            <p:ph idx="1"/>
          </p:nvPr>
        </p:nvSpPr>
        <p:spPr>
          <a:xfrm>
            <a:off x="838200" y="1862138"/>
            <a:ext cx="10773427" cy="3889375"/>
          </a:xfrm>
        </p:spPr>
        <p:txBody>
          <a:bodyPr>
            <a:normAutofit/>
          </a:bodyPr>
          <a:lstStyle/>
          <a:p>
            <a:pPr marL="0" indent="0">
              <a:buNone/>
            </a:pPr>
            <a:r>
              <a:rPr lang="en-US" dirty="0"/>
              <a:t>Besides the obvious, get more data, there are a few things you can consider when faced with small samples and dubious distributional assumptions:</a:t>
            </a:r>
          </a:p>
          <a:p>
            <a:r>
              <a:rPr lang="en-US" dirty="0"/>
              <a:t>Monte Carlo analysis</a:t>
            </a:r>
          </a:p>
          <a:p>
            <a:r>
              <a:rPr lang="en-US" dirty="0"/>
              <a:t>Bootstrapping</a:t>
            </a:r>
          </a:p>
          <a:p>
            <a:r>
              <a:rPr lang="en-US" dirty="0"/>
              <a:t>Transforming variables </a:t>
            </a:r>
          </a:p>
          <a:p>
            <a:endParaRPr lang="en-US" dirty="0"/>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
        <p:nvSpPr>
          <p:cNvPr id="7" name="Rectangle 6"/>
          <p:cNvSpPr/>
          <p:nvPr/>
        </p:nvSpPr>
        <p:spPr>
          <a:xfrm>
            <a:off x="838200" y="5305332"/>
            <a:ext cx="10515600" cy="830997"/>
          </a:xfrm>
          <a:prstGeom prst="rect">
            <a:avLst/>
          </a:prstGeom>
        </p:spPr>
        <p:txBody>
          <a:bodyPr wrap="square">
            <a:spAutoFit/>
          </a:bodyPr>
          <a:lstStyle/>
          <a:p>
            <a:pPr algn="l"/>
            <a:r>
              <a:rPr lang="en-US" sz="2400" b="0" dirty="0">
                <a:solidFill>
                  <a:schemeClr val="tx1">
                    <a:lumMod val="85000"/>
                    <a:lumOff val="15000"/>
                  </a:schemeClr>
                </a:solidFill>
                <a:latin typeface="+mn-lt"/>
              </a:rPr>
              <a:t>Note: Transforming variables is described in Using Multivariate Statistics.  This will be covered in a later course.</a:t>
            </a:r>
          </a:p>
        </p:txBody>
      </p:sp>
    </p:spTree>
    <p:extLst>
      <p:ext uri="{BB962C8B-B14F-4D97-AF65-F5344CB8AC3E}">
        <p14:creationId xmlns:p14="http://schemas.microsoft.com/office/powerpoint/2010/main" val="22257061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Monte Carlo Analysis</a:t>
            </a:r>
          </a:p>
        </p:txBody>
      </p:sp>
      <p:sp>
        <p:nvSpPr>
          <p:cNvPr id="5" name="Content Placeholder 4"/>
          <p:cNvSpPr>
            <a:spLocks noGrp="1"/>
          </p:cNvSpPr>
          <p:nvPr>
            <p:ph idx="1"/>
          </p:nvPr>
        </p:nvSpPr>
        <p:spPr>
          <a:xfrm>
            <a:off x="838200" y="1862138"/>
            <a:ext cx="10911214" cy="4263089"/>
          </a:xfrm>
        </p:spPr>
        <p:txBody>
          <a:bodyPr>
            <a:normAutofit/>
          </a:bodyPr>
          <a:lstStyle/>
          <a:p>
            <a:pPr marL="0" indent="0">
              <a:buNone/>
            </a:pPr>
            <a:r>
              <a:rPr lang="en-US" dirty="0"/>
              <a:t>In general, a Monte Carlo analysis is conducted by generating a large collection of 'sample data' according to a DGP of interest, typically the one implied by the null hypothesis:</a:t>
            </a:r>
          </a:p>
          <a:p>
            <a:r>
              <a:rPr lang="en-US" sz="2400" dirty="0"/>
              <a:t>If the DGP of the null is used, the resulting samples can be used to calculate a distribution of test statistics to perform a hypothesis test.</a:t>
            </a:r>
          </a:p>
          <a:p>
            <a:r>
              <a:rPr lang="en-US" sz="2400" dirty="0"/>
              <a:t>More generally, the resulting samples can be used to analyze the properties of the test statistics. For example, how often does an asymptotic model reject for a given alpha; or how well does it perform under a variety of alternative hypotheses.</a:t>
            </a:r>
          </a:p>
          <a:p>
            <a:endParaRPr lang="en-US" dirty="0"/>
          </a:p>
          <a:p>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3572536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1995"/>
            <a:ext cx="9401269" cy="937444"/>
          </a:xfrm>
        </p:spPr>
        <p:txBody>
          <a:bodyPr/>
          <a:lstStyle/>
          <a:p>
            <a:r>
              <a:rPr lang="en-US" dirty="0"/>
              <a:t>Bootstrapping </a:t>
            </a:r>
          </a:p>
        </p:txBody>
      </p:sp>
      <p:sp>
        <p:nvSpPr>
          <p:cNvPr id="5" name="Content Placeholder 4"/>
          <p:cNvSpPr>
            <a:spLocks noGrp="1"/>
          </p:cNvSpPr>
          <p:nvPr>
            <p:ph idx="1"/>
          </p:nvPr>
        </p:nvSpPr>
        <p:spPr>
          <a:xfrm>
            <a:off x="838200" y="1862138"/>
            <a:ext cx="10861110" cy="4263089"/>
          </a:xfrm>
        </p:spPr>
        <p:txBody>
          <a:bodyPr>
            <a:normAutofit fontScale="92500" lnSpcReduction="10000"/>
          </a:bodyPr>
          <a:lstStyle/>
          <a:p>
            <a:pPr marL="0" indent="0">
              <a:lnSpc>
                <a:spcPct val="110000"/>
              </a:lnSpc>
              <a:buNone/>
            </a:pPr>
            <a:r>
              <a:rPr lang="en-US" dirty="0"/>
              <a:t>Bootstrapping is a process whereby many samples of size n with replacement are constructed 'under the null'. Each sample is used to calculate a test statistic. The resulting empirical distribution of test statistics approximates the true distribution of test statistics 'under the null' and can be used to perform hypothesis tests.</a:t>
            </a:r>
          </a:p>
          <a:p>
            <a:pPr>
              <a:lnSpc>
                <a:spcPct val="110000"/>
              </a:lnSpc>
            </a:pPr>
            <a:r>
              <a:rPr lang="en-US" sz="2400" dirty="0"/>
              <a:t>There are frequently multiple ways to implement bootstrapping. Some use parameterizations of the distribution, others do not.</a:t>
            </a:r>
          </a:p>
          <a:p>
            <a:pPr>
              <a:lnSpc>
                <a:spcPct val="110000"/>
              </a:lnSpc>
            </a:pPr>
            <a:r>
              <a:rPr lang="en-US" sz="2400" dirty="0"/>
              <a:t>Typically, you must program them yourself. The programming is not hard but replicating the null may be.</a:t>
            </a:r>
          </a:p>
          <a:p>
            <a:pPr>
              <a:lnSpc>
                <a:spcPct val="110000"/>
              </a:lnSpc>
            </a:pPr>
            <a:r>
              <a:rPr lang="en-US" sz="2400" dirty="0"/>
              <a:t>They typically perform very well per Monte Carlo studies.</a:t>
            </a:r>
          </a:p>
          <a:p>
            <a:pPr>
              <a:lnSpc>
                <a:spcPct val="110000"/>
              </a:lnSpc>
            </a:pPr>
            <a:endParaRPr lang="en-US" dirty="0"/>
          </a:p>
          <a:p>
            <a:pPr>
              <a:lnSpc>
                <a:spcPct val="110000"/>
              </a:lnSpc>
            </a:pPr>
            <a:endParaRPr lang="en-US" dirty="0"/>
          </a:p>
          <a:p>
            <a:pPr>
              <a:lnSpc>
                <a:spcPct val="110000"/>
              </a:lnSpc>
            </a:pPr>
            <a:endParaRPr lang="en-US"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extLst>
      <p:ext uri="{BB962C8B-B14F-4D97-AF65-F5344CB8AC3E}">
        <p14:creationId xmlns:p14="http://schemas.microsoft.com/office/powerpoint/2010/main" val="2468680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Appendix: Heteroscedasticity Math</a:t>
            </a:r>
          </a:p>
        </p:txBody>
      </p:sp>
    </p:spTree>
    <p:extLst>
      <p:ext uri="{BB962C8B-B14F-4D97-AF65-F5344CB8AC3E}">
        <p14:creationId xmlns:p14="http://schemas.microsoft.com/office/powerpoint/2010/main" val="3914169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Heteroskedasticity </a:t>
            </a:r>
          </a:p>
        </p:txBody>
      </p:sp>
      <p:sp>
        <p:nvSpPr>
          <p:cNvPr id="5" name="Content Placeholder 4"/>
          <p:cNvSpPr>
            <a:spLocks noGrp="1"/>
          </p:cNvSpPr>
          <p:nvPr>
            <p:ph idx="1"/>
          </p:nvPr>
        </p:nvSpPr>
        <p:spPr>
          <a:xfrm>
            <a:off x="838200" y="1862658"/>
            <a:ext cx="10911214" cy="4575720"/>
          </a:xfrm>
        </p:spPr>
        <p:txBody>
          <a:bodyPr>
            <a:normAutofit/>
          </a:bodyPr>
          <a:lstStyle/>
          <a:p>
            <a:pPr marL="0" indent="0" algn="just">
              <a:lnSpc>
                <a:spcPct val="120000"/>
              </a:lnSpc>
              <a:buNone/>
            </a:pPr>
            <a:r>
              <a:rPr lang="en-US" sz="2400" dirty="0"/>
              <a:t>Recall our previous finding that, under normal error terms:</a:t>
            </a:r>
          </a:p>
          <a:p>
            <a:pPr marL="0" indent="0">
              <a:lnSpc>
                <a:spcPct val="120000"/>
              </a:lnSpc>
              <a:buNone/>
            </a:pPr>
            <a:r>
              <a:rPr lang="en-US" sz="2400" dirty="0"/>
              <a:t>							</a:t>
            </a:r>
          </a:p>
          <a:p>
            <a:pPr marL="0" indent="0">
              <a:lnSpc>
                <a:spcPct val="120000"/>
              </a:lnSpc>
              <a:buNone/>
            </a:pPr>
            <a:r>
              <a:rPr lang="en-US" sz="2400" dirty="0"/>
              <a:t>In the presence of heteroskedasticity, this is no longer true, rather:</a:t>
            </a:r>
          </a:p>
          <a:p>
            <a:pPr marL="0" indent="0">
              <a:lnSpc>
                <a:spcPct val="120000"/>
              </a:lnSpc>
              <a:buNone/>
            </a:pPr>
            <a:endParaRPr lang="en-US" sz="2400" dirty="0"/>
          </a:p>
          <a:p>
            <a:pPr marL="0" indent="0">
              <a:lnSpc>
                <a:spcPct val="120000"/>
              </a:lnSpc>
              <a:buNone/>
            </a:pPr>
            <a:r>
              <a:rPr lang="en-US" sz="2400" dirty="0"/>
              <a:t>Which is called a 'sandwich' covariance matrix because of the matrix                 being sandwiched in the middle of it. </a:t>
            </a:r>
          </a:p>
          <a:p>
            <a:pPr marL="0" indent="0">
              <a:lnSpc>
                <a:spcPct val="120000"/>
              </a:lnSpc>
              <a:buNone/>
            </a:pPr>
            <a:r>
              <a:rPr lang="en-US" sz="2400" dirty="0"/>
              <a:t>Naturally, having the wrong variance estimates gives rise to invalid hypothesis tests.</a:t>
            </a:r>
          </a:p>
          <a:p>
            <a:pPr marL="0" indent="0">
              <a:lnSpc>
                <a:spcPct val="120000"/>
              </a:lnSpc>
              <a:buNone/>
            </a:pPr>
            <a:endParaRPr lang="en-US" sz="2400" dirty="0"/>
          </a:p>
          <a:p>
            <a:pPr>
              <a:lnSpc>
                <a:spcPct val="120000"/>
              </a:lnSpc>
            </a:pPr>
            <a:endParaRPr lang="en-US" sz="2400" dirty="0"/>
          </a:p>
          <a:p>
            <a:pPr>
              <a:lnSpc>
                <a:spcPct val="120000"/>
              </a:lnSpc>
            </a:pPr>
            <a:endParaRPr lang="en-US" sz="2400" dirty="0"/>
          </a:p>
          <a:p>
            <a:pPr>
              <a:lnSpc>
                <a:spcPct val="120000"/>
              </a:lnSpc>
            </a:pPr>
            <a:endParaRPr lang="en-US" sz="2400" dirty="0"/>
          </a:p>
          <a:p>
            <a:pPr>
              <a:lnSpc>
                <a:spcPct val="120000"/>
              </a:lnSpc>
            </a:pPr>
            <a:endParaRPr lang="en-US" sz="2400" dirty="0"/>
          </a:p>
          <a:p>
            <a:pPr>
              <a:lnSpc>
                <a:spcPct val="120000"/>
              </a:lnSpc>
            </a:pPr>
            <a:endParaRPr lang="en-US" sz="2400" dirty="0"/>
          </a:p>
        </p:txBody>
      </p:sp>
      <p:graphicFrame>
        <p:nvGraphicFramePr>
          <p:cNvPr id="2" name="Object 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 name="Object 1"/>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8" name="Object 7"/>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528828567"/>
              </p:ext>
            </p:extLst>
          </p:nvPr>
        </p:nvGraphicFramePr>
        <p:xfrm>
          <a:off x="2010002" y="3531038"/>
          <a:ext cx="4906963" cy="552450"/>
        </p:xfrm>
        <a:graphic>
          <a:graphicData uri="http://schemas.openxmlformats.org/presentationml/2006/ole">
            <mc:AlternateContent xmlns:mc="http://schemas.openxmlformats.org/markup-compatibility/2006">
              <mc:Choice xmlns:v="urn:schemas-microsoft-com:vml" Requires="v">
                <p:oleObj name="Equation" r:id="rId6" imgW="2145960" imgH="241200" progId="Equation.3">
                  <p:embed/>
                </p:oleObj>
              </mc:Choice>
              <mc:Fallback>
                <p:oleObj name="Equation" r:id="rId6" imgW="2145960" imgH="241200" progId="Equation.3">
                  <p:embed/>
                  <p:pic>
                    <p:nvPicPr>
                      <p:cNvPr id="10" name="Object 9"/>
                      <p:cNvPicPr>
                        <a:picLocks noChangeAspect="1" noChangeArrowheads="1"/>
                      </p:cNvPicPr>
                      <p:nvPr/>
                    </p:nvPicPr>
                    <p:blipFill>
                      <a:blip r:embed="rId7"/>
                      <a:srcRect/>
                      <a:stretch>
                        <a:fillRect/>
                      </a:stretch>
                    </p:blipFill>
                    <p:spPr bwMode="auto">
                      <a:xfrm>
                        <a:off x="2010002" y="3531038"/>
                        <a:ext cx="490696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498954362"/>
              </p:ext>
            </p:extLst>
          </p:nvPr>
        </p:nvGraphicFramePr>
        <p:xfrm>
          <a:off x="9987951" y="4083488"/>
          <a:ext cx="1103313" cy="436563"/>
        </p:xfrm>
        <a:graphic>
          <a:graphicData uri="http://schemas.openxmlformats.org/presentationml/2006/ole">
            <mc:AlternateContent xmlns:mc="http://schemas.openxmlformats.org/markup-compatibility/2006">
              <mc:Choice xmlns:v="urn:schemas-microsoft-com:vml" Requires="v">
                <p:oleObj name="Equation" r:id="rId8" imgW="482400" imgH="190440" progId="Equation.3">
                  <p:embed/>
                </p:oleObj>
              </mc:Choice>
              <mc:Fallback>
                <p:oleObj name="Equation" r:id="rId8" imgW="482400" imgH="190440" progId="Equation.3">
                  <p:embed/>
                  <p:pic>
                    <p:nvPicPr>
                      <p:cNvPr id="11" name="Object 10"/>
                      <p:cNvPicPr>
                        <a:picLocks noChangeAspect="1" noChangeArrowheads="1"/>
                      </p:cNvPicPr>
                      <p:nvPr/>
                    </p:nvPicPr>
                    <p:blipFill>
                      <a:blip r:embed="rId9"/>
                      <a:srcRect/>
                      <a:stretch>
                        <a:fillRect/>
                      </a:stretch>
                    </p:blipFill>
                    <p:spPr bwMode="auto">
                      <a:xfrm>
                        <a:off x="9987951" y="4083488"/>
                        <a:ext cx="110331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2"/>
          <p:cNvGrpSpPr/>
          <p:nvPr/>
        </p:nvGrpSpPr>
        <p:grpSpPr>
          <a:xfrm>
            <a:off x="2055814" y="2335744"/>
            <a:ext cx="6762751" cy="552450"/>
            <a:chOff x="531813" y="1569584"/>
            <a:chExt cx="6762751" cy="552450"/>
          </a:xfrm>
        </p:grpSpPr>
        <p:graphicFrame>
          <p:nvGraphicFramePr>
            <p:cNvPr id="6" name="Object 5"/>
            <p:cNvGraphicFramePr>
              <a:graphicFrameLocks noChangeAspect="1"/>
            </p:cNvGraphicFramePr>
            <p:nvPr>
              <p:extLst>
                <p:ext uri="{D42A27DB-BD31-4B8C-83A1-F6EECF244321}">
                  <p14:modId xmlns:p14="http://schemas.microsoft.com/office/powerpoint/2010/main" val="951552471"/>
                </p:ext>
              </p:extLst>
            </p:nvPr>
          </p:nvGraphicFramePr>
          <p:xfrm>
            <a:off x="531813" y="1569584"/>
            <a:ext cx="3251200" cy="552450"/>
          </p:xfrm>
          <a:graphic>
            <a:graphicData uri="http://schemas.openxmlformats.org/presentationml/2006/ole">
              <mc:AlternateContent xmlns:mc="http://schemas.openxmlformats.org/markup-compatibility/2006">
                <mc:Choice xmlns:v="urn:schemas-microsoft-com:vml" Requires="v">
                  <p:oleObj name="Equation" r:id="rId10" imgW="1422360" imgH="241200" progId="Equation.3">
                    <p:embed/>
                  </p:oleObj>
                </mc:Choice>
                <mc:Fallback>
                  <p:oleObj name="Equation" r:id="rId10" imgW="1422360" imgH="241200" progId="Equation.3">
                    <p:embed/>
                    <p:pic>
                      <p:nvPicPr>
                        <p:cNvPr id="6"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1813" y="1569584"/>
                          <a:ext cx="3251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014788626"/>
                </p:ext>
              </p:extLst>
            </p:nvPr>
          </p:nvGraphicFramePr>
          <p:xfrm>
            <a:off x="4216401" y="1569584"/>
            <a:ext cx="3078163" cy="552450"/>
          </p:xfrm>
          <a:graphic>
            <a:graphicData uri="http://schemas.openxmlformats.org/presentationml/2006/ole">
              <mc:AlternateContent xmlns:mc="http://schemas.openxmlformats.org/markup-compatibility/2006">
                <mc:Choice xmlns:v="urn:schemas-microsoft-com:vml" Requires="v">
                  <p:oleObj name="Equation" r:id="rId12" imgW="1346040" imgH="241200" progId="Equation.3">
                    <p:embed/>
                  </p:oleObj>
                </mc:Choice>
                <mc:Fallback>
                  <p:oleObj name="Equation" r:id="rId12" imgW="1346040" imgH="241200" progId="Equation.3">
                    <p:embed/>
                    <p:pic>
                      <p:nvPicPr>
                        <p:cNvPr id="9" name="Object 8"/>
                        <p:cNvPicPr>
                          <a:picLocks noChangeAspect="1" noChangeArrowheads="1"/>
                        </p:cNvPicPr>
                        <p:nvPr/>
                      </p:nvPicPr>
                      <p:blipFill>
                        <a:blip r:embed="rId13"/>
                        <a:srcRect/>
                        <a:stretch>
                          <a:fillRect/>
                        </a:stretch>
                      </p:blipFill>
                      <p:spPr bwMode="auto">
                        <a:xfrm>
                          <a:off x="4216401" y="1569584"/>
                          <a:ext cx="307816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3754825" y="1616827"/>
              <a:ext cx="473206" cy="461665"/>
            </a:xfrm>
            <a:prstGeom prst="rect">
              <a:avLst/>
            </a:prstGeom>
          </p:spPr>
          <p:txBody>
            <a:bodyPr wrap="none">
              <a:spAutoFit/>
            </a:bodyPr>
            <a:lstStyle/>
            <a:p>
              <a:r>
                <a:rPr lang="en-US" sz="2400" b="0" dirty="0">
                  <a:solidFill>
                    <a:schemeClr val="tx1">
                      <a:lumMod val="85000"/>
                      <a:lumOff val="15000"/>
                    </a:schemeClr>
                  </a:solidFill>
                  <a:latin typeface="+mn-lt"/>
                </a:rPr>
                <a:t>so</a:t>
              </a:r>
            </a:p>
          </p:txBody>
        </p:sp>
      </p:grpSp>
    </p:spTree>
    <p:extLst>
      <p:ext uri="{BB962C8B-B14F-4D97-AF65-F5344CB8AC3E}">
        <p14:creationId xmlns:p14="http://schemas.microsoft.com/office/powerpoint/2010/main" val="1354108776"/>
      </p:ext>
    </p:extLst>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88952" cy="1645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430000" cy="548640"/>
          </a:xfrm>
          <a:prstGeom prst="rect">
            <a:avLst/>
          </a:prstGeom>
          <a:noFill/>
        </p:spPr>
        <p:txBody>
          <a:bodyPr wrap="square" lIns="0" rIns="0" tIns="0" bIns="0">
            <a:spAutoFit/>
          </a:bodyPr>
          <a:lstStyle/>
          <a:p>
            <a:pPr algn="l"/>
            <a:r>
              <a:rPr sz="3200" b="1">
                <a:solidFill>
                  <a:srgbClr val="1F3864"/>
                </a:solidFill>
                <a:latin typeface="Calibri"/>
              </a:rPr>
              <a:t>AI tips: Hypothesis testing, Chow tests, heteroskedasticity</a:t>
            </a:r>
          </a:p>
        </p:txBody>
      </p:sp>
      <p:sp>
        <p:nvSpPr>
          <p:cNvPr id="5" name="Rectangle 4"/>
          <p:cNvSpPr/>
          <p:nvPr/>
        </p:nvSpPr>
        <p:spPr>
          <a:xfrm>
            <a:off x="457200" y="960120"/>
            <a:ext cx="1371600"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11430000" cy="411480"/>
          </a:xfrm>
          <a:prstGeom prst="rect">
            <a:avLst/>
          </a:prstGeom>
          <a:noFill/>
        </p:spPr>
        <p:txBody>
          <a:bodyPr wrap="square" lIns="0" rIns="0" tIns="0" bIns="0">
            <a:spAutoFit/>
          </a:bodyPr>
          <a:lstStyle/>
          <a:p>
            <a:pPr algn="l"/>
            <a:r>
              <a:rPr sz="1600" b="0">
                <a:solidFill>
                  <a:srgbClr val="595959"/>
                </a:solidFill>
                <a:latin typeface="Calibri"/>
              </a:rPr>
              <a:t>Use AI to accelerate, not replace, your thinking.</a:t>
            </a:r>
          </a:p>
        </p:txBody>
      </p:sp>
      <p:sp>
        <p:nvSpPr>
          <p:cNvPr id="7" name="TextBox 6"/>
          <p:cNvSpPr txBox="1"/>
          <p:nvPr/>
        </p:nvSpPr>
        <p:spPr>
          <a:xfrm>
            <a:off x="457200" y="1737360"/>
            <a:ext cx="5486400" cy="457200"/>
          </a:xfrm>
          <a:prstGeom prst="rect">
            <a:avLst/>
          </a:prstGeom>
          <a:noFill/>
        </p:spPr>
        <p:txBody>
          <a:bodyPr wrap="square" lIns="0" rIns="0" tIns="0" bIns="0">
            <a:spAutoFit/>
          </a:bodyPr>
          <a:lstStyle/>
          <a:p>
            <a:pPr algn="l"/>
            <a:r>
              <a:rPr sz="1800" b="1">
                <a:solidFill>
                  <a:srgbClr val="1F3864"/>
                </a:solidFill>
                <a:latin typeface="Calibri"/>
              </a:rPr>
              <a:t>Good prompts</a:t>
            </a:r>
          </a:p>
        </p:txBody>
      </p:sp>
      <p:sp>
        <p:nvSpPr>
          <p:cNvPr id="8" name="TextBox 7"/>
          <p:cNvSpPr txBox="1"/>
          <p:nvPr/>
        </p:nvSpPr>
        <p:spPr>
          <a:xfrm>
            <a:off x="457200" y="2286000"/>
            <a:ext cx="5486400" cy="3657600"/>
          </a:xfrm>
          <a:prstGeom prst="rect">
            <a:avLst/>
          </a:prstGeom>
          <a:noFill/>
        </p:spPr>
        <p:txBody>
          <a:bodyPr wrap="square" lIns="0" rIns="0" tIns="0" bIns="0">
            <a:spAutoFit/>
          </a:bodyPr>
          <a:lstStyle/>
          <a:p>
            <a:pPr algn="l"/>
            <a:r>
              <a:rPr sz="1500" b="0">
                <a:solidFill>
                  <a:srgbClr val="262626"/>
                </a:solidFill>
                <a:latin typeface="Calibri"/>
              </a:rPr>
              <a:t>"Given this Wald test syntax [paste], explain what null hypothesis I'm actually testing."</a:t>
            </a:r>
          </a:p>
          <a:p>
            <a:pPr algn="l"/>
            <a:r>
              <a:rPr sz="1500" b="0">
                <a:solidFill>
                  <a:srgbClr val="262626"/>
                </a:solidFill>
                <a:latin typeface="Calibri"/>
              </a:rPr>
              <a:t>"My Breusch-Pagan p-value is 0.03 — what does that mean for my inference?"</a:t>
            </a:r>
          </a:p>
          <a:p>
            <a:pPr algn="l"/>
            <a:r>
              <a:rPr sz="1500" b="0">
                <a:solidFill>
                  <a:srgbClr val="262626"/>
                </a:solidFill>
                <a:latin typeface="Calibri"/>
              </a:rPr>
              <a:t>"Translate this business question into a Chow test setup."</a:t>
            </a:r>
          </a:p>
          <a:p>
            <a:pPr algn="l"/>
            <a:r>
              <a:rPr sz="1500" b="0">
                <a:solidFill>
                  <a:srgbClr val="262626"/>
                </a:solidFill>
                <a:latin typeface="Calibri"/>
              </a:rPr>
              <a:t>"What's the difference between HC0/HC1/HC2/HC3 standard errors?"</a:t>
            </a:r>
          </a:p>
        </p:txBody>
      </p:sp>
      <p:sp>
        <p:nvSpPr>
          <p:cNvPr id="9" name="TextBox 8"/>
          <p:cNvSpPr txBox="1"/>
          <p:nvPr/>
        </p:nvSpPr>
        <p:spPr>
          <a:xfrm>
            <a:off x="6263640" y="1737360"/>
            <a:ext cx="5760720" cy="457200"/>
          </a:xfrm>
          <a:prstGeom prst="rect">
            <a:avLst/>
          </a:prstGeom>
          <a:noFill/>
        </p:spPr>
        <p:txBody>
          <a:bodyPr wrap="square" lIns="0" rIns="0" tIns="0" bIns="0">
            <a:spAutoFit/>
          </a:bodyPr>
          <a:lstStyle/>
          <a:p>
            <a:pPr algn="l"/>
            <a:r>
              <a:rPr sz="1800" b="1">
                <a:solidFill>
                  <a:srgbClr val="C0392B"/>
                </a:solidFill>
                <a:latin typeface="Calibri"/>
              </a:rPr>
              <a:t>Less useful prompts</a:t>
            </a:r>
          </a:p>
        </p:txBody>
      </p:sp>
      <p:sp>
        <p:nvSpPr>
          <p:cNvPr id="10" name="TextBox 9"/>
          <p:cNvSpPr txBox="1"/>
          <p:nvPr/>
        </p:nvSpPr>
        <p:spPr>
          <a:xfrm>
            <a:off x="6263640" y="2286000"/>
            <a:ext cx="5760720" cy="3657600"/>
          </a:xfrm>
          <a:prstGeom prst="rect">
            <a:avLst/>
          </a:prstGeom>
          <a:noFill/>
        </p:spPr>
        <p:txBody>
          <a:bodyPr wrap="square" lIns="0" rIns="0" tIns="0" bIns="0">
            <a:spAutoFit/>
          </a:bodyPr>
          <a:lstStyle/>
          <a:p>
            <a:pPr algn="l"/>
            <a:r>
              <a:rPr sz="1500" b="0">
                <a:solidFill>
                  <a:srgbClr val="262626"/>
                </a:solidFill>
                <a:latin typeface="Calibri"/>
              </a:rPr>
              <a:t>"Tell me whether to reject the null."</a:t>
            </a:r>
          </a:p>
          <a:p>
            <a:pPr algn="l"/>
            <a:r>
              <a:rPr sz="1500" b="0">
                <a:solidFill>
                  <a:srgbClr val="262626"/>
                </a:solidFill>
                <a:latin typeface="Calibri"/>
              </a:rPr>
              <a:t>"What's the right p-value threshold?" (it's a judgment call)</a:t>
            </a:r>
          </a:p>
          <a:p>
            <a:pPr algn="l"/>
            <a:r>
              <a:rPr sz="1500" b="0">
                <a:solidFill>
                  <a:srgbClr val="262626"/>
                </a:solidFill>
                <a:latin typeface="Calibri"/>
              </a:rPr>
              <a:t>"Just fix my model."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88952" cy="1645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430000" cy="548640"/>
          </a:xfrm>
          <a:prstGeom prst="rect">
            <a:avLst/>
          </a:prstGeom>
          <a:noFill/>
        </p:spPr>
        <p:txBody>
          <a:bodyPr wrap="square" lIns="0" rIns="0" tIns="0" bIns="0">
            <a:spAutoFit/>
          </a:bodyPr>
          <a:lstStyle/>
          <a:p>
            <a:pPr algn="l"/>
            <a:r>
              <a:rPr sz="3200" b="1">
                <a:solidFill>
                  <a:srgbClr val="1F3864"/>
                </a:solidFill>
                <a:latin typeface="Calibri"/>
              </a:rPr>
              <a:t>Bringing it all together</a:t>
            </a:r>
          </a:p>
        </p:txBody>
      </p:sp>
      <p:sp>
        <p:nvSpPr>
          <p:cNvPr id="5" name="Rectangle 4"/>
          <p:cNvSpPr/>
          <p:nvPr/>
        </p:nvSpPr>
        <p:spPr>
          <a:xfrm>
            <a:off x="457200" y="960120"/>
            <a:ext cx="1371600"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11430000" cy="411480"/>
          </a:xfrm>
          <a:prstGeom prst="rect">
            <a:avLst/>
          </a:prstGeom>
          <a:noFill/>
        </p:spPr>
        <p:txBody>
          <a:bodyPr wrap="square" lIns="0" rIns="0" tIns="0" bIns="0">
            <a:spAutoFit/>
          </a:bodyPr>
          <a:lstStyle/>
          <a:p>
            <a:pPr algn="l"/>
            <a:r>
              <a:rPr sz="1600" b="0">
                <a:solidFill>
                  <a:srgbClr val="595959"/>
                </a:solidFill>
                <a:latin typeface="Calibri"/>
              </a:rPr>
              <a:t>A checklist for any regression project.</a:t>
            </a:r>
          </a:p>
        </p:txBody>
      </p:sp>
      <p:sp>
        <p:nvSpPr>
          <p:cNvPr id="7" name="TextBox 6"/>
          <p:cNvSpPr txBox="1"/>
          <p:nvPr/>
        </p:nvSpPr>
        <p:spPr>
          <a:xfrm>
            <a:off x="502920" y="178308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8" name="TextBox 7"/>
          <p:cNvSpPr txBox="1"/>
          <p:nvPr/>
        </p:nvSpPr>
        <p:spPr>
          <a:xfrm>
            <a:off x="914400" y="1783080"/>
            <a:ext cx="10972800" cy="365760"/>
          </a:xfrm>
          <a:prstGeom prst="rect">
            <a:avLst/>
          </a:prstGeom>
          <a:noFill/>
        </p:spPr>
        <p:txBody>
          <a:bodyPr wrap="square" lIns="0" rIns="0" tIns="0" bIns="0">
            <a:spAutoFit/>
          </a:bodyPr>
          <a:lstStyle/>
          <a:p>
            <a:pPr algn="l"/>
            <a:r>
              <a:rPr sz="1600" b="0">
                <a:solidFill>
                  <a:srgbClr val="262626"/>
                </a:solidFill>
                <a:latin typeface="Calibri"/>
              </a:rPr>
              <a:t>Did you frame the right business question?</a:t>
            </a:r>
          </a:p>
        </p:txBody>
      </p:sp>
      <p:sp>
        <p:nvSpPr>
          <p:cNvPr id="9" name="TextBox 8"/>
          <p:cNvSpPr txBox="1"/>
          <p:nvPr/>
        </p:nvSpPr>
        <p:spPr>
          <a:xfrm>
            <a:off x="502920" y="219456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10" name="TextBox 9"/>
          <p:cNvSpPr txBox="1"/>
          <p:nvPr/>
        </p:nvSpPr>
        <p:spPr>
          <a:xfrm>
            <a:off x="914400" y="2194560"/>
            <a:ext cx="10972800" cy="365760"/>
          </a:xfrm>
          <a:prstGeom prst="rect">
            <a:avLst/>
          </a:prstGeom>
          <a:noFill/>
        </p:spPr>
        <p:txBody>
          <a:bodyPr wrap="square" lIns="0" rIns="0" tIns="0" bIns="0">
            <a:spAutoFit/>
          </a:bodyPr>
          <a:lstStyle/>
          <a:p>
            <a:pPr algn="l"/>
            <a:r>
              <a:rPr sz="1600" b="0">
                <a:solidFill>
                  <a:srgbClr val="262626"/>
                </a:solidFill>
                <a:latin typeface="Calibri"/>
              </a:rPr>
              <a:t>Did you understand and clean the data before modelling?</a:t>
            </a:r>
          </a:p>
        </p:txBody>
      </p:sp>
      <p:sp>
        <p:nvSpPr>
          <p:cNvPr id="11" name="TextBox 10"/>
          <p:cNvSpPr txBox="1"/>
          <p:nvPr/>
        </p:nvSpPr>
        <p:spPr>
          <a:xfrm>
            <a:off x="502920" y="260604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12" name="TextBox 11"/>
          <p:cNvSpPr txBox="1"/>
          <p:nvPr/>
        </p:nvSpPr>
        <p:spPr>
          <a:xfrm>
            <a:off x="914400" y="2606040"/>
            <a:ext cx="10972800" cy="365760"/>
          </a:xfrm>
          <a:prstGeom prst="rect">
            <a:avLst/>
          </a:prstGeom>
          <a:noFill/>
        </p:spPr>
        <p:txBody>
          <a:bodyPr wrap="square" lIns="0" rIns="0" tIns="0" bIns="0">
            <a:spAutoFit/>
          </a:bodyPr>
          <a:lstStyle/>
          <a:p>
            <a:pPr algn="l"/>
            <a:r>
              <a:rPr sz="1600" b="0">
                <a:solidFill>
                  <a:srgbClr val="262626"/>
                </a:solidFill>
                <a:latin typeface="Calibri"/>
              </a:rPr>
              <a:t>Did you pick the right technique, and can you justify it?</a:t>
            </a:r>
          </a:p>
        </p:txBody>
      </p:sp>
      <p:sp>
        <p:nvSpPr>
          <p:cNvPr id="13" name="TextBox 12"/>
          <p:cNvSpPr txBox="1"/>
          <p:nvPr/>
        </p:nvSpPr>
        <p:spPr>
          <a:xfrm>
            <a:off x="502920" y="301752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14" name="TextBox 13"/>
          <p:cNvSpPr txBox="1"/>
          <p:nvPr/>
        </p:nvSpPr>
        <p:spPr>
          <a:xfrm>
            <a:off x="914400" y="3017520"/>
            <a:ext cx="10972800" cy="365760"/>
          </a:xfrm>
          <a:prstGeom prst="rect">
            <a:avLst/>
          </a:prstGeom>
          <a:noFill/>
        </p:spPr>
        <p:txBody>
          <a:bodyPr wrap="square" lIns="0" rIns="0" tIns="0" bIns="0">
            <a:spAutoFit/>
          </a:bodyPr>
          <a:lstStyle/>
          <a:p>
            <a:pPr algn="l"/>
            <a:r>
              <a:rPr sz="1600" b="0">
                <a:solidFill>
                  <a:srgbClr val="262626"/>
                </a:solidFill>
                <a:latin typeface="Calibri"/>
              </a:rPr>
              <a:t>Did you run all four diagnostic plots and act on them?</a:t>
            </a:r>
          </a:p>
        </p:txBody>
      </p:sp>
      <p:sp>
        <p:nvSpPr>
          <p:cNvPr id="15" name="TextBox 14"/>
          <p:cNvSpPr txBox="1"/>
          <p:nvPr/>
        </p:nvSpPr>
        <p:spPr>
          <a:xfrm>
            <a:off x="502920" y="342900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16" name="TextBox 15"/>
          <p:cNvSpPr txBox="1"/>
          <p:nvPr/>
        </p:nvSpPr>
        <p:spPr>
          <a:xfrm>
            <a:off x="914400" y="3429000"/>
            <a:ext cx="10972800" cy="365760"/>
          </a:xfrm>
          <a:prstGeom prst="rect">
            <a:avLst/>
          </a:prstGeom>
          <a:noFill/>
        </p:spPr>
        <p:txBody>
          <a:bodyPr wrap="square" lIns="0" rIns="0" tIns="0" bIns="0">
            <a:spAutoFit/>
          </a:bodyPr>
          <a:lstStyle/>
          <a:p>
            <a:pPr algn="l"/>
            <a:r>
              <a:rPr sz="1600" b="0">
                <a:solidFill>
                  <a:srgbClr val="262626"/>
                </a:solidFill>
                <a:latin typeface="Calibri"/>
              </a:rPr>
              <a:t>Did you check for heteroskedasticity and apply HC3 if needed?</a:t>
            </a:r>
          </a:p>
        </p:txBody>
      </p:sp>
      <p:sp>
        <p:nvSpPr>
          <p:cNvPr id="17" name="TextBox 16"/>
          <p:cNvSpPr txBox="1"/>
          <p:nvPr/>
        </p:nvSpPr>
        <p:spPr>
          <a:xfrm>
            <a:off x="502920" y="384048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18" name="TextBox 17"/>
          <p:cNvSpPr txBox="1"/>
          <p:nvPr/>
        </p:nvSpPr>
        <p:spPr>
          <a:xfrm>
            <a:off x="914400" y="3840480"/>
            <a:ext cx="10972800" cy="365760"/>
          </a:xfrm>
          <a:prstGeom prst="rect">
            <a:avLst/>
          </a:prstGeom>
          <a:noFill/>
        </p:spPr>
        <p:txBody>
          <a:bodyPr wrap="square" lIns="0" rIns="0" tIns="0" bIns="0">
            <a:spAutoFit/>
          </a:bodyPr>
          <a:lstStyle/>
          <a:p>
            <a:pPr algn="l"/>
            <a:r>
              <a:rPr sz="1600" b="0">
                <a:solidFill>
                  <a:srgbClr val="262626"/>
                </a:solidFill>
                <a:latin typeface="Calibri"/>
              </a:rPr>
              <a:t>Did you test for structural breaks if your data has time or subgroups?</a:t>
            </a:r>
          </a:p>
        </p:txBody>
      </p:sp>
      <p:sp>
        <p:nvSpPr>
          <p:cNvPr id="19" name="TextBox 18"/>
          <p:cNvSpPr txBox="1"/>
          <p:nvPr/>
        </p:nvSpPr>
        <p:spPr>
          <a:xfrm>
            <a:off x="502920" y="425196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20" name="TextBox 19"/>
          <p:cNvSpPr txBox="1"/>
          <p:nvPr/>
        </p:nvSpPr>
        <p:spPr>
          <a:xfrm>
            <a:off x="914400" y="4251960"/>
            <a:ext cx="10972800" cy="365760"/>
          </a:xfrm>
          <a:prstGeom prst="rect">
            <a:avLst/>
          </a:prstGeom>
          <a:noFill/>
        </p:spPr>
        <p:txBody>
          <a:bodyPr wrap="square" lIns="0" rIns="0" tIns="0" bIns="0">
            <a:spAutoFit/>
          </a:bodyPr>
          <a:lstStyle/>
          <a:p>
            <a:pPr algn="l"/>
            <a:r>
              <a:rPr sz="1600" b="0">
                <a:solidFill>
                  <a:srgbClr val="262626"/>
                </a:solidFill>
                <a:latin typeface="Calibri"/>
              </a:rPr>
              <a:t>Did you split train/test (or document why you didn't)?</a:t>
            </a:r>
          </a:p>
        </p:txBody>
      </p:sp>
      <p:sp>
        <p:nvSpPr>
          <p:cNvPr id="21" name="TextBox 20"/>
          <p:cNvSpPr txBox="1"/>
          <p:nvPr/>
        </p:nvSpPr>
        <p:spPr>
          <a:xfrm>
            <a:off x="502920" y="4663440"/>
            <a:ext cx="365760" cy="365760"/>
          </a:xfrm>
          <a:prstGeom prst="rect">
            <a:avLst/>
          </a:prstGeom>
          <a:noFill/>
        </p:spPr>
        <p:txBody>
          <a:bodyPr wrap="square" lIns="0" rIns="0" tIns="0" bIns="0">
            <a:spAutoFit/>
          </a:bodyPr>
          <a:lstStyle/>
          <a:p>
            <a:pPr algn="l"/>
            <a:r>
              <a:rPr sz="1800" b="1">
                <a:solidFill>
                  <a:srgbClr val="2E75B6"/>
                </a:solidFill>
                <a:latin typeface="Calibri"/>
              </a:rPr>
              <a:t>✓</a:t>
            </a:r>
          </a:p>
        </p:txBody>
      </p:sp>
      <p:sp>
        <p:nvSpPr>
          <p:cNvPr id="22" name="TextBox 21"/>
          <p:cNvSpPr txBox="1"/>
          <p:nvPr/>
        </p:nvSpPr>
        <p:spPr>
          <a:xfrm>
            <a:off x="914400" y="4663440"/>
            <a:ext cx="10972800" cy="365760"/>
          </a:xfrm>
          <a:prstGeom prst="rect">
            <a:avLst/>
          </a:prstGeom>
          <a:noFill/>
        </p:spPr>
        <p:txBody>
          <a:bodyPr wrap="square" lIns="0" rIns="0" tIns="0" bIns="0">
            <a:spAutoFit/>
          </a:bodyPr>
          <a:lstStyle/>
          <a:p>
            <a:pPr algn="l"/>
            <a:r>
              <a:rPr sz="1600" b="0">
                <a:solidFill>
                  <a:srgbClr val="262626"/>
                </a:solidFill>
                <a:latin typeface="Calibri"/>
              </a:rPr>
              <a:t>Did you communicate the result in business terms, not just statistics?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09.5153"/>
  <p:tag name="ORIGINALWIDTH" val="1078.651"/>
  <p:tag name="LATEXADDIN" val="\documentclass{article}&#10;\usepackage{amsmath}&#10;\pagestyle{empty}&#10;\begin{document}&#10;&#10;&#10;$ \mu_{\bar{x}} = \mu_{X} = \mu_{H0} = 0 $&#10;&#10;\end{document}"/>
  <p:tag name="IGUANATEXSIZE" val="30"/>
  <p:tag name="IGUANATEXCURSOR" val="122"/>
  <p:tag name="TRANSPARENCY" val="True"/>
  <p:tag name="FILENAME" val=""/>
  <p:tag name="LATEXENGINEID" val="1"/>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1995.278"/>
  <p:tag name="LATEXADDIN" val="\documentclass{article}&#10;\usepackage{amsmath}&#10;\pagestyle{empty}&#10;\begin{document}&#10;&#10;$ \textrm{Assumption } H_0: \mu_x = 0 ; H_1: \mu_x \neq 0 $&#10;&#10;&#10;\end{document}"/>
  <p:tag name="IGUANATEXSIZE" val="32"/>
  <p:tag name="IGUANATEXCURSOR" val="138"/>
  <p:tag name="TRANSPARENCY" val="True"/>
  <p:tag name="FILENAME" val=""/>
  <p:tag name="LATEXENGINEID" val="1"/>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78.76102"/>
  <p:tag name="ORIGINALWIDTH" val="594.0829"/>
  <p:tag name="LATEXADDIN" val="\documentclass{article}&#10;\usepackage{amsmath}&#10;\pagestyle{empty}&#10;\begin{document}&#10;&#10;$x_1, x_2, ... x_n$&#10;&#10;&#10;\end{document}"/>
  <p:tag name="IGUANATEXSIZE" val="20"/>
  <p:tag name="IGUANATEXCURSOR" val="100"/>
  <p:tag name="TRANSPARENCY" val="True"/>
  <p:tag name="FILENAME" val=""/>
  <p:tag name="LATEXENGINEID" val="1"/>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315.0439"/>
  <p:tag name="ORIGINALWIDTH" val="793.6108"/>
  <p:tag name="LATEXADDIN" val="\documentclass{article}&#10;\usepackage{amsmath}&#10;\pagestyle{empty}&#10;\begin{document}&#10;&#10;&#10;$$ \bar{x} = \frac{1}{n} \sum_{i=1...n} x_i $$&#10;&#10;\end{document}"/>
  <p:tag name="IGUANATEXSIZE" val="20"/>
  <p:tag name="IGUANATEXCURSOR" val="128"/>
  <p:tag name="TRANSPARENCY" val="True"/>
  <p:tag name="FILENAME" val=""/>
  <p:tag name="LATEXENGINEID" val="1"/>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735.8527"/>
  <p:tag name="LATEXADDIN" val="\documentclass{article}&#10;\usepackage{amsmath}&#10;\pagestyle{empty}&#10;\begin{document}&#10;&#10;&#10;$ \mu_x = \mu_{H_0} = 0 $&#10;&#10;\end{document}"/>
  <p:tag name="IGUANATEXSIZE" val="20"/>
  <p:tag name="IGUANATEXCURSOR" val="93"/>
  <p:tag name="TRANSPARENCY" val="True"/>
  <p:tag name="FILENAME" val=""/>
  <p:tag name="LATEXENGINEID" val="1"/>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60.5224"/>
  <p:tag name="ORIGINALWIDTH" val="1647.23"/>
  <p:tag name="LATEXADDIN" val="\documentclass{article}&#10;\usepackage{amsmath}&#10;\pagestyle{empty}&#10;\begin{document}&#10;&#10;&#10;$ \bar{x}_{n\geq30} \sim N(\mu_{\bar{x}} = \mu_x, \sigma_{\bar{x}} = \frac{\sigma_x}{\sqrt{n}}) $&#10;&#10;\end{document}"/>
  <p:tag name="IGUANATEXSIZE" val="20"/>
  <p:tag name="IGUANATEXCURSOR" val="122"/>
  <p:tag name="TRANSPARENCY" val="True"/>
  <p:tag name="FILENAME" val=""/>
  <p:tag name="LATEXENGINEID" val="1"/>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75.01048"/>
  <p:tag name="ORIGINALWIDTH" val="62.25866"/>
  <p:tag name="LATEXADDIN" val="\documentclass{article}&#10;\usepackage{amsmath}&#10;\pagestyle{empty}&#10;\begin{document}&#10;&#10;$\bar{x} $&#10;&#10;&#10;\end{document}"/>
  <p:tag name="IGUANATEXSIZE" val="30"/>
  <p:tag name="IGUANATEXCURSOR" val="91"/>
  <p:tag name="TRANSPARENCY" val="True"/>
  <p:tag name="FILENAME" val=""/>
  <p:tag name="LATEXENGINEID" val="1"/>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75.01048"/>
  <p:tag name="ORIGINALWIDTH" val="62.25866"/>
  <p:tag name="LATEXADDIN" val="\documentclass{article}&#10;\usepackage{amsmath}&#10;\pagestyle{empty}&#10;\begin{document}&#10;&#10;$\bar{x} $&#10;&#10;&#10;\end{document}"/>
  <p:tag name="IGUANATEXSIZE" val="30"/>
  <p:tag name="IGUANATEXCURSOR" val="91"/>
  <p:tag name="TRANSPARENCY" val="True"/>
  <p:tag name="FILENAME" val=""/>
  <p:tag name="LATEXENGINEID" val="1"/>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92.0268"/>
  <p:tag name="ORIGINALWIDTH" val="572.3298"/>
  <p:tag name="LATEXADDIN" val="\documentclass{article}&#10;\usepackage{amsmath}&#10;\pagestyle{empty}&#10;\begin{document}&#10;&#10;$ t \equiv \frac{z}{{(y/m)}^{\frac{1}{2}}} $&#10;&#10;&#10;\end{document}"/>
  <p:tag name="IGUANATEXSIZE" val="20"/>
  <p:tag name="IGUANATEXCURSOR" val="123"/>
  <p:tag name="TRANSPARENCY" val="True"/>
  <p:tag name="FILENAME" val=""/>
  <p:tag name="LATEXENGINEID" val="1"/>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34.2687"/>
  <p:tag name="ORIGINALWIDTH" val="1459.704"/>
  <p:tag name="LATEXADDIN" val="\documentclass{article}&#10;\usepackage{amsmath}&#10;\pagestyle{empty}&#10;\begin{document}&#10;&#10;$ y \sim \chi^2(m) \textrm{ and } z \sim N(0,1) $&#10;&#10;&#10;\end{document}"/>
  <p:tag name="IGUANATEXSIZE" val="20"/>
  <p:tag name="IGUANATEXCURSOR" val="130"/>
  <p:tag name="TRANSPARENCY" val="True"/>
  <p:tag name="FILENAME" val=""/>
  <p:tag name="LATEXENGINEID" val="1"/>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81.5254"/>
  <p:tag name="ORIGINALWIDTH" val="1761.996"/>
  <p:tag name="LATEXADDIN" val="\documentclass{article}&#10;\usepackage{amsmath}&#10;\pagestyle{empty}&#10;\begin{document}&#10;&#10;&#10;$ t = \frac{x-\mu_{H_0}}{s_{\bar{x}}} = \frac{x-\mu_{H_0}}{s_x / \sqrt{n-1}} \sim t(n-1) $&#10;&#10;\end{document}"/>
  <p:tag name="IGUANATEXSIZE" val="20"/>
  <p:tag name="IGUANATEXCURSOR" val="158"/>
  <p:tag name="TRANSPARENCY" val="True"/>
  <p:tag name="FILENAME" val=""/>
  <p:tag name="LATEXENGINEID" val="1"/>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90.5266"/>
  <p:tag name="ORIGINALWIDTH" val="1309.683"/>
  <p:tag name="LATEXADDIN" val="\documentclass{article}&#10;\usepackage{amsmath}&#10;\pagestyle{empty}&#10;\begin{document}&#10;&#10;&#10;$F \equiv \frac{y_1 / m_1}{y_2 / m_2} \sim F(m_1,m_2) $&#10;&#10;\end{document}"/>
  <p:tag name="IGUANATEXSIZE" val="20"/>
  <p:tag name="IGUANATEXCURSOR" val="137"/>
  <p:tag name="TRANSPARENCY" val="True"/>
  <p:tag name="FILENAME" val=""/>
  <p:tag name="LATEXENGINEID" val="1"/>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34.2687"/>
  <p:tag name="ORIGINALWIDTH" val="1398.195"/>
  <p:tag name="LATEXADDIN" val="\documentclass{article}&#10;\usepackage{amsmath}&#10;\pagestyle{empty}&#10;\begin{document}&#10;&#10;&#10;$y_1 \sim \chi^2(m_1); y_2 \sim \chi^2(m_2) $&#10;&#10;\end{document}"/>
  <p:tag name="IGUANATEXSIZE" val="20"/>
  <p:tag name="IGUANATEXCURSOR" val="127"/>
  <p:tag name="TRANSPARENCY" val="True"/>
  <p:tag name="FILENAME" val=""/>
  <p:tag name="LATEXENGINEID" val="1"/>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266.2872"/>
  <p:tag name="ORIGINALWIDTH" val="668.3433"/>
  <p:tag name="LATEXADDIN" val="\documentclass{article}&#10;\usepackage{amsmath}&#10;\pagestyle{empty}&#10;\begin{document}&#10;&#10;&#10;$$ y = \sum_{i=1...n} z_i^2 $$&#10;&#10;\end{document}"/>
  <p:tag name="IGUANATEXSIZE" val="20"/>
  <p:tag name="IGUANATEXCURSOR" val="112"/>
  <p:tag name="TRANSPARENCY" val="True"/>
  <p:tag name="FILENAME" val=""/>
  <p:tag name="LATEXENGINEID" val="1"/>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34.2687"/>
  <p:tag name="ORIGINALWIDTH" val="1332.936"/>
  <p:tag name="LATEXADDIN" val="\documentclass{article}&#10;\usepackage{amsmath}&#10;\pagestyle{empty}&#10;\begin{document}&#10;&#10;&#10;$y \sim \chi^2(n) \textrm{ if } z_i \sim N(0,1) $&#10;&#10;\end{document}"/>
  <p:tag name="IGUANATEXSIZE" val="20"/>
  <p:tag name="IGUANATEXCURSOR" val="112"/>
  <p:tag name="TRANSPARENCY" val="True"/>
  <p:tag name="FILENAME" val=""/>
  <p:tag name="LATEXENGINEID" val="1"/>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50.021"/>
  <p:tag name="ORIGINALWIDTH" val="851.3688"/>
  <p:tag name="LATEXADDIN" val="\documentclass{article}&#10;\usepackage{amsmath}&#10;\pagestyle{empty}&#10;\begin{document}&#10;&#10;$ z_i = \frac{e_i - \mu_e}{\sigma_e} = \frac{e}{\sigma_e} $&#10;&#10;&#10;\end{document}"/>
  <p:tag name="IGUANATEXSIZE" val="20"/>
  <p:tag name="IGUANATEXCURSOR" val="136"/>
  <p:tag name="TRANSPARENCY" val="True"/>
  <p:tag name="FILENAME" val=""/>
  <p:tag name="LATEXENGINEID" val="1"/>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34.2687"/>
  <p:tag name="ORIGINALWIDTH" val="666.8431"/>
  <p:tag name="LATEXADDIN" val="\documentclass{article}&#10;\usepackage{amsmath}&#10;\pagestyle{empty}&#10;\begin{document}&#10;&#10;&#10;$ e \sim N(0,\sigma^2) $&#10;&#10;\end{document}"/>
  <p:tag name="IGUANATEXSIZE" val="20"/>
  <p:tag name="IGUANATEXCURSOR" val="106"/>
  <p:tag name="TRANSPARENCY" val="True"/>
  <p:tag name="FILENAME" val=""/>
  <p:tag name="LATEXENGINEID" val="1"/>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35.0188"/>
  <p:tag name="ORIGINALWIDTH" val="659.342"/>
  <p:tag name="LATEXADDIN" val="\documentclass{article}&#10;\usepackage{amsmath}&#10;\pagestyle{empty}&#10;\begin{document}&#10;&#10;$ z^Tz \sim \chi^2(n) $&#10;&#10;&#10;\end{document}"/>
  <p:tag name="IGUANATEXSIZE" val="24"/>
  <p:tag name="IGUANATEXCURSOR" val="104"/>
  <p:tag name="TRANSPARENCY" val="True"/>
  <p:tag name="FILENAME" val=""/>
  <p:tag name="LATEXENGINEID" val="1"/>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13.2658"/>
  <p:tag name="ORIGINALWIDTH" val="1627.727"/>
  <p:tag name="LATEXADDIN" val="\documentclass{article}&#10;\usepackage{amsmath}&#10;\pagestyle{empty}&#10;\begin{document}&#10;&#10;&#10;$ y = \beta_0 + \beta_1x_1 + ... + \beta_6x_6 + e $&#10;&#10;\end{document}"/>
  <p:tag name="IGUANATEXSIZE" val="20"/>
  <p:tag name="IGUANATEXCURSOR" val="133"/>
  <p:tag name="TRANSPARENCY" val="True"/>
  <p:tag name="FILENAME" val=""/>
  <p:tag name="LATEXENGINEID" val="1"/>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11.7656"/>
  <p:tag name="ORIGINALWIDTH" val="1192.667"/>
  <p:tag name="LATEXADDIN" val="\documentclass{article}&#10;\usepackage{amsmath}&#10;\pagestyle{empty}&#10;\begin{document}&#10;&#10;$ H_0: \beta_4 = \beta_5 = \beta_6 = 0 $&#10;&#10;&#10;\end{document}"/>
  <p:tag name="IGUANATEXSIZE" val="32"/>
  <p:tag name="IGUANATEXCURSOR" val="121"/>
  <p:tag name="TRANSPARENCY" val="True"/>
  <p:tag name="FILENAME" val=""/>
  <p:tag name="LATEXENGINEID" val="1"/>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1933.02"/>
  <p:tag name="LATEXADDIN" val="\documentclass{article}&#10;\usepackage{amsmath}&#10;\pagestyle{empty}&#10;\begin{document}&#10;&#10;$ H_1: \textrm{At least one of } \beta_4, \beta_5, or \beta_6 \neq 0 $&#10;&#10;&#10;\end{document}"/>
  <p:tag name="IGUANATEXSIZE" val="32"/>
  <p:tag name="IGUANATEXCURSOR" val="134"/>
  <p:tag name="TRANSPARENCY" val="True"/>
  <p:tag name="FILENAME" val=""/>
  <p:tag name="LATEXENGINEID" val="1"/>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774.8581"/>
  <p:tag name="LATEXADDIN" val="\documentclass{article}&#10;\usepackage{amsmath}&#10;\pagestyle{empty}&#10;\begin{document}&#10;&#10;&#10;$\beta_4, \beta_5 or \beta_6 \neq 0 $&#10;&#10;\end{document}"/>
  <p:tag name="IGUANATEXSIZE" val="20"/>
  <p:tag name="IGUANATEXCURSOR" val="119"/>
  <p:tag name="TRANSPARENCY" val="True"/>
  <p:tag name="FILENAME" val=""/>
  <p:tag name="LATEXENGINEID" val="1"/>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13.2658"/>
  <p:tag name="ORIGINALWIDTH" val="2185.805"/>
  <p:tag name="LATEXADDIN" val="\documentclass{article}&#10;\usepackage{amsmath}&#10;\pagestyle{empty}&#10;\begin{document}&#10;&#10;&#10;$y = \beta_0 + \beta_1x_1 + ... + \beta_6x_6 + e \rightarrow USSR $&#10;&#10;\end{document}"/>
  <p:tag name="IGUANATEXSIZE" val="30"/>
  <p:tag name="IGUANATEXCURSOR" val="149"/>
  <p:tag name="TRANSPARENCY" val="True"/>
  <p:tag name="FILENAME" val=""/>
  <p:tag name="LATEXENGINEID" val="1"/>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13.2658"/>
  <p:tag name="ORIGINALWIDTH" val="2332.075"/>
  <p:tag name="LATEXADDIN" val="\documentclass{article}&#10;\usepackage{amsmath}&#10;\pagestyle{empty}&#10;\begin{document}&#10;&#10;&#10;$y = \beta_0 + \beta_1x_1 + \beta_2x_2 + \beta_3x_3 + e \rightarrow RSSR $&#10;&#10;\end{document}"/>
  <p:tag name="IGUANATEXSIZE" val="30"/>
  <p:tag name="IGUANATEXCURSOR" val="151"/>
  <p:tag name="TRANSPARENCY" val="True"/>
  <p:tag name="FILENAME" val=""/>
  <p:tag name="LATEXENGINEID" val="1"/>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90.5266"/>
  <p:tag name="ORIGINALWIDTH" val="1863.26"/>
  <p:tag name="LATEXADDIN" val="\documentclass{article}&#10;\usepackage{amsmath}&#10;\pagestyle{empty}&#10;\begin{document}&#10;&#10;&#10;$ F \equiv \frac{(RSSR - USSR)/r}{USSR/(n-k)} \sim F(r,n-k) $&#10;&#10;\end{document}"/>
  <p:tag name="IGUANATEXSIZE" val="30"/>
  <p:tag name="IGUANATEXCURSOR" val="143"/>
  <p:tag name="TRANSPARENCY" val="True"/>
  <p:tag name="FILENAME" val=""/>
  <p:tag name="LATEXENGINEID" val="1"/>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11.7656"/>
  <p:tag name="ORIGINALWIDTH" val="1082.401"/>
  <p:tag name="LATEXADDIN" val="\documentclass{article}&#10;\usepackage{amsmath}&#10;\pagestyle{empty}&#10;\begin{document}&#10;&#10;$ H_0: \beta_4 = \beta_5;  \beta_1 = 0 $&#10;&#10;&#10;\end{document}"/>
  <p:tag name="IGUANATEXSIZE" val="32"/>
  <p:tag name="IGUANATEXCURSOR" val="99"/>
  <p:tag name="TRANSPARENCY" val="True"/>
  <p:tag name="FILENAME" val=""/>
  <p:tag name="LATEXENGINEID" val="1"/>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05.0146"/>
  <p:tag name="ORIGINALWIDTH" val="627.8376"/>
  <p:tag name="LATEXADDIN" val="\documentclass{article}&#10;\usepackage{amsmath}&#10;\pagestyle{empty}&#10;\begin{document}&#10;&#10;$ H_1: \textrm{not } H_0 $&#10;&#10;&#10;\end{document}"/>
  <p:tag name="IGUANATEXSIZE" val="32"/>
  <p:tag name="IGUANATEXCURSOR" val="102"/>
  <p:tag name="TRANSPARENCY" val="True"/>
  <p:tag name="FILENAME" val=""/>
  <p:tag name="LATEXENGINEID" val="1"/>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11.7656"/>
  <p:tag name="ORIGINALWIDTH" val="1082.401"/>
  <p:tag name="LATEXADDIN" val="\documentclass{article}&#10;\usepackage{amsmath}&#10;\pagestyle{empty}&#10;\begin{document}&#10;&#10;$ H_0: \beta_4 \leq \beta_5;  \beta_1 = 0 $&#10;&#10;&#10;\end{document}"/>
  <p:tag name="IGUANATEXSIZE" val="32"/>
  <p:tag name="IGUANATEXCURSOR" val="100"/>
  <p:tag name="TRANSPARENCY" val="True"/>
  <p:tag name="FILENAME" val=""/>
  <p:tag name="LATEXENGINEID" val="1"/>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05.0146"/>
  <p:tag name="ORIGINALWIDTH" val="627.8376"/>
  <p:tag name="LATEXADDIN" val="\documentclass{article}&#10;\usepackage{amsmath}&#10;\pagestyle{empty}&#10;\begin{document}&#10;&#10;$ H_1: \textrm{not } H_0 $&#10;&#10;&#10;\end{document}"/>
  <p:tag name="IGUANATEXSIZE" val="32"/>
  <p:tag name="IGUANATEXCURSOR" val="102"/>
  <p:tag name="TRANSPARENCY" val="True"/>
  <p:tag name="FILENAME" val=""/>
  <p:tag name="LATEXENGINEID" val="1"/>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51.5212"/>
  <p:tag name="ORIGINALWIDTH" val="678.0947"/>
  <p:tag name="LATEXADDIN" val="\documentclass{article}&#10;\usepackage{amsmath}&#10;\pagestyle{empty}&#10;\begin{document}&#10;&#10;$ H_0: \sigma_x^2 = \sigma_y^2 $&#10;&#10;&#10;\end{document}"/>
  <p:tag name="IGUANATEXSIZE" val="32"/>
  <p:tag name="IGUANATEXCURSOR" val="111"/>
  <p:tag name="TRANSPARENCY" val="True"/>
  <p:tag name="FILENAME" val=""/>
  <p:tag name="LATEXENGINEID" val="1"/>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51.5212"/>
  <p:tag name="ORIGINALWIDTH" val="678.0947"/>
  <p:tag name="LATEXADDIN" val="\documentclass{article}&#10;\usepackage{amsmath}&#10;\pagestyle{empty}&#10;\begin{document}&#10;&#10;$ H_1: \sigma_x^2 \neq \sigma_y^2 $&#10;&#10;&#10;\end{document}"/>
  <p:tag name="IGUANATEXSIZE" val="32"/>
  <p:tag name="IGUANATEXCURSOR" val="103"/>
  <p:tag name="TRANSPARENCY" val="True"/>
  <p:tag name="FILENAME" val=""/>
  <p:tag name="LATEXENGINEID" val="1"/>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223.5312"/>
  <p:tag name="ORIGINALWIDTH" val="1509.211"/>
  <p:tag name="LATEXADDIN" val="\documentclass{article}&#10;\usepackage{amsmath}&#10;\pagestyle{empty}&#10;\begin{document}&#10;&#10;&#10;$F = \frac{S_x^2}{S_y^2} \sim F(n_x-1,n_y-1) $&#10;&#10;\end{document}"/>
  <p:tag name="IGUANATEXSIZE" val="30"/>
  <p:tag name="IGUANATEXCURSOR" val="128"/>
  <p:tag name="TRANSPARENCY" val="True"/>
  <p:tag name="FILENAME" val=""/>
  <p:tag name="LATEXENGINEID" val="1"/>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2296.821"/>
  <p:tag name="LATEXADDIN" val="\documentclass{article}&#10;\usepackage{amsmath}&#10;\pagestyle{empty}&#10;\begin{document}&#10;&#10;&#10;$ Sales = \beta_0 + \beta_1Ad_B + Male(\beta_3 + \beta_4Ad_B) $&#10;&#10;\end{document}"/>
  <p:tag name="IGUANATEXSIZE" val="20"/>
  <p:tag name="IGUANATEXCURSOR" val="145"/>
  <p:tag name="TRANSPARENCY" val="True"/>
  <p:tag name="FILENAME" val=""/>
  <p:tag name="LATEXENGINEID" val="1"/>
  <p:tag name="TEMPFOLDER" val="c:\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11.7656"/>
  <p:tag name="ORIGINALWIDTH" val="1140.909"/>
  <p:tag name="LATEXADDIN" val="\documentclass{article}&#10;\usepackage{amsmath}&#10;\pagestyle{empty}&#10;\begin{document}&#10;&#10;$H_0: \beta_0 = \beta_3; \beta_1=\beta_4 $&#10;&#10;&#10;\end{document}"/>
  <p:tag name="IGUANATEXSIZE" val="20"/>
  <p:tag name="IGUANATEXCURSOR" val="123"/>
  <p:tag name="TRANSPARENCY" val="True"/>
  <p:tag name="FILENAME" val=""/>
  <p:tag name="LATEXENGINEID" val="1"/>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05.0146"/>
  <p:tag name="ORIGINALWIDTH" val="627.8376"/>
  <p:tag name="LATEXADDIN" val="\documentclass{article}&#10;\usepackage{amsmath}&#10;\pagestyle{empty}&#10;\begin{document}&#10;&#10;$ H_1: \textrm{not } H_0 $&#10;&#10;&#10;\end{document}"/>
  <p:tag name="IGUANATEXSIZE" val="20"/>
  <p:tag name="IGUANATEXCURSOR" val="107"/>
  <p:tag name="TRANSPARENCY" val="True"/>
  <p:tag name="FILENAME" val=""/>
  <p:tag name="LATEXENGINEID" val="1"/>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223.5312"/>
  <p:tag name="ORIGINALWIDTH" val="2059.787"/>
  <p:tag name="LATEXADDIN" val="\documentclass{article}&#10;\usepackage{amsmath}&#10;\pagestyle{empty}&#10;\begin{document}&#10;&#10;&#10;$ LR = 2(l(\hat{\theta})-l\tilde{\theta})) = 2Ln\frac{L(\hat{\theta})}{L(\tilde{\theta})} \sim \chi^2 (r) $&#10;&#10;\end{document}"/>
  <p:tag name="IGUANATEXSIZE" val="32"/>
  <p:tag name="IGUANATEXCURSOR" val="144"/>
  <p:tag name="TRANSPARENCY" val="True"/>
  <p:tag name="FILENAME" val=""/>
  <p:tag name="LATEXENGINEID" val="1"/>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1_Smith Theme White">
  <a:themeElements>
    <a:clrScheme name="SmithColours">
      <a:dk1>
        <a:srgbClr val="061D48"/>
      </a:dk1>
      <a:lt1>
        <a:srgbClr val="FFFFFF"/>
      </a:lt1>
      <a:dk2>
        <a:srgbClr val="0047BB"/>
      </a:dk2>
      <a:lt2>
        <a:srgbClr val="E7E6E6"/>
      </a:lt2>
      <a:accent1>
        <a:srgbClr val="097EB1"/>
      </a:accent1>
      <a:accent2>
        <a:srgbClr val="0399DE"/>
      </a:accent2>
      <a:accent3>
        <a:srgbClr val="00B39D"/>
      </a:accent3>
      <a:accent4>
        <a:srgbClr val="7CCCBF"/>
      </a:accent4>
      <a:accent5>
        <a:srgbClr val="C8205D"/>
      </a:accent5>
      <a:accent6>
        <a:srgbClr val="F04E5E"/>
      </a:accent6>
      <a:hlink>
        <a:srgbClr val="0399DE"/>
      </a:hlink>
      <a:folHlink>
        <a:srgbClr val="028AC8"/>
      </a:folHlink>
    </a:clrScheme>
    <a:fontScheme name="Test">
      <a:majorFont>
        <a:latin typeface="Lato Black"/>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ith-PPT-Template-2020" id="{345A85C9-168D-2E4D-8CD0-347546631F72}" vid="{3826B517-9EC1-514D-8AE6-FF11C3180FD4}"/>
    </a:ext>
  </a:extLst>
</a:theme>
</file>

<file path=ppt/theme/theme2.xml><?xml version="1.0" encoding="utf-8"?>
<a:theme xmlns:a="http://schemas.openxmlformats.org/drawingml/2006/main" name="Smith Theme White">
  <a:themeElements>
    <a:clrScheme name="SmithColours">
      <a:dk1>
        <a:srgbClr val="061D48"/>
      </a:dk1>
      <a:lt1>
        <a:srgbClr val="FFFFFF"/>
      </a:lt1>
      <a:dk2>
        <a:srgbClr val="0047BB"/>
      </a:dk2>
      <a:lt2>
        <a:srgbClr val="E7E6E6"/>
      </a:lt2>
      <a:accent1>
        <a:srgbClr val="097EB1"/>
      </a:accent1>
      <a:accent2>
        <a:srgbClr val="0399DE"/>
      </a:accent2>
      <a:accent3>
        <a:srgbClr val="00B39D"/>
      </a:accent3>
      <a:accent4>
        <a:srgbClr val="7CCCBF"/>
      </a:accent4>
      <a:accent5>
        <a:srgbClr val="C8205D"/>
      </a:accent5>
      <a:accent6>
        <a:srgbClr val="F04E5E"/>
      </a:accent6>
      <a:hlink>
        <a:srgbClr val="0399DE"/>
      </a:hlink>
      <a:folHlink>
        <a:srgbClr val="028AC8"/>
      </a:folHlink>
    </a:clrScheme>
    <a:fontScheme name="Test">
      <a:majorFont>
        <a:latin typeface="Lato Black"/>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ith-PPT-Template-2020" id="{345A85C9-168D-2E4D-8CD0-347546631F72}" vid="{3826B517-9EC1-514D-8AE6-FF11C3180FD4}"/>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41597</TotalTime>
  <Pages>35</Pages>
  <Words>3227</Words>
  <Application>Microsoft Macintosh PowerPoint</Application>
  <PresentationFormat>Widescreen</PresentationFormat>
  <Paragraphs>361</Paragraphs>
  <Slides>52</Slides>
  <Notes>52</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52</vt:i4>
      </vt:variant>
    </vt:vector>
  </HeadingPairs>
  <TitlesOfParts>
    <vt:vector size="62" baseType="lpstr">
      <vt:lpstr>Arial</vt:lpstr>
      <vt:lpstr>Cambria Math</vt:lpstr>
      <vt:lpstr>Lato</vt:lpstr>
      <vt:lpstr>Lato Black</vt:lpstr>
      <vt:lpstr>Tahoma</vt:lpstr>
      <vt:lpstr>Times New Roman</vt:lpstr>
      <vt:lpstr>Wingdings</vt:lpstr>
      <vt:lpstr>1_Smith Theme White</vt:lpstr>
      <vt:lpstr>Smith Theme White</vt:lpstr>
      <vt:lpstr>Equation</vt:lpstr>
      <vt:lpstr>MMA 860 The Acquisition and Management of Data</vt:lpstr>
      <vt:lpstr>Today's Objectives</vt:lpstr>
      <vt:lpstr>Hypothesis Testing</vt:lpstr>
      <vt:lpstr>Hypothesis Testing in Three Parts</vt:lpstr>
      <vt:lpstr>Types of Errors</vt:lpstr>
      <vt:lpstr>Tests and Errors</vt:lpstr>
      <vt:lpstr>Tests and Errors</vt:lpstr>
      <vt:lpstr>Tests and Errors</vt:lpstr>
      <vt:lpstr>This Brings Us to Power</vt:lpstr>
      <vt:lpstr>Simple Hypothesis Testing in Regression</vt:lpstr>
      <vt:lpstr>Advanced Hypothesis Testing</vt:lpstr>
      <vt:lpstr>More Advanced Hypothesis Testing – Distributions </vt:lpstr>
      <vt:lpstr>More Advanced Hypothesis Testing – Distributions </vt:lpstr>
      <vt:lpstr>More Advanced Hypothesis Testing – Distributions </vt:lpstr>
      <vt:lpstr>Testing Multiple Restrictions Assuming NID Errors</vt:lpstr>
      <vt:lpstr>Testing Multiple Restrictions Assuming NID Errors</vt:lpstr>
      <vt:lpstr>Generalizing Those Results</vt:lpstr>
      <vt:lpstr>Test for Equality of Variances</vt:lpstr>
      <vt:lpstr>The Chow Test</vt:lpstr>
      <vt:lpstr>Example</vt:lpstr>
      <vt:lpstr>Heteroskedasticity and Testing</vt:lpstr>
      <vt:lpstr>Testing for Heteroskedasticity </vt:lpstr>
      <vt:lpstr>Example</vt:lpstr>
      <vt:lpstr>Key Points</vt:lpstr>
      <vt:lpstr>The Last Test</vt:lpstr>
      <vt:lpstr>Pulling it All Together</vt:lpstr>
      <vt:lpstr>The Modelling Process</vt:lpstr>
      <vt:lpstr>Answering Business Questions</vt:lpstr>
      <vt:lpstr>Point Estimates</vt:lpstr>
      <vt:lpstr>Single Variable Factors</vt:lpstr>
      <vt:lpstr>Underlying Processes</vt:lpstr>
      <vt:lpstr>Communicating It</vt:lpstr>
      <vt:lpstr>Communicating It</vt:lpstr>
      <vt:lpstr>How Data Scientists Assess Models:</vt:lpstr>
      <vt:lpstr>How Executives Assess Analytics Solutions:</vt:lpstr>
      <vt:lpstr>Convincing People to Make Change</vt:lpstr>
      <vt:lpstr>That's Enough for Today</vt:lpstr>
      <vt:lpstr>Sample Question 1</vt:lpstr>
      <vt:lpstr>Sample Question 2</vt:lpstr>
      <vt:lpstr>Appendix: Three Classical Testing Methods</vt:lpstr>
      <vt:lpstr>Exact versus Asymptotic Tests</vt:lpstr>
      <vt:lpstr>Revisiting the Previous Tests</vt:lpstr>
      <vt:lpstr>Three Classical Testing Methods</vt:lpstr>
      <vt:lpstr>The Likelihood Ratio Test</vt:lpstr>
      <vt:lpstr>The Wald Test</vt:lpstr>
      <vt:lpstr>The Lagrange Multiplier Test</vt:lpstr>
      <vt:lpstr>Limitations of Asymptotic Tests</vt:lpstr>
      <vt:lpstr>Small Samples and Dubious Assumptions</vt:lpstr>
      <vt:lpstr>Monte Carlo Analysis</vt:lpstr>
      <vt:lpstr>Bootstrapping </vt:lpstr>
      <vt:lpstr>Appendix: Heteroscedasticity Math</vt:lpstr>
      <vt:lpstr>Heteroskedasticity </vt:lpstr>
    </vt:vector>
  </TitlesOfParts>
  <Company>Queen's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Acquisition and Analysis of Information for Management</dc:title>
  <dc:subject>Statistical Inference</dc:subject>
  <dc:creator>Alex Scott</dc:creator>
  <cp:lastModifiedBy>Alexander Scott</cp:lastModifiedBy>
  <cp:revision>956</cp:revision>
  <cp:lastPrinted>2017-02-14T19:25:41Z</cp:lastPrinted>
  <dcterms:created xsi:type="dcterms:W3CDTF">1995-01-19T14:20:42Z</dcterms:created>
  <dcterms:modified xsi:type="dcterms:W3CDTF">2023-03-22T21:28:58Z</dcterms:modified>
</cp:coreProperties>
</file>